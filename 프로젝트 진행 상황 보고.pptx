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2" r:id="rId1"/>
  </p:sldMasterIdLst>
  <p:sldIdLst>
    <p:sldId id="256" r:id="rId2"/>
    <p:sldId id="257" r:id="rId3"/>
    <p:sldId id="260" r:id="rId4"/>
    <p:sldId id="259" r:id="rId5"/>
    <p:sldId id="263" r:id="rId6"/>
    <p:sldId id="264" r:id="rId7"/>
    <p:sldId id="262" r:id="rId8"/>
    <p:sldId id="261" r:id="rId9"/>
    <p:sldId id="258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48" y="11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presProps" Target="presProps.xml"  /><Relationship Id="rId12" Type="http://schemas.openxmlformats.org/officeDocument/2006/relationships/viewProps" Target="viewProps.xml"  /><Relationship Id="rId13" Type="http://schemas.openxmlformats.org/officeDocument/2006/relationships/theme" Target="theme/theme1.xml"  /><Relationship Id="rId14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2BFFE-189A-EAC2-1C40-DFDC624315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C91261A-FF9E-B770-1E64-AC09893E2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79D29-390C-1EAA-574C-116956F24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A28B-4BA2-4669-9BD2-A6AF57901CD7}" type="datetimeFigureOut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B1A9AB-5EB2-CD05-600E-B018828B0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0F73E5-7548-E9DB-569D-3385F3368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6E32-3ACB-4C59-BA28-ABFF1441C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45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7C3478-9388-254C-A560-1AEEE18E1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889AA4-CF63-3589-E8A6-C24C43DB2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F04B5-C8E7-EB0A-99E7-3071101DC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A28B-4BA2-4669-9BD2-A6AF57901CD7}" type="datetimeFigureOut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989558-178D-5082-7FA3-DE35F2ED0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252B2B-245D-7386-A51F-2812A2DCA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6E32-3ACB-4C59-BA28-ABFF1441C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149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F9C8BD-2562-3491-AF79-A36C2E9BB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35C97-6B0A-9F5F-E219-42E4C601D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E5B121-C06F-C61D-B3F2-0F3A07586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A28B-4BA2-4669-9BD2-A6AF57901CD7}" type="datetimeFigureOut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14B715-F726-60EC-AF07-D8B1A274B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C72293-1288-605D-6264-9E69CB32F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6E32-3ACB-4C59-BA28-ABFF1441C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368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1304B0-30DF-E1BF-E84E-F41069CEE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7A2E5E-CEB8-196A-DBCB-0C2272D62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F9D306-1BCA-0622-2C1E-80C405AD6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135501-CC58-D9A2-C43A-3B52C57CD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A28B-4BA2-4669-9BD2-A6AF57901CD7}" type="datetimeFigureOut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BB8ACC-8608-C851-47BD-D28D2EF1D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9F0212-5DC1-3C96-3CE0-69C7FBC49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6E32-3ACB-4C59-BA28-ABFF1441C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571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28C41A-DBBE-D833-2BB6-91E474CE4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266D2E-10C2-CFB0-1E58-C01638898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AE3452-0793-BBA0-4875-3DFBC14DB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421CA0-1D6F-2AD6-183E-C30C33D2B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86E8FE-5DED-70E0-F93C-31780D83C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41D4CA2-8FA6-FE7E-2C19-98BA1CD9E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A28B-4BA2-4669-9BD2-A6AF57901CD7}" type="datetimeFigureOut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9DCD51-9CB6-14D6-04FA-BA2730554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AFDB2E3-A600-9230-90A7-07C251D67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6E32-3ACB-4C59-BA28-ABFF1441C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582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152311-24E4-F69D-AA12-BC9F36014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122AEE7-743B-0D22-6816-98FCBECCC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A28B-4BA2-4669-9BD2-A6AF57901CD7}" type="datetimeFigureOut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FB99D6-DA7E-A238-8FE9-A3BB1C14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36364E-2168-F63B-95CB-CF0D5E477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6E32-3ACB-4C59-BA28-ABFF1441C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479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ABC6E-90E9-4658-63A1-FEEC19F03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A28B-4BA2-4669-9BD2-A6AF57901CD7}" type="datetimeFigureOut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14A0319-B3CB-18B2-E0ED-183C6B3FE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095D82-F8C2-3F20-6E92-A7BD259A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6E32-3ACB-4C59-BA28-ABFF1441C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466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4990C3-055B-96BC-53CD-C1EEFC471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5AB349-DDE2-EDFB-9C2A-C0A08F61C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BBAABBD-2BCD-A3E5-07E5-84871E0E3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65F683-F5A5-4E18-F2FB-547ADC135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A28B-4BA2-4669-9BD2-A6AF57901CD7}" type="datetimeFigureOut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D6FF99-4F9D-D8DE-7BCA-CA1BF7F4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3CFF6D-E31D-9239-71F4-ADCADA1D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6E32-3ACB-4C59-BA28-ABFF1441C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810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C0365B-DAB0-79CC-76F6-F8732827E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88478EF-A716-212D-B666-CCFA1CA10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7041BF-14C3-CB68-B175-76490FCF3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74421A-1952-5427-29C3-93BC81069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A28B-4BA2-4669-9BD2-A6AF57901CD7}" type="datetimeFigureOut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E65954-590C-11EA-8CFE-52D9A8015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CC61F7-A95E-C5BF-80B7-00E1AFF2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6E32-3ACB-4C59-BA28-ABFF1441C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659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3959B0-CC2F-8D62-98E8-35FCCC0E3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91A0FE-292A-FA11-26F5-8AA8296A5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5AC9E2-0E78-1B9D-E2FC-06182F4DB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A28B-4BA2-4669-9BD2-A6AF57901CD7}" type="datetimeFigureOut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0FF070-AC30-0E02-1BFB-13FC0A2D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3E1D03-CFBC-B1B6-5756-73D60A815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6E32-3ACB-4C59-BA28-ABFF1441C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043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6827744-DFCC-88DA-9C13-776BDE238F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342A3A-A903-28CB-F164-D47F3D173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EE5F04-4BAD-5292-1675-7360A6FF1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A28B-4BA2-4669-9BD2-A6AF57901CD7}" type="datetimeFigureOut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988A56-715A-3F11-1DE3-AE24239CA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1BAE4D-EAB8-BCA4-0CF0-0986BACED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6E32-3ACB-4C59-BA28-ABFF1441C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652276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8440E2C-4C46-7AB7-7DE3-15506C377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EADE3C-6DB3-D0BE-CBBD-7989218D9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4E780C-3B1F-97CA-C7A2-40D40F729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0A28B-4BA2-4669-9BD2-A6AF57901CD7}" type="datetimeFigureOut">
              <a:rPr lang="ko-KR" altLang="en-US" smtClean="0"/>
              <a:t>2023-04-27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D87B75-F55B-B06F-ACD2-27A70AA15A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783A83-F5C1-2EC3-CD88-FB2548F7E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6E32-3ACB-4C59-BA28-ABFF1441CB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06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Relationship Id="rId3" Type="http://schemas.openxmlformats.org/officeDocument/2006/relationships/image" Target="../media/image2.sv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sv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jpeg"  /><Relationship Id="rId3" Type="http://schemas.openxmlformats.org/officeDocument/2006/relationships/image" Target="../media/image6.jpeg"  /><Relationship Id="rId4" Type="http://schemas.openxmlformats.org/officeDocument/2006/relationships/image" Target="../media/image7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Relationship Id="rId3" Type="http://schemas.openxmlformats.org/officeDocument/2006/relationships/image" Target="../media/image9.png"  /><Relationship Id="rId4" Type="http://schemas.openxmlformats.org/officeDocument/2006/relationships/image" Target="../media/image10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jpe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jpe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Relationship Id="rId3" Type="http://schemas.openxmlformats.org/officeDocument/2006/relationships/image" Target="../media/image18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30EBA3-4D2E-42E8-B828-834555328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그래픽 4" descr="통학 버스">
            <a:extLst>
              <a:ext uri="{FF2B5EF4-FFF2-40B4-BE49-F238E27FC236}">
                <a16:creationId xmlns:a16="http://schemas.microsoft.com/office/drawing/2014/main" id="{7101B29E-501E-AB47-0E3C-4F7CC6F89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03808"/>
            <a:ext cx="5850384" cy="5850384"/>
          </a:xfrm>
          <a:custGeom>
            <a:avLst/>
            <a:gdLst/>
            <a:ahLst/>
            <a:cxnLst/>
            <a:rect l="l" t="t" r="r" b="b"/>
            <a:pathLst>
              <a:path w="6094252" h="6857998">
                <a:moveTo>
                  <a:pt x="0" y="0"/>
                </a:moveTo>
                <a:lnTo>
                  <a:pt x="5898122" y="0"/>
                </a:lnTo>
                <a:cubicBezTo>
                  <a:pt x="6006442" y="0"/>
                  <a:pt x="6094252" y="87810"/>
                  <a:pt x="6094252" y="196130"/>
                </a:cubicBezTo>
                <a:lnTo>
                  <a:pt x="6094252" y="6661869"/>
                </a:lnTo>
                <a:cubicBezTo>
                  <a:pt x="6094252" y="6756649"/>
                  <a:pt x="6027023" y="6835726"/>
                  <a:pt x="5937649" y="6854015"/>
                </a:cubicBezTo>
                <a:lnTo>
                  <a:pt x="5898132" y="6857998"/>
                </a:lnTo>
                <a:lnTo>
                  <a:pt x="0" y="6857998"/>
                </a:lnTo>
                <a:close/>
              </a:path>
            </a:pathLst>
          </a:custGeom>
        </p:spPr>
      </p:pic>
      <p:sp>
        <p:nvSpPr>
          <p:cNvPr id="12" name="Arc 11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28AA953-F4F9-4DC5-97C7-491F4AF93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7079" y="5607717"/>
            <a:ext cx="513442" cy="4995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E9E0A5-00D9-04B2-DE08-596D6A1FB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7732" y="3800209"/>
            <a:ext cx="5130798" cy="230702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r>
              <a:rPr lang="en-US" altLang="ko-KR" sz="4500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&lt;</a:t>
            </a:r>
            <a:r>
              <a:rPr lang="ko-KR" altLang="en-US" sz="4500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경상대 </a:t>
            </a:r>
            <a:r>
              <a:rPr lang="en-US" altLang="ko-KR" sz="4500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2</a:t>
            </a:r>
            <a:r>
              <a:rPr lang="ko-KR" altLang="en-US" sz="4500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팀</a:t>
            </a:r>
            <a:r>
              <a:rPr lang="en-US" altLang="ko-KR" sz="4500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_4</a:t>
            </a:r>
            <a:r>
              <a:rPr lang="ko-KR" altLang="en-US" sz="4500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파트</a:t>
            </a:r>
            <a:r>
              <a:rPr lang="en-US" altLang="ko-KR" sz="4500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&gt;</a:t>
            </a:r>
          </a:p>
          <a:p>
            <a:r>
              <a:rPr lang="ko-KR" altLang="en-US" dirty="0">
                <a:latin typeface="KT&amp;G 상상제목 M" panose="02000300000000000000" pitchFamily="2" charset="-127"/>
                <a:ea typeface="KT&amp;G 상상제목 M" panose="02000300000000000000" pitchFamily="2" charset="-127"/>
              </a:rPr>
              <a:t>강다영</a:t>
            </a:r>
            <a:r>
              <a:rPr lang="en-US" altLang="ko-KR" dirty="0">
                <a:latin typeface="KT&amp;G 상상제목 M" panose="02000300000000000000" pitchFamily="2" charset="-127"/>
                <a:ea typeface="KT&amp;G 상상제목 M" panose="02000300000000000000" pitchFamily="2" charset="-127"/>
              </a:rPr>
              <a:t>, </a:t>
            </a:r>
            <a:r>
              <a:rPr lang="ko-KR" altLang="en-US" dirty="0" err="1">
                <a:latin typeface="KT&amp;G 상상제목 M" panose="02000300000000000000" pitchFamily="2" charset="-127"/>
                <a:ea typeface="KT&amp;G 상상제목 M" panose="02000300000000000000" pitchFamily="2" charset="-127"/>
              </a:rPr>
              <a:t>강준하</a:t>
            </a:r>
            <a:r>
              <a:rPr lang="en-US" altLang="ko-KR" dirty="0">
                <a:latin typeface="KT&amp;G 상상제목 M" panose="02000300000000000000" pitchFamily="2" charset="-127"/>
                <a:ea typeface="KT&amp;G 상상제목 M" panose="02000300000000000000" pitchFamily="2" charset="-127"/>
              </a:rPr>
              <a:t>, </a:t>
            </a:r>
            <a:r>
              <a:rPr lang="ko-KR" altLang="en-US" dirty="0">
                <a:latin typeface="KT&amp;G 상상제목 M" panose="02000300000000000000" pitchFamily="2" charset="-127"/>
                <a:ea typeface="KT&amp;G 상상제목 M" panose="02000300000000000000" pitchFamily="2" charset="-127"/>
              </a:rPr>
              <a:t>김창일</a:t>
            </a:r>
            <a:r>
              <a:rPr lang="en-US" altLang="ko-KR" dirty="0">
                <a:latin typeface="KT&amp;G 상상제목 M" panose="02000300000000000000" pitchFamily="2" charset="-127"/>
                <a:ea typeface="KT&amp;G 상상제목 M" panose="02000300000000000000" pitchFamily="2" charset="-127"/>
              </a:rPr>
              <a:t>, </a:t>
            </a:r>
            <a:r>
              <a:rPr lang="ko-KR" altLang="en-US" dirty="0">
                <a:latin typeface="KT&amp;G 상상제목 M" panose="02000300000000000000" pitchFamily="2" charset="-127"/>
                <a:ea typeface="KT&amp;G 상상제목 M" panose="02000300000000000000" pitchFamily="2" charset="-127"/>
              </a:rPr>
              <a:t>박미정</a:t>
            </a:r>
            <a:r>
              <a:rPr lang="en-US" altLang="ko-KR" dirty="0">
                <a:latin typeface="KT&amp;G 상상제목 M" panose="02000300000000000000" pitchFamily="2" charset="-127"/>
                <a:ea typeface="KT&amp;G 상상제목 M" panose="02000300000000000000" pitchFamily="2" charset="-127"/>
              </a:rPr>
              <a:t>, </a:t>
            </a:r>
            <a:r>
              <a:rPr lang="ko-KR" altLang="en-US" dirty="0" err="1">
                <a:latin typeface="KT&amp;G 상상제목 M" panose="02000300000000000000" pitchFamily="2" charset="-127"/>
                <a:ea typeface="KT&amp;G 상상제목 M" panose="02000300000000000000" pitchFamily="2" charset="-127"/>
              </a:rPr>
              <a:t>박종한</a:t>
            </a:r>
            <a:endParaRPr lang="ko-KR" altLang="en-US" dirty="0">
              <a:latin typeface="KT&amp;G 상상제목 M" panose="02000300000000000000" pitchFamily="2" charset="-127"/>
              <a:ea typeface="KT&amp;G 상상제목 M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4618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0E34377-4BE2-2E60-62A3-4E5638225E3D}"/>
              </a:ext>
            </a:extLst>
          </p:cNvPr>
          <p:cNvCxnSpPr>
            <a:cxnSpLocks/>
          </p:cNvCxnSpPr>
          <p:nvPr/>
        </p:nvCxnSpPr>
        <p:spPr>
          <a:xfrm>
            <a:off x="0" y="1288869"/>
            <a:ext cx="12192000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39AF9CD-13E9-3D6C-B9BC-F7A43185846A}"/>
              </a:ext>
            </a:extLst>
          </p:cNvPr>
          <p:cNvSpPr txBox="1"/>
          <p:nvPr/>
        </p:nvSpPr>
        <p:spPr>
          <a:xfrm>
            <a:off x="8706" y="522514"/>
            <a:ext cx="242969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500" dirty="0">
                <a:solidFill>
                  <a:srgbClr val="00B0F0"/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INDEX</a:t>
            </a:r>
            <a:endParaRPr lang="ko-KR" altLang="en-US" sz="5500" dirty="0">
              <a:solidFill>
                <a:srgbClr val="00B0F0"/>
              </a:solidFill>
              <a:latin typeface="KT&amp;G 상상제목 B" panose="02000300000000000000" pitchFamily="2" charset="-127"/>
              <a:ea typeface="KT&amp;G 상상제목 B" panose="02000300000000000000" pitchFamily="2" charset="-127"/>
            </a:endParaRPr>
          </a:p>
        </p:txBody>
      </p:sp>
      <p:pic>
        <p:nvPicPr>
          <p:cNvPr id="7" name="그래픽 6" descr="버스 윤곽선">
            <a:extLst>
              <a:ext uri="{FF2B5EF4-FFF2-40B4-BE49-F238E27FC236}">
                <a16:creationId xmlns:a16="http://schemas.microsoft.com/office/drawing/2014/main" id="{BE9A67B5-0320-C741-7B91-FAA2F0820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288" y="1947082"/>
            <a:ext cx="2344787" cy="23447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E62EF2-5421-7F48-E72E-9F958DC19591}"/>
              </a:ext>
            </a:extLst>
          </p:cNvPr>
          <p:cNvSpPr txBox="1"/>
          <p:nvPr/>
        </p:nvSpPr>
        <p:spPr>
          <a:xfrm>
            <a:off x="1036320" y="4406537"/>
            <a:ext cx="209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KT&amp;G 상상제목 M" panose="02000300000000000000" pitchFamily="2" charset="-127"/>
                <a:ea typeface="KT&amp;G 상상제목 M" panose="02000300000000000000" pitchFamily="2" charset="-127"/>
              </a:rPr>
              <a:t>1. </a:t>
            </a:r>
            <a:r>
              <a:rPr lang="ko-KR" altLang="en-US" dirty="0">
                <a:latin typeface="KT&amp;G 상상제목 M" panose="02000300000000000000" pitchFamily="2" charset="-127"/>
                <a:ea typeface="KT&amp;G 상상제목 M" panose="02000300000000000000" pitchFamily="2" charset="-127"/>
              </a:rPr>
              <a:t>주제 선정</a:t>
            </a:r>
          </a:p>
        </p:txBody>
      </p:sp>
      <p:pic>
        <p:nvPicPr>
          <p:cNvPr id="12" name="그래픽 11" descr="버스 윤곽선">
            <a:extLst>
              <a:ext uri="{FF2B5EF4-FFF2-40B4-BE49-F238E27FC236}">
                <a16:creationId xmlns:a16="http://schemas.microsoft.com/office/drawing/2014/main" id="{5F9234E0-41D3-A54F-91EF-A5D1578FF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5682" y="1947082"/>
            <a:ext cx="2344787" cy="23447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8FF453-BAB6-0E6C-FA94-B26F153AD2E5}"/>
              </a:ext>
            </a:extLst>
          </p:cNvPr>
          <p:cNvSpPr txBox="1"/>
          <p:nvPr/>
        </p:nvSpPr>
        <p:spPr>
          <a:xfrm>
            <a:off x="4789714" y="4406537"/>
            <a:ext cx="209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KT&amp;G 상상제목 M" panose="02000300000000000000" pitchFamily="2" charset="-127"/>
                <a:ea typeface="KT&amp;G 상상제목 M" panose="02000300000000000000" pitchFamily="2" charset="-127"/>
              </a:rPr>
              <a:t>2. </a:t>
            </a:r>
            <a:r>
              <a:rPr lang="ko-KR" altLang="en-US" dirty="0">
                <a:latin typeface="KT&amp;G 상상제목 M" panose="02000300000000000000" pitchFamily="2" charset="-127"/>
                <a:ea typeface="KT&amp;G 상상제목 M" panose="02000300000000000000" pitchFamily="2" charset="-127"/>
              </a:rPr>
              <a:t>현재 진행 상황</a:t>
            </a:r>
          </a:p>
        </p:txBody>
      </p:sp>
      <p:pic>
        <p:nvPicPr>
          <p:cNvPr id="14" name="그래픽 13" descr="버스 윤곽선">
            <a:extLst>
              <a:ext uri="{FF2B5EF4-FFF2-40B4-BE49-F238E27FC236}">
                <a16:creationId xmlns:a16="http://schemas.microsoft.com/office/drawing/2014/main" id="{DA1ED055-4C8E-05F8-17F2-0AC1BBFF2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5865" y="1947082"/>
            <a:ext cx="2344787" cy="23447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5D2061C-3E41-96C7-E596-DAED6D1464CD}"/>
              </a:ext>
            </a:extLst>
          </p:cNvPr>
          <p:cNvSpPr txBox="1"/>
          <p:nvPr/>
        </p:nvSpPr>
        <p:spPr>
          <a:xfrm>
            <a:off x="8429897" y="4406537"/>
            <a:ext cx="209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KT&amp;G 상상제목 M" panose="02000300000000000000" pitchFamily="2" charset="-127"/>
                <a:ea typeface="KT&amp;G 상상제목 M" panose="02000300000000000000" pitchFamily="2" charset="-127"/>
              </a:rPr>
              <a:t>3. </a:t>
            </a:r>
            <a:r>
              <a:rPr lang="ko-KR" altLang="en-US" dirty="0">
                <a:latin typeface="KT&amp;G 상상제목 M" panose="02000300000000000000" pitchFamily="2" charset="-127"/>
                <a:ea typeface="KT&amp;G 상상제목 M" panose="02000300000000000000" pitchFamily="2" charset="-127"/>
              </a:rPr>
              <a:t>계획</a:t>
            </a:r>
          </a:p>
        </p:txBody>
      </p:sp>
    </p:spTree>
    <p:extLst>
      <p:ext uri="{BB962C8B-B14F-4D97-AF65-F5344CB8AC3E}">
        <p14:creationId xmlns:p14="http://schemas.microsoft.com/office/powerpoint/2010/main" val="4015555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0E34377-4BE2-2E60-62A3-4E5638225E3D}"/>
              </a:ext>
            </a:extLst>
          </p:cNvPr>
          <p:cNvCxnSpPr>
            <a:cxnSpLocks/>
          </p:cNvCxnSpPr>
          <p:nvPr/>
        </p:nvCxnSpPr>
        <p:spPr>
          <a:xfrm>
            <a:off x="0" y="1288869"/>
            <a:ext cx="12192000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39AF9CD-13E9-3D6C-B9BC-F7A43185846A}"/>
              </a:ext>
            </a:extLst>
          </p:cNvPr>
          <p:cNvSpPr txBox="1"/>
          <p:nvPr/>
        </p:nvSpPr>
        <p:spPr>
          <a:xfrm>
            <a:off x="8705" y="391879"/>
            <a:ext cx="397982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500" dirty="0">
                <a:solidFill>
                  <a:srgbClr val="00B0F0"/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1. </a:t>
            </a:r>
            <a:r>
              <a:rPr lang="ko-KR" altLang="en-US" sz="5500" dirty="0">
                <a:solidFill>
                  <a:srgbClr val="00B0F0"/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주제선정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2B11F3-E477-A9C5-F05A-E40F296C4C6D}"/>
              </a:ext>
            </a:extLst>
          </p:cNvPr>
          <p:cNvSpPr txBox="1"/>
          <p:nvPr/>
        </p:nvSpPr>
        <p:spPr>
          <a:xfrm>
            <a:off x="461554" y="1678000"/>
            <a:ext cx="600891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2000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프로젝트 명</a:t>
            </a:r>
            <a:r>
              <a:rPr lang="en-US" altLang="ko-KR" sz="2000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: </a:t>
            </a:r>
            <a:r>
              <a:rPr lang="ko-KR" altLang="en-US" sz="2000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진주시 버스 노선 개발 및 배차 </a:t>
            </a:r>
            <a:endParaRPr lang="en-US" altLang="ko-KR" sz="2000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FBC1D5C-43F7-D7DC-34BB-5FB6C614AA26}"/>
              </a:ext>
            </a:extLst>
          </p:cNvPr>
          <p:cNvSpPr/>
          <p:nvPr/>
        </p:nvSpPr>
        <p:spPr>
          <a:xfrm>
            <a:off x="4794069" y="3071842"/>
            <a:ext cx="2603862" cy="2675815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215AF30-039E-1A11-E219-74337C99E801}"/>
              </a:ext>
            </a:extLst>
          </p:cNvPr>
          <p:cNvSpPr/>
          <p:nvPr/>
        </p:nvSpPr>
        <p:spPr>
          <a:xfrm>
            <a:off x="461554" y="3071842"/>
            <a:ext cx="2603862" cy="2675815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516102C-B9CD-CCF7-A3B3-D8C89466BF15}"/>
              </a:ext>
            </a:extLst>
          </p:cNvPr>
          <p:cNvSpPr/>
          <p:nvPr/>
        </p:nvSpPr>
        <p:spPr>
          <a:xfrm>
            <a:off x="9126584" y="3071842"/>
            <a:ext cx="2603862" cy="2675815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352516-4BA4-5F5E-0AF4-F80BB2B4D62D}"/>
              </a:ext>
            </a:extLst>
          </p:cNvPr>
          <p:cNvSpPr txBox="1"/>
          <p:nvPr/>
        </p:nvSpPr>
        <p:spPr>
          <a:xfrm>
            <a:off x="585409" y="5921831"/>
            <a:ext cx="3004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출퇴근 및 등</a:t>
            </a:r>
            <a:r>
              <a:rPr lang="en-US" altLang="ko-KR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.</a:t>
            </a:r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하교 시간 대</a:t>
            </a:r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버스 노선 부족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B66C87-4E0F-72A9-0E43-E62EC6B05466}"/>
              </a:ext>
            </a:extLst>
          </p:cNvPr>
          <p:cNvSpPr txBox="1"/>
          <p:nvPr/>
        </p:nvSpPr>
        <p:spPr>
          <a:xfrm>
            <a:off x="4794069" y="5921831"/>
            <a:ext cx="2603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진주시 축제기간 내</a:t>
            </a:r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버스 수요 증가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4F16F4-81DA-E313-CEC2-F01525C0FC3A}"/>
              </a:ext>
            </a:extLst>
          </p:cNvPr>
          <p:cNvSpPr txBox="1"/>
          <p:nvPr/>
        </p:nvSpPr>
        <p:spPr>
          <a:xfrm>
            <a:off x="9126584" y="5921831"/>
            <a:ext cx="3065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효율적이지 않은 버스 노선</a:t>
            </a:r>
          </a:p>
        </p:txBody>
      </p:sp>
    </p:spTree>
    <p:extLst>
      <p:ext uri="{BB962C8B-B14F-4D97-AF65-F5344CB8AC3E}">
        <p14:creationId xmlns:p14="http://schemas.microsoft.com/office/powerpoint/2010/main" val="2926399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0E34377-4BE2-2E60-62A3-4E5638225E3D}"/>
              </a:ext>
            </a:extLst>
          </p:cNvPr>
          <p:cNvCxnSpPr>
            <a:cxnSpLocks/>
          </p:cNvCxnSpPr>
          <p:nvPr/>
        </p:nvCxnSpPr>
        <p:spPr>
          <a:xfrm>
            <a:off x="0" y="1288869"/>
            <a:ext cx="12192000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39AF9CD-13E9-3D6C-B9BC-F7A43185846A}"/>
              </a:ext>
            </a:extLst>
          </p:cNvPr>
          <p:cNvSpPr txBox="1"/>
          <p:nvPr/>
        </p:nvSpPr>
        <p:spPr>
          <a:xfrm>
            <a:off x="8705" y="391879"/>
            <a:ext cx="397982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500" dirty="0">
                <a:solidFill>
                  <a:srgbClr val="00B0F0"/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1. </a:t>
            </a:r>
            <a:r>
              <a:rPr lang="ko-KR" altLang="en-US" sz="5500" dirty="0">
                <a:solidFill>
                  <a:srgbClr val="00B0F0"/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주제선정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2B11F3-E477-A9C5-F05A-E40F296C4C6D}"/>
              </a:ext>
            </a:extLst>
          </p:cNvPr>
          <p:cNvSpPr txBox="1"/>
          <p:nvPr/>
        </p:nvSpPr>
        <p:spPr>
          <a:xfrm>
            <a:off x="461554" y="1678000"/>
            <a:ext cx="600891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2000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프로젝트 명</a:t>
            </a:r>
            <a:r>
              <a:rPr lang="en-US" altLang="ko-KR" sz="2000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: </a:t>
            </a:r>
            <a:r>
              <a:rPr lang="ko-KR" altLang="en-US" sz="2000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진주시 버스 노선 개발 및 배차 </a:t>
            </a:r>
            <a:endParaRPr lang="en-US" altLang="ko-KR" sz="2000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endParaRPr lang="ko-KR" alt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A0F1B60-6ED2-FC7D-D097-184323514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003" y="5117667"/>
            <a:ext cx="1597690" cy="159769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1856863-F5F1-C279-E68D-4A6A0F717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25" y="3314133"/>
            <a:ext cx="3161212" cy="2122389"/>
          </a:xfrm>
          <a:prstGeom prst="rect">
            <a:avLst/>
          </a:prstGeom>
        </p:spPr>
      </p:pic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42C1E3D0-2C08-5F52-5D50-2DA4E08D7C2D}"/>
              </a:ext>
            </a:extLst>
          </p:cNvPr>
          <p:cNvCxnSpPr/>
          <p:nvPr/>
        </p:nvCxnSpPr>
        <p:spPr>
          <a:xfrm flipV="1">
            <a:off x="4319451" y="2865120"/>
            <a:ext cx="3030583" cy="727685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59F2907-E346-5FB8-9506-D46B86EE1B5F}"/>
              </a:ext>
            </a:extLst>
          </p:cNvPr>
          <p:cNvCxnSpPr>
            <a:cxnSpLocks/>
          </p:cNvCxnSpPr>
          <p:nvPr/>
        </p:nvCxnSpPr>
        <p:spPr>
          <a:xfrm>
            <a:off x="4362993" y="5169055"/>
            <a:ext cx="3257006" cy="335280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그림 31">
            <a:extLst>
              <a:ext uri="{FF2B5EF4-FFF2-40B4-BE49-F238E27FC236}">
                <a16:creationId xmlns:a16="http://schemas.microsoft.com/office/drawing/2014/main" id="{75D69629-88AE-F5C6-6722-078BCB4E75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179" y="1942010"/>
            <a:ext cx="1597065" cy="159706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F591BA4-B9E9-32AE-CBC7-FB105D7EB7D8}"/>
              </a:ext>
            </a:extLst>
          </p:cNvPr>
          <p:cNvSpPr txBox="1"/>
          <p:nvPr/>
        </p:nvSpPr>
        <p:spPr>
          <a:xfrm>
            <a:off x="9588137" y="2344610"/>
            <a:ext cx="2534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버스 노선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A7C0E7-80F0-13C3-9F67-B86DC573AE5B}"/>
              </a:ext>
            </a:extLst>
          </p:cNvPr>
          <p:cNvSpPr txBox="1"/>
          <p:nvPr/>
        </p:nvSpPr>
        <p:spPr>
          <a:xfrm>
            <a:off x="9426693" y="5499417"/>
            <a:ext cx="2983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혼잡한 시간대에 맞는  </a:t>
            </a:r>
            <a:endParaRPr lang="en-US" altLang="ko-KR" dirty="0">
              <a:latin typeface="KT&amp;G 상상본문 M" panose="020B0600000101010101" pitchFamily="50" charset="-127"/>
              <a:ea typeface="KT&amp;G 상상본문 M" panose="020B0600000101010101" pitchFamily="50" charset="-127"/>
            </a:endParaRPr>
          </a:p>
          <a:p>
            <a:r>
              <a:rPr lang="ko-KR" altLang="en-US" dirty="0">
                <a:latin typeface="KT&amp;G 상상본문 M" panose="020B0600000101010101" pitchFamily="50" charset="-127"/>
                <a:ea typeface="KT&amp;G 상상본문 M" panose="020B0600000101010101" pitchFamily="50" charset="-127"/>
              </a:rPr>
              <a:t>배차시간 재배치 </a:t>
            </a:r>
          </a:p>
        </p:txBody>
      </p:sp>
    </p:spTree>
    <p:extLst>
      <p:ext uri="{BB962C8B-B14F-4D97-AF65-F5344CB8AC3E}">
        <p14:creationId xmlns:p14="http://schemas.microsoft.com/office/powerpoint/2010/main" val="2398019961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1288869"/>
            <a:ext cx="12192000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705" y="391879"/>
            <a:ext cx="397982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500">
                <a:solidFill>
                  <a:srgbClr val="00b0f0"/>
                </a:solidFill>
                <a:latin typeface="KT&amp;G 상상제목 B"/>
                <a:ea typeface="KT&amp;G 상상제목 B"/>
              </a:rPr>
              <a:t>1. </a:t>
            </a:r>
            <a:r>
              <a:rPr lang="ko-KR" altLang="en-US" sz="5500">
                <a:solidFill>
                  <a:srgbClr val="00b0f0"/>
                </a:solidFill>
                <a:latin typeface="KT&amp;G 상상제목 B"/>
                <a:ea typeface="KT&amp;G 상상제목 B"/>
              </a:rPr>
              <a:t>주제선정</a:t>
            </a:r>
            <a:endParaRPr lang="ko-KR" altLang="en-US" sz="5500">
              <a:solidFill>
                <a:srgbClr val="00b0f0"/>
              </a:solidFill>
              <a:latin typeface="KT&amp;G 상상제목 B"/>
              <a:ea typeface="KT&amp;G 상상제목 B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1554" y="1678000"/>
            <a:ext cx="600891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ko-KR" altLang="en-US" sz="2000">
                <a:latin typeface="KT&amp;G 상상본문 M"/>
                <a:ea typeface="KT&amp;G 상상본문 M"/>
              </a:rPr>
              <a:t>프로젝트 명</a:t>
            </a:r>
            <a:r>
              <a:rPr lang="en-US" altLang="ko-KR" sz="2000">
                <a:latin typeface="KT&amp;G 상상본문 M"/>
                <a:ea typeface="KT&amp;G 상상본문 M"/>
              </a:rPr>
              <a:t>: </a:t>
            </a:r>
            <a:r>
              <a:rPr lang="ko-KR" altLang="en-US" sz="2000">
                <a:latin typeface="KT&amp;G 상상본문 M"/>
                <a:ea typeface="KT&amp;G 상상본문 M"/>
              </a:rPr>
              <a:t>진주시 버스 노선 개발 및 배차 </a:t>
            </a:r>
            <a:endParaRPr lang="ko-KR" altLang="en-US" sz="2000">
              <a:latin typeface="KT&amp;G 상상본문 M"/>
              <a:ea typeface="KT&amp;G 상상본문 M"/>
            </a:endParaRPr>
          </a:p>
          <a:p>
            <a:pPr lvl="0">
              <a:defRPr/>
            </a:pPr>
            <a:endParaRPr lang="ko-KR" altLang="en-US"/>
          </a:p>
        </p:txBody>
      </p:sp>
      <p:sp>
        <p:nvSpPr>
          <p:cNvPr id="5" name="사각형: 둥근 모서리 4"/>
          <p:cNvSpPr/>
          <p:nvPr/>
        </p:nvSpPr>
        <p:spPr>
          <a:xfrm>
            <a:off x="705394" y="2595716"/>
            <a:ext cx="2090057" cy="190717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795451" y="2796076"/>
            <a:ext cx="9024016" cy="150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ko-KR" altLang="en-US" sz="2500">
                <a:latin typeface="KT&amp;G 상상본문 M"/>
                <a:ea typeface="KT&amp;G 상상본문 M"/>
              </a:rPr>
              <a:t>축제기간에 일시적으로 운영하는 버스노선을 개발</a:t>
            </a:r>
            <a:r>
              <a:rPr lang="en-US" altLang="ko-KR" sz="2500">
                <a:latin typeface="KT&amp;G 상상본문 M"/>
                <a:ea typeface="KT&amp;G 상상본문 M"/>
              </a:rPr>
              <a:t>.</a:t>
            </a:r>
            <a:endParaRPr lang="en-US" altLang="ko-KR" sz="2500">
              <a:latin typeface="KT&amp;G 상상본문 M"/>
              <a:ea typeface="KT&amp;G 상상본문 M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sz="2500">
                <a:latin typeface="KT&amp;G 상상본문 M"/>
                <a:ea typeface="KT&amp;G 상상본문 M"/>
              </a:rPr>
              <a:t>축제기간에 방문하는 관광객이 쉽게 축제장소</a:t>
            </a:r>
            <a:r>
              <a:rPr lang="en-US" altLang="ko-KR" sz="2500">
                <a:latin typeface="KT&amp;G 상상본문 M"/>
                <a:ea typeface="KT&amp;G 상상본문 M"/>
              </a:rPr>
              <a:t>, </a:t>
            </a:r>
            <a:r>
              <a:rPr lang="ko-KR" altLang="en-US" sz="2500">
                <a:latin typeface="KT&amp;G 상상본문 M"/>
                <a:ea typeface="KT&amp;G 상상본문 M"/>
              </a:rPr>
              <a:t>관광지로 </a:t>
            </a:r>
            <a:endParaRPr lang="ko-KR" altLang="en-US" sz="2500">
              <a:latin typeface="KT&amp;G 상상본문 M"/>
              <a:ea typeface="KT&amp;G 상상본문 M"/>
            </a:endParaRPr>
          </a:p>
          <a:p>
            <a:pPr lvl="0">
              <a:defRPr/>
            </a:pPr>
            <a:r>
              <a:rPr lang="en-US" altLang="ko-KR" sz="2500">
                <a:latin typeface="KT&amp;G 상상본문 M"/>
                <a:ea typeface="KT&amp;G 상상본문 M"/>
              </a:rPr>
              <a:t>    </a:t>
            </a:r>
            <a:r>
              <a:rPr lang="ko-KR" altLang="en-US" sz="2500">
                <a:latin typeface="KT&amp;G 상상본문 M"/>
                <a:ea typeface="KT&amp;G 상상본문 M"/>
              </a:rPr>
              <a:t>이동할 수 있는 편리성을 제공</a:t>
            </a:r>
            <a:r>
              <a:rPr lang="en-US" altLang="ko-KR" sz="2500">
                <a:latin typeface="KT&amp;G 상상본문 M"/>
                <a:ea typeface="KT&amp;G 상상본문 M"/>
              </a:rPr>
              <a:t>.</a:t>
            </a:r>
            <a:endParaRPr lang="en-US" altLang="ko-KR" sz="2500">
              <a:latin typeface="KT&amp;G 상상본문 M"/>
              <a:ea typeface="KT&amp;G 상상본문 M"/>
            </a:endParaRPr>
          </a:p>
          <a:p>
            <a:pPr marL="285750" indent="-285750">
              <a:buFontTx/>
              <a:buChar char="-"/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1288869"/>
            <a:ext cx="12192000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705" y="391879"/>
            <a:ext cx="397982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500">
                <a:solidFill>
                  <a:srgbClr val="00b0f0"/>
                </a:solidFill>
                <a:latin typeface="KT&amp;G 상상제목 B"/>
                <a:ea typeface="KT&amp;G 상상제목 B"/>
              </a:rPr>
              <a:t>1. </a:t>
            </a:r>
            <a:r>
              <a:rPr lang="ko-KR" altLang="en-US" sz="5500">
                <a:solidFill>
                  <a:srgbClr val="00b0f0"/>
                </a:solidFill>
                <a:latin typeface="KT&amp;G 상상제목 B"/>
                <a:ea typeface="KT&amp;G 상상제목 B"/>
              </a:rPr>
              <a:t>주제선정</a:t>
            </a:r>
            <a:endParaRPr lang="ko-KR" altLang="en-US" sz="5500">
              <a:solidFill>
                <a:srgbClr val="00b0f0"/>
              </a:solidFill>
              <a:latin typeface="KT&amp;G 상상제목 B"/>
              <a:ea typeface="KT&amp;G 상상제목 B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1554" y="1678000"/>
            <a:ext cx="600891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ko-KR" altLang="en-US" sz="2000">
                <a:latin typeface="KT&amp;G 상상본문 M"/>
                <a:ea typeface="KT&amp;G 상상본문 M"/>
              </a:rPr>
              <a:t>프로젝트 명</a:t>
            </a:r>
            <a:r>
              <a:rPr lang="en-US" altLang="ko-KR" sz="2000">
                <a:latin typeface="KT&amp;G 상상본문 M"/>
                <a:ea typeface="KT&amp;G 상상본문 M"/>
              </a:rPr>
              <a:t>: </a:t>
            </a:r>
            <a:r>
              <a:rPr lang="ko-KR" altLang="en-US" sz="2000">
                <a:latin typeface="KT&amp;G 상상본문 M"/>
                <a:ea typeface="KT&amp;G 상상본문 M"/>
              </a:rPr>
              <a:t>진주시 버스 노선 개발 및 배차 </a:t>
            </a:r>
            <a:endParaRPr lang="ko-KR" altLang="en-US" sz="2000">
              <a:latin typeface="KT&amp;G 상상본문 M"/>
              <a:ea typeface="KT&amp;G 상상본문 M"/>
            </a:endParaRPr>
          </a:p>
          <a:p>
            <a:pPr lvl="0">
              <a:defRPr/>
            </a:pPr>
            <a:endParaRPr lang="ko-KR" altLang="en-US"/>
          </a:p>
        </p:txBody>
      </p:sp>
      <p:sp>
        <p:nvSpPr>
          <p:cNvPr id="5" name="사각형: 둥근 모서리 4"/>
          <p:cNvSpPr/>
          <p:nvPr/>
        </p:nvSpPr>
        <p:spPr>
          <a:xfrm>
            <a:off x="705394" y="2595716"/>
            <a:ext cx="2090057" cy="1907177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795451" y="2796076"/>
            <a:ext cx="7302189" cy="1231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ko-KR" altLang="en-US" sz="2500">
                <a:latin typeface="KT&amp;G 상상본문 M"/>
                <a:ea typeface="KT&amp;G 상상본문 M"/>
              </a:rPr>
              <a:t>많은 사람들이 이용하는 곳을 중점으로 진주 시내버스 노선을 재배치</a:t>
            </a:r>
            <a:r>
              <a:rPr lang="en-US" altLang="ko-KR" sz="2500">
                <a:latin typeface="KT&amp;G 상상본문 M"/>
                <a:ea typeface="KT&amp;G 상상본문 M"/>
              </a:rPr>
              <a:t>.</a:t>
            </a:r>
            <a:endParaRPr lang="en-US" altLang="ko-KR" sz="2500">
              <a:latin typeface="KT&amp;G 상상본문 M"/>
              <a:ea typeface="KT&amp;G 상상본문 M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sz="2500">
                <a:latin typeface="KT&amp;G 상상본문 M"/>
                <a:ea typeface="KT&amp;G 상상본문 M"/>
              </a:rPr>
              <a:t>진주시민들의 출퇴근 환경 개선</a:t>
            </a:r>
            <a:r>
              <a:rPr lang="en-US" altLang="ko-KR" sz="2500">
                <a:latin typeface="KT&amp;G 상상본문 M"/>
                <a:ea typeface="KT&amp;G 상상본문 M"/>
              </a:rPr>
              <a:t>.</a:t>
            </a:r>
            <a:endParaRPr lang="en-US" altLang="ko-KR" sz="2500">
              <a:latin typeface="KT&amp;G 상상본문 M"/>
              <a:ea typeface="KT&amp;G 상상본문 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1288869"/>
            <a:ext cx="12192000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705" y="391879"/>
            <a:ext cx="525998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500">
                <a:solidFill>
                  <a:srgbClr val="00b0f0"/>
                </a:solidFill>
                <a:latin typeface="KT&amp;G 상상제목 B"/>
                <a:ea typeface="KT&amp;G 상상제목 B"/>
              </a:rPr>
              <a:t>2. </a:t>
            </a:r>
            <a:r>
              <a:rPr lang="ko-KR" altLang="en-US" sz="5500">
                <a:solidFill>
                  <a:srgbClr val="00b0f0"/>
                </a:solidFill>
                <a:latin typeface="KT&amp;G 상상제목 B"/>
                <a:ea typeface="KT&amp;G 상상제목 B"/>
              </a:rPr>
              <a:t>현재 진행 상황</a:t>
            </a:r>
            <a:endParaRPr lang="ko-KR" altLang="en-US" sz="5500">
              <a:solidFill>
                <a:srgbClr val="00b0f0"/>
              </a:solidFill>
              <a:latin typeface="KT&amp;G 상상제목 B"/>
              <a:ea typeface="KT&amp;G 상상제목 B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01782" y="2177143"/>
            <a:ext cx="7881257" cy="118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KT&amp;G 상상본문 M"/>
                <a:ea typeface="KT&amp;G 상상본문 M"/>
              </a:rPr>
              <a:t>&lt; </a:t>
            </a:r>
            <a:r>
              <a:rPr lang="ko-KR" altLang="en-US">
                <a:latin typeface="KT&amp;G 상상본문 M"/>
                <a:ea typeface="KT&amp;G 상상본문 M"/>
              </a:rPr>
              <a:t>역할 분담</a:t>
            </a:r>
            <a:r>
              <a:rPr lang="en-US" altLang="ko-KR">
                <a:latin typeface="KT&amp;G 상상본문 M"/>
                <a:ea typeface="KT&amp;G 상상본문 M"/>
              </a:rPr>
              <a:t>&gt;</a:t>
            </a:r>
            <a:endParaRPr lang="en-US" altLang="ko-KR">
              <a:latin typeface="KT&amp;G 상상본문 M"/>
              <a:ea typeface="KT&amp;G 상상본문 M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>
                <a:latin typeface="KT&amp;G 상상본문 M"/>
                <a:ea typeface="KT&amp;G 상상본문 M"/>
              </a:rPr>
              <a:t>본인의 특기를 살려서 분담할 예정</a:t>
            </a:r>
            <a:r>
              <a:rPr lang="en-US" altLang="ko-KR">
                <a:latin typeface="KT&amp;G 상상본문 M"/>
                <a:ea typeface="KT&amp;G 상상본문 M"/>
              </a:rPr>
              <a:t>.</a:t>
            </a:r>
            <a:endParaRPr lang="en-US" altLang="ko-KR">
              <a:latin typeface="KT&amp;G 상상본문 M"/>
              <a:ea typeface="KT&amp;G 상상본문 M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>
                <a:latin typeface="KT&amp;G 상상본문 M"/>
                <a:ea typeface="KT&amp;G 상상본문 M"/>
              </a:rPr>
              <a:t>현재 데이터 분석</a:t>
            </a:r>
            <a:r>
              <a:rPr lang="en-US" altLang="ko-KR">
                <a:latin typeface="KT&amp;G 상상본문 M"/>
                <a:ea typeface="KT&amp;G 상상본문 M"/>
              </a:rPr>
              <a:t>, ppt </a:t>
            </a:r>
            <a:r>
              <a:rPr lang="ko-KR" altLang="en-US">
                <a:latin typeface="KT&amp;G 상상본문 M"/>
                <a:ea typeface="KT&amp;G 상상본문 M"/>
              </a:rPr>
              <a:t>및 기획으로 나눔</a:t>
            </a:r>
            <a:r>
              <a:rPr lang="en-US" altLang="ko-KR">
                <a:latin typeface="KT&amp;G 상상본문 M"/>
                <a:ea typeface="KT&amp;G 상상본문 M"/>
              </a:rPr>
              <a:t>.</a:t>
            </a:r>
            <a:endParaRPr lang="en-US" altLang="ko-KR">
              <a:latin typeface="KT&amp;G 상상본문 M"/>
              <a:ea typeface="KT&amp;G 상상본문 M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>
                <a:latin typeface="KT&amp;G 상상본문 M"/>
                <a:ea typeface="KT&amp;G 상상본문 M"/>
              </a:rPr>
              <a:t>향후 프로젝트를 진행하면서 역할을 더 세분화로 나눌 계획</a:t>
            </a:r>
            <a:r>
              <a:rPr lang="en-US" altLang="ko-KR">
                <a:latin typeface="KT&amp;G 상상본문 M"/>
                <a:ea typeface="KT&amp;G 상상본문 M"/>
              </a:rPr>
              <a:t>.</a:t>
            </a:r>
            <a:endParaRPr lang="ko-KR" altLang="en-US">
              <a:latin typeface="KT&amp;G 상상본문 M"/>
              <a:ea typeface="KT&amp;G 상상본문 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01783" y="3757528"/>
            <a:ext cx="83776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KT&amp;G 상상본문 M"/>
                <a:ea typeface="KT&amp;G 상상본문 M"/>
              </a:rPr>
              <a:t>&lt;</a:t>
            </a:r>
            <a:r>
              <a:rPr lang="ko-KR" altLang="en-US">
                <a:latin typeface="KT&amp;G 상상본문 M"/>
                <a:ea typeface="KT&amp;G 상상본문 M"/>
              </a:rPr>
              <a:t>자료 조사</a:t>
            </a:r>
            <a:r>
              <a:rPr lang="en-US" altLang="ko-KR">
                <a:latin typeface="KT&amp;G 상상본문 M"/>
                <a:ea typeface="KT&amp;G 상상본문 M"/>
              </a:rPr>
              <a:t>&gt;</a:t>
            </a:r>
            <a:endParaRPr lang="en-US" altLang="ko-KR">
              <a:latin typeface="KT&amp;G 상상본문 M"/>
              <a:ea typeface="KT&amp;G 상상본문 M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>
                <a:latin typeface="KT&amp;G 상상본문 M"/>
                <a:ea typeface="KT&amp;G 상상본문 M"/>
              </a:rPr>
              <a:t>시험 기간으로 시간이 없어 자료조사를 추후 있을 회의를 통해 진행할 예정</a:t>
            </a:r>
            <a:r>
              <a:rPr lang="en-US" altLang="ko-KR">
                <a:latin typeface="KT&amp;G 상상본문 M"/>
                <a:ea typeface="KT&amp;G 상상본문 M"/>
              </a:rPr>
              <a:t>.</a:t>
            </a:r>
            <a:r>
              <a:rPr lang="ko-KR" altLang="en-US">
                <a:latin typeface="KT&amp;G 상상본문 M"/>
                <a:ea typeface="KT&amp;G 상상본문 M"/>
              </a:rPr>
              <a:t> </a:t>
            </a:r>
            <a:endParaRPr lang="ko-KR" altLang="en-US">
              <a:latin typeface="KT&amp;G 상상본문 M"/>
              <a:ea typeface="KT&amp;G 상상본문 M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874807" y="2012733"/>
            <a:ext cx="1256400" cy="125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1782" y="4902926"/>
            <a:ext cx="7106194" cy="1181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KT&amp;G 상상본문 M"/>
                <a:ea typeface="KT&amp;G 상상본문 M"/>
              </a:rPr>
              <a:t>&lt;</a:t>
            </a:r>
            <a:r>
              <a:rPr lang="ko-KR" altLang="en-US">
                <a:latin typeface="KT&amp;G 상상본문 M"/>
                <a:ea typeface="KT&amp;G 상상본문 M"/>
              </a:rPr>
              <a:t>회의</a:t>
            </a:r>
            <a:r>
              <a:rPr lang="en-US" altLang="ko-KR">
                <a:latin typeface="KT&amp;G 상상본문 M"/>
                <a:ea typeface="KT&amp;G 상상본문 M"/>
              </a:rPr>
              <a:t>&gt;</a:t>
            </a:r>
            <a:endParaRPr lang="en-US" altLang="ko-KR">
              <a:latin typeface="KT&amp;G 상상본문 M"/>
              <a:ea typeface="KT&amp;G 상상본문 M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>
                <a:latin typeface="KT&amp;G 상상본문 M"/>
                <a:ea typeface="KT&amp;G 상상본문 M"/>
              </a:rPr>
              <a:t>매주 수요일 저녁</a:t>
            </a:r>
            <a:r>
              <a:rPr lang="en-US" altLang="ko-KR">
                <a:latin typeface="KT&amp;G 상상본문 M"/>
                <a:ea typeface="KT&amp;G 상상본문 M"/>
              </a:rPr>
              <a:t>.</a:t>
            </a:r>
            <a:endParaRPr lang="en-US" altLang="ko-KR">
              <a:latin typeface="KT&amp;G 상상본문 M"/>
              <a:ea typeface="KT&amp;G 상상본문 M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>
                <a:latin typeface="KT&amp;G 상상본문 M"/>
                <a:ea typeface="KT&amp;G 상상본문 M"/>
              </a:rPr>
              <a:t>자료조사 공유 및 계획</a:t>
            </a:r>
            <a:r>
              <a:rPr lang="en-US" altLang="ko-KR">
                <a:latin typeface="KT&amp;G 상상본문 M"/>
                <a:ea typeface="KT&amp;G 상상본문 M"/>
              </a:rPr>
              <a:t>.</a:t>
            </a:r>
            <a:endParaRPr lang="en-US" altLang="ko-KR">
              <a:latin typeface="KT&amp;G 상상본문 M"/>
              <a:ea typeface="KT&amp;G 상상본문 M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>
                <a:latin typeface="KT&amp;G 상상본문 M"/>
                <a:ea typeface="KT&amp;G 상상본문 M"/>
              </a:rPr>
              <a:t>브릿지 오피스 및 줌을 이용한 비대면으로 회의 진행</a:t>
            </a:r>
            <a:r>
              <a:rPr lang="en-US" altLang="ko-KR">
                <a:latin typeface="KT&amp;G 상상본문 M"/>
                <a:ea typeface="KT&amp;G 상상본문 M"/>
              </a:rPr>
              <a:t>.</a:t>
            </a:r>
            <a:endParaRPr lang="ko-KR" altLang="en-US">
              <a:latin typeface="KT&amp;G 상상본문 M"/>
              <a:ea typeface="KT&amp;G 상상본문 M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874807" y="3771494"/>
            <a:ext cx="1255459" cy="125545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874807" y="5249397"/>
            <a:ext cx="1256400" cy="125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1288869"/>
            <a:ext cx="12192000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705" y="391879"/>
            <a:ext cx="525998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500">
                <a:solidFill>
                  <a:srgbClr val="00b0f0"/>
                </a:solidFill>
                <a:latin typeface="KT&amp;G 상상제목 B"/>
                <a:ea typeface="KT&amp;G 상상제목 B"/>
              </a:rPr>
              <a:t>3. </a:t>
            </a:r>
            <a:r>
              <a:rPr lang="ko-KR" altLang="en-US" sz="5500">
                <a:solidFill>
                  <a:srgbClr val="00b0f0"/>
                </a:solidFill>
                <a:latin typeface="KT&amp;G 상상제목 B"/>
                <a:ea typeface="KT&amp;G 상상제목 B"/>
              </a:rPr>
              <a:t>계획</a:t>
            </a:r>
            <a:endParaRPr lang="ko-KR" altLang="en-US" sz="5500">
              <a:solidFill>
                <a:srgbClr val="00b0f0"/>
              </a:solidFill>
              <a:latin typeface="KT&amp;G 상상제목 B"/>
              <a:ea typeface="KT&amp;G 상상제목 B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38695" y="3014586"/>
            <a:ext cx="8059538" cy="2527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  <a:defRPr/>
            </a:pPr>
            <a:r>
              <a:rPr lang="ko-KR" altLang="en-US" sz="4000">
                <a:latin typeface="KT&amp;G 상상본문 M"/>
                <a:ea typeface="KT&amp;G 상상본문 M"/>
              </a:rPr>
              <a:t>진주시의 버스 공공데이터를 수집</a:t>
            </a:r>
            <a:r>
              <a:rPr lang="en-US" altLang="ko-KR" sz="4000">
                <a:latin typeface="KT&amp;G 상상본문 M"/>
                <a:ea typeface="KT&amp;G 상상본문 M"/>
              </a:rPr>
              <a:t>.</a:t>
            </a:r>
            <a:endParaRPr lang="en-US" altLang="ko-KR" sz="4000">
              <a:latin typeface="KT&amp;G 상상본문 M"/>
              <a:ea typeface="KT&amp;G 상상본문 M"/>
            </a:endParaRPr>
          </a:p>
          <a:p>
            <a:pPr marL="342900" indent="-342900">
              <a:buAutoNum type="arabicPeriod"/>
              <a:defRPr/>
            </a:pPr>
            <a:r>
              <a:rPr lang="ko-KR" altLang="en-US" sz="4000">
                <a:latin typeface="KT&amp;G 상상본문 M"/>
                <a:ea typeface="KT&amp;G 상상본문 M"/>
              </a:rPr>
              <a:t>진주시 내의 버스 노선 의견 설문조사</a:t>
            </a:r>
            <a:r>
              <a:rPr lang="en-US" altLang="ko-KR" sz="4000">
                <a:latin typeface="KT&amp;G 상상본문 M"/>
                <a:ea typeface="KT&amp;G 상상본문 M"/>
              </a:rPr>
              <a:t>.</a:t>
            </a:r>
            <a:endParaRPr lang="en-US" altLang="ko-KR" sz="4000">
              <a:latin typeface="KT&amp;G 상상본문 M"/>
              <a:ea typeface="KT&amp;G 상상본문 M"/>
            </a:endParaRPr>
          </a:p>
          <a:p>
            <a:pPr marL="342900" indent="-342900">
              <a:buAutoNum type="arabicPeriod"/>
              <a:defRPr/>
            </a:pPr>
            <a:r>
              <a:rPr lang="ko-KR" altLang="en-US" sz="4000">
                <a:latin typeface="KT&amp;G 상상본문 M"/>
                <a:ea typeface="KT&amp;G 상상본문 M"/>
              </a:rPr>
              <a:t>데이터 분석</a:t>
            </a:r>
            <a:r>
              <a:rPr lang="en-US" altLang="ko-KR" sz="4000">
                <a:latin typeface="KT&amp;G 상상본문 M"/>
                <a:ea typeface="KT&amp;G 상상본문 M"/>
              </a:rPr>
              <a:t>.</a:t>
            </a:r>
            <a:endParaRPr lang="en-US" altLang="ko-KR" sz="4000">
              <a:latin typeface="KT&amp;G 상상본문 M"/>
              <a:ea typeface="KT&amp;G 상상본문 M"/>
            </a:endParaRPr>
          </a:p>
          <a:p>
            <a:pPr marL="342900" indent="-342900">
              <a:buAutoNum type="arabicPeriod"/>
              <a:defRPr/>
            </a:pPr>
            <a:r>
              <a:rPr lang="ko-KR" altLang="en-US" sz="4000">
                <a:latin typeface="KT&amp;G 상상본문 M"/>
                <a:ea typeface="KT&amp;G 상상본문 M"/>
              </a:rPr>
              <a:t>버스 노선 개발 및 배차 시간 수정</a:t>
            </a:r>
            <a:r>
              <a:rPr lang="en-US" altLang="ko-KR" sz="4000">
                <a:latin typeface="KT&amp;G 상상본문 M"/>
                <a:ea typeface="KT&amp;G 상상본문 M"/>
              </a:rPr>
              <a:t>.</a:t>
            </a:r>
            <a:endParaRPr lang="en-US" altLang="ko-KR" sz="4000">
              <a:latin typeface="KT&amp;G 상상본문 M"/>
              <a:ea typeface="KT&amp;G 상상본문 M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>
            <a:alphaModFix amt="5000"/>
          </a:blip>
          <a:stretch>
            <a:fillRect/>
          </a:stretch>
        </p:blipFill>
        <p:spPr>
          <a:xfrm>
            <a:off x="3580129" y="1434382"/>
            <a:ext cx="5031739" cy="50317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11E8B2-28C4-91F6-F90D-B9C456E7D8B6}"/>
              </a:ext>
            </a:extLst>
          </p:cNvPr>
          <p:cNvSpPr txBox="1"/>
          <p:nvPr/>
        </p:nvSpPr>
        <p:spPr>
          <a:xfrm>
            <a:off x="1881051" y="2124891"/>
            <a:ext cx="842989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0" dirty="0">
                <a:solidFill>
                  <a:srgbClr val="00B0F0"/>
                </a:solidFill>
                <a:latin typeface="KT&amp;G 상상제목 B" panose="02000300000000000000" pitchFamily="2" charset="-127"/>
                <a:ea typeface="KT&amp;G 상상제목 B" panose="02000300000000000000" pitchFamily="2" charset="-127"/>
              </a:rPr>
              <a:t>Thank You</a:t>
            </a:r>
            <a:endParaRPr lang="ko-KR" altLang="en-US" sz="15000" dirty="0">
              <a:solidFill>
                <a:srgbClr val="00B0F0"/>
              </a:solidFill>
              <a:latin typeface="KT&amp;G 상상제목 B" panose="02000300000000000000" pitchFamily="2" charset="-127"/>
              <a:ea typeface="KT&amp;G 상상제목 B" panose="020003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57F5845-185A-6A4D-3BF4-09BCBDC3E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938154"/>
            <a:ext cx="12192000" cy="7897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D1AFDA9-6692-4FCD-CB57-0041B53DEB6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618005" y="2656731"/>
            <a:ext cx="5852667" cy="584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731964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183</ep:Words>
  <ep:PresentationFormat>와이드스크린</ep:PresentationFormat>
  <ep:Paragraphs>44</ep:Paragraphs>
  <ep:Slides>9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ep:HeadingPairs>
  <ep:TitlesOfParts>
    <vt:vector size="10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2023-04-27T12:34:15.000</dcterms:created>
  <dc:creator>강다영</dc:creator>
  <cp:lastModifiedBy>강다영</cp:lastModifiedBy>
  <dcterms:modified xsi:type="dcterms:W3CDTF">2023-04-28T02:03:36.058</dcterms:modified>
  <cp:revision>7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