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5" r:id="rId18"/>
    <p:sldId id="266" r:id="rId19"/>
    <p:sldId id="273" r:id="rId20"/>
    <p:sldId id="274" r:id="rId21"/>
    <p:sldId id="277" r:id="rId22"/>
    <p:sldId id="317" r:id="rId23"/>
    <p:sldId id="316" r:id="rId24"/>
    <p:sldId id="278" r:id="rId25"/>
    <p:sldId id="335" r:id="rId26"/>
    <p:sldId id="286" r:id="rId27"/>
    <p:sldId id="281" r:id="rId28"/>
    <p:sldId id="288" r:id="rId29"/>
    <p:sldId id="295" r:id="rId30"/>
    <p:sldId id="283" r:id="rId31"/>
    <p:sldId id="284" r:id="rId32"/>
    <p:sldId id="289" r:id="rId33"/>
    <p:sldId id="290" r:id="rId34"/>
    <p:sldId id="291" r:id="rId35"/>
    <p:sldId id="292" r:id="rId36"/>
    <p:sldId id="296" r:id="rId37"/>
    <p:sldId id="293" r:id="rId38"/>
    <p:sldId id="319" r:id="rId39"/>
    <p:sldId id="318" r:id="rId40"/>
    <p:sldId id="276" r:id="rId41"/>
    <p:sldId id="297" r:id="rId42"/>
    <p:sldId id="298" r:id="rId43"/>
    <p:sldId id="299" r:id="rId44"/>
    <p:sldId id="321" r:id="rId45"/>
    <p:sldId id="320" r:id="rId46"/>
    <p:sldId id="322" r:id="rId47"/>
    <p:sldId id="323" r:id="rId48"/>
    <p:sldId id="324" r:id="rId49"/>
    <p:sldId id="325" r:id="rId50"/>
    <p:sldId id="326" r:id="rId51"/>
    <p:sldId id="327" r:id="rId52"/>
    <p:sldId id="328" r:id="rId53"/>
    <p:sldId id="329" r:id="rId54"/>
    <p:sldId id="330" r:id="rId55"/>
    <p:sldId id="331" r:id="rId56"/>
    <p:sldId id="332" r:id="rId57"/>
    <p:sldId id="333" r:id="rId58"/>
    <p:sldId id="334" r:id="rId59"/>
    <p:sldId id="315" r:id="rId6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>
      <p:cViewPr varScale="1">
        <p:scale>
          <a:sx n="110" d="100"/>
          <a:sy n="110" d="100"/>
        </p:scale>
        <p:origin x="348" y="114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BEB159-8537-CD67-8B44-EBA370643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43D6D7-CC80-F673-C87E-5643B92AE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EFB06C-0051-9936-ECFD-F95EB1D5D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D1490-3873-4FA1-8FB5-2E45D13E9591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AC0FB-2985-10CE-8F88-28A8D267C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969B42-4984-E7FC-BC09-80235E809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64B3E-6A0C-4390-B287-0582FCD0A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2095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7F6F4B-533D-E260-0227-3C27F305C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3C2ACB-86A9-2F4C-811D-0969FD82D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8DC505-03CE-B914-0EC4-4FFAADD6D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D1490-3873-4FA1-8FB5-2E45D13E9591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466A8A-6170-08C6-7688-11B718581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4F6A0A-4DA2-3574-51B0-B09B5AE81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64B3E-6A0C-4390-B287-0582FCD0A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809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9880B-58A6-EEAC-43DC-42ACFC69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B40DEE-7B1E-F702-D57F-56D8DD7A6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1A5A22-4DF2-7B20-0D3C-BF9EEA28B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D1490-3873-4FA1-8FB5-2E45D13E9591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037E23-71A2-A88E-FB51-2C5364216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FA6E5C-722B-6756-0434-AA7037897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64B3E-6A0C-4390-B287-0582FCD0A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3684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6BAF8E-70F1-D84A-9070-DFAB52B4C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D878C1-7C92-DFC5-E233-CD5C6DA2C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2FA993-1202-9A9B-A814-446FB99B0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76CFA7-EFBF-A11D-100D-ABEB6326C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D1490-3873-4FA1-8FB5-2E45D13E9591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069000-D01B-3871-F5A8-F752D3C73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8C50C-ED13-18D6-CEDF-E68F59DC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64B3E-6A0C-4390-B287-0582FCD0A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480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F56727-C7E9-453B-FEEB-7F289DFEF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CF689E-D794-9CE0-53A4-CE64377E9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94B520-4335-3B63-E801-F1B93DA94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576414-5C45-EB6A-4D40-0C3660DB2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91D4FE-493A-BA97-94D3-4F1449F414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CA66C1A-3BB6-C4D0-C72E-B4774B339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D1490-3873-4FA1-8FB5-2E45D13E9591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36A0817-A0CD-5709-9075-D2DCDF09B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6D4DF71-96F4-3EC7-A576-3F3597B6D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64B3E-6A0C-4390-B287-0582FCD0A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531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36001-2924-8217-BF55-8E77A66DE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12B5E5C-6F25-2368-7B2B-8DCA4B07C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D1490-3873-4FA1-8FB5-2E45D13E9591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6A7CDB-1F7B-BBD8-C99E-614D71FCE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8F39527-FEE5-76AE-AE06-42140765D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64B3E-6A0C-4390-B287-0582FCD0A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98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DDDE2F8-8553-A265-3C11-A75DACE34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D1490-3873-4FA1-8FB5-2E45D13E9591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CE55A78-E848-38A5-9326-85975EEA5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DABD3B-0354-EBAD-D71A-7A0F0F6B4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64B3E-6A0C-4390-B287-0582FCD0A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60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06B3C4-7EF1-AD12-2D17-E9229D73E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1B8EAC-CE61-578E-F2E4-FAB639D89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0B9CB4-347E-A12D-A99E-ADAB92C3D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32B9D0-F44A-CCE9-93E2-5DC91B2C4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D1490-3873-4FA1-8FB5-2E45D13E9591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CA83D3-A458-3700-4B99-23162C990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462AB39-8DC9-7228-01E1-7627C44E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64B3E-6A0C-4390-B287-0582FCD0A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248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D9FBAF-D3B8-2306-A1D1-72B974350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2DFA089-AFA7-94F7-C9AC-7C6EB1DD10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CEC10-7D1A-4F03-7F12-2E0150D1B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3CDD8B6-04DA-0677-9030-8A620DB5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D1490-3873-4FA1-8FB5-2E45D13E9591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79363C-4957-66F3-A8F1-6F12C976E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99067C-A7EB-D10C-5349-FB8B71112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64B3E-6A0C-4390-B287-0582FCD0A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946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8B10B-163B-83AB-FC15-04431A38D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3E5142-5B4E-5A77-8E74-369E95457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CDDCB-38FB-E8E3-7164-8B0657B5A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D1490-3873-4FA1-8FB5-2E45D13E9591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7E58BF-DEE2-9619-1F49-C6ACECFDC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5DAFDC-1EC0-8C0B-8CE6-33CFCAAD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64B3E-6A0C-4390-B287-0582FCD0A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560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F398A09-89FA-3F20-70E4-AB2DF889FC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DC1EDF-ABD0-73D5-C892-FEB6036D0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1145D9-788A-6766-8E05-800AF9559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D1490-3873-4FA1-8FB5-2E45D13E9591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8A7496-BF11-5E5D-16F7-0E1410037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51604D-D0B9-9395-BBFA-FCBA5C113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64B3E-6A0C-4390-B287-0582FCD0A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185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51163D8-8481-0B2F-325C-AA63DFC1D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561615-5AA3-FFF5-B0A4-BF9F232D4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71BED1-7FFA-4D78-C172-585EE56504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D1490-3873-4FA1-8FB5-2E45D13E9591}" type="datetimeFigureOut">
              <a:rPr lang="ko-KR" altLang="en-US" smtClean="0"/>
              <a:t>2022-08-26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7C1F49-E749-0591-FAED-81437D628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834F9D-5643-2129-6270-DB023CAC2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64B3E-6A0C-4390-B287-0582FCD0A2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41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jpe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63.png"/><Relationship Id="rId4" Type="http://schemas.openxmlformats.org/officeDocument/2006/relationships/image" Target="../media/image58.png"/><Relationship Id="rId9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63.png"/><Relationship Id="rId4" Type="http://schemas.openxmlformats.org/officeDocument/2006/relationships/image" Target="../media/image58.png"/><Relationship Id="rId9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8768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C65D7F-ACBE-F2BD-5BC5-AA774A9934F8}"/>
              </a:ext>
            </a:extLst>
          </p:cNvPr>
          <p:cNvSpPr/>
          <p:nvPr/>
        </p:nvSpPr>
        <p:spPr>
          <a:xfrm>
            <a:off x="2567608" y="1628800"/>
            <a:ext cx="6912768" cy="3456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0" dirty="0">
                <a:solidFill>
                  <a:schemeClr val="accent1">
                    <a:lumMod val="50000"/>
                  </a:schemeClr>
                </a:solidFill>
              </a:rPr>
              <a:t>마르세休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50B9D05-53FD-3CC5-C3E8-53E664BAF3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959" y="404664"/>
            <a:ext cx="1881713" cy="16612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3200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7BE207B-CFF3-EEFD-2E69-B7A73C237E07}"/>
              </a:ext>
            </a:extLst>
          </p:cNvPr>
          <p:cNvSpPr/>
          <p:nvPr/>
        </p:nvSpPr>
        <p:spPr>
          <a:xfrm>
            <a:off x="0" y="-13692"/>
            <a:ext cx="12192000" cy="6871692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BD8953-3F55-7B9D-2BEE-25C0D17F2B6B}"/>
              </a:ext>
            </a:extLst>
          </p:cNvPr>
          <p:cNvSpPr/>
          <p:nvPr/>
        </p:nvSpPr>
        <p:spPr>
          <a:xfrm>
            <a:off x="0" y="-27384"/>
            <a:ext cx="3215680" cy="6885384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C05C5-50ED-E1D7-D71C-86879FCD6302}"/>
              </a:ext>
            </a:extLst>
          </p:cNvPr>
          <p:cNvSpPr txBox="1"/>
          <p:nvPr/>
        </p:nvSpPr>
        <p:spPr>
          <a:xfrm>
            <a:off x="1919536" y="1700808"/>
            <a:ext cx="12241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0" dirty="0">
                <a:solidFill>
                  <a:schemeClr val="bg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01</a:t>
            </a:r>
            <a:endParaRPr lang="ko-KR" altLang="en-US" sz="7000" dirty="0">
              <a:solidFill>
                <a:schemeClr val="bg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948B7C-09C5-0C3E-345C-1C22DBD5901A}"/>
              </a:ext>
            </a:extLst>
          </p:cNvPr>
          <p:cNvSpPr txBox="1"/>
          <p:nvPr/>
        </p:nvSpPr>
        <p:spPr>
          <a:xfrm>
            <a:off x="4223792" y="2492896"/>
            <a:ext cx="453650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500" dirty="0">
                <a:solidFill>
                  <a:schemeClr val="accent1">
                    <a:lumMod val="50000"/>
                  </a:schemeClr>
                </a:solidFill>
              </a:rPr>
              <a:t>기업 소개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45A51F5-4F2C-5C92-CF6D-A39F1FAF8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893" y="240595"/>
            <a:ext cx="1163747" cy="102816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154660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-4389" y="3443199"/>
            <a:ext cx="12187680" cy="3473624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-96688" y="0"/>
            <a:ext cx="12288688" cy="350678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188640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C65D7F-ACBE-F2BD-5BC5-AA774A9934F8}"/>
              </a:ext>
            </a:extLst>
          </p:cNvPr>
          <p:cNvSpPr/>
          <p:nvPr/>
        </p:nvSpPr>
        <p:spPr>
          <a:xfrm>
            <a:off x="2135560" y="1283507"/>
            <a:ext cx="8424936" cy="45365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0" dirty="0">
                <a:solidFill>
                  <a:schemeClr val="accent1">
                    <a:lumMod val="50000"/>
                  </a:schemeClr>
                </a:solidFill>
                <a:latin typeface="Baskerville Old Face" panose="02020602080505020303" pitchFamily="18" charset="0"/>
              </a:rPr>
              <a:t>Save Your Energy, Rave Your Dream.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56883A6-933C-17B9-29AD-C83946320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38447"/>
            <a:ext cx="1164437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76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188640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FE21D4C-EBD1-D03D-ACFE-B5CC458B920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663" y="2568215"/>
            <a:ext cx="1581103" cy="158110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1C92F548-87AB-77AD-CCFD-EB45116285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7928" y="2564664"/>
            <a:ext cx="1580400" cy="1580400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321D84A5-9A00-9797-05FA-A05E5E1C57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4444" y="2564664"/>
            <a:ext cx="1580400" cy="1580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75931AF-060E-B768-D423-71B0DEE3138B}"/>
              </a:ext>
            </a:extLst>
          </p:cNvPr>
          <p:cNvSpPr txBox="1"/>
          <p:nvPr/>
        </p:nvSpPr>
        <p:spPr>
          <a:xfrm>
            <a:off x="767408" y="4581128"/>
            <a:ext cx="2592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2060"/>
                </a:solidFill>
              </a:rPr>
              <a:t>Revolution</a:t>
            </a:r>
          </a:p>
          <a:p>
            <a:r>
              <a:rPr lang="ko-KR" altLang="en-US" dirty="0"/>
              <a:t>혁신적인 기술을 통해 소비자에게 시간을 선물하는 기업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E0AC45-653B-2B54-6ECD-79E7E430D7F9}"/>
              </a:ext>
            </a:extLst>
          </p:cNvPr>
          <p:cNvSpPr txBox="1"/>
          <p:nvPr/>
        </p:nvSpPr>
        <p:spPr>
          <a:xfrm>
            <a:off x="5015880" y="4581127"/>
            <a:ext cx="2592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2060"/>
                </a:solidFill>
              </a:rPr>
              <a:t>Eco</a:t>
            </a:r>
          </a:p>
          <a:p>
            <a:r>
              <a:rPr lang="ko-KR" altLang="en-US" dirty="0"/>
              <a:t>제품</a:t>
            </a:r>
            <a:r>
              <a:rPr lang="en-US" altLang="ko-KR" dirty="0"/>
              <a:t> </a:t>
            </a:r>
            <a:r>
              <a:rPr lang="ko-KR" altLang="en-US" dirty="0"/>
              <a:t>생산</a:t>
            </a:r>
            <a:r>
              <a:rPr lang="en-US" altLang="ko-KR" dirty="0"/>
              <a:t>, </a:t>
            </a:r>
            <a:r>
              <a:rPr lang="ko-KR" altLang="en-US" dirty="0"/>
              <a:t>운송 과정에서 </a:t>
            </a:r>
            <a:r>
              <a:rPr lang="ko-KR" altLang="en-US" dirty="0" err="1"/>
              <a:t>생분해</a:t>
            </a:r>
            <a:r>
              <a:rPr lang="ko-KR" altLang="en-US" dirty="0"/>
              <a:t> 포장지를 사용하는 친환경 기업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A45E90-1B38-88C9-BC4B-721874827864}"/>
              </a:ext>
            </a:extLst>
          </p:cNvPr>
          <p:cNvSpPr txBox="1"/>
          <p:nvPr/>
        </p:nvSpPr>
        <p:spPr>
          <a:xfrm>
            <a:off x="9264352" y="4588240"/>
            <a:ext cx="2520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2060"/>
                </a:solidFill>
              </a:rPr>
              <a:t>Close</a:t>
            </a:r>
          </a:p>
          <a:p>
            <a:r>
              <a:rPr lang="ko-KR" altLang="en-US" dirty="0"/>
              <a:t>소비자 목소리에 귀 기울이며 먼저 다가가는 기업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512168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Vision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F067239-5BC9-D8F3-DB26-D7D810A9D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2203" y="238447"/>
            <a:ext cx="1164437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78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188640"/>
            <a:ext cx="11521280" cy="6408712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512168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조직도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59A15D2D-36F2-AB4F-498A-A0722DA992D5}"/>
              </a:ext>
            </a:extLst>
          </p:cNvPr>
          <p:cNvSpPr/>
          <p:nvPr/>
        </p:nvSpPr>
        <p:spPr>
          <a:xfrm>
            <a:off x="5519936" y="656692"/>
            <a:ext cx="1152128" cy="115212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D662A1E-D94F-0690-E997-820EA59E418F}"/>
              </a:ext>
            </a:extLst>
          </p:cNvPr>
          <p:cNvSpPr/>
          <p:nvPr/>
        </p:nvSpPr>
        <p:spPr>
          <a:xfrm>
            <a:off x="5336082" y="1916832"/>
            <a:ext cx="1519835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CEO: </a:t>
            </a:r>
            <a:r>
              <a:rPr lang="ko-KR" altLang="en-US" dirty="0"/>
              <a:t>조성민 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6A80D1B1-433A-7356-F382-14A56329111C}"/>
              </a:ext>
            </a:extLst>
          </p:cNvPr>
          <p:cNvCxnSpPr>
            <a:cxnSpLocks/>
            <a:stCxn id="3" idx="2"/>
            <a:endCxn id="16" idx="0"/>
          </p:cNvCxnSpPr>
          <p:nvPr/>
        </p:nvCxnSpPr>
        <p:spPr>
          <a:xfrm>
            <a:off x="6096000" y="2348880"/>
            <a:ext cx="1" cy="1454656"/>
          </a:xfrm>
          <a:prstGeom prst="line">
            <a:avLst/>
          </a:prstGeom>
          <a:ln w="19050">
            <a:solidFill>
              <a:srgbClr val="7030A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975923BC-CEC6-49C9-A12A-FF6B3F0900E3}"/>
              </a:ext>
            </a:extLst>
          </p:cNvPr>
          <p:cNvSpPr/>
          <p:nvPr/>
        </p:nvSpPr>
        <p:spPr>
          <a:xfrm>
            <a:off x="5336082" y="5440974"/>
            <a:ext cx="1723794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 팀장</a:t>
            </a:r>
            <a:r>
              <a:rPr lang="en-US" altLang="ko-KR" dirty="0"/>
              <a:t>: </a:t>
            </a:r>
            <a:r>
              <a:rPr lang="ko-KR" altLang="en-US" dirty="0" err="1"/>
              <a:t>탁동우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ABE546-2120-929E-228C-A9A191FD8C2D}"/>
              </a:ext>
            </a:extLst>
          </p:cNvPr>
          <p:cNvSpPr txBox="1"/>
          <p:nvPr/>
        </p:nvSpPr>
        <p:spPr>
          <a:xfrm>
            <a:off x="5519937" y="380353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해외영업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B5AE5CC-D3AA-971D-21A0-ECA2D84F2383}"/>
              </a:ext>
            </a:extLst>
          </p:cNvPr>
          <p:cNvCxnSpPr/>
          <p:nvPr/>
        </p:nvCxnSpPr>
        <p:spPr>
          <a:xfrm flipH="1">
            <a:off x="1775520" y="3140968"/>
            <a:ext cx="4248472" cy="0"/>
          </a:xfrm>
          <a:prstGeom prst="line">
            <a:avLst/>
          </a:prstGeom>
          <a:ln w="19050">
            <a:solidFill>
              <a:srgbClr val="002060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1C9032B-9697-8A33-157D-77E01D5503B0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784369" y="3140968"/>
            <a:ext cx="11070" cy="662568"/>
          </a:xfrm>
          <a:prstGeom prst="line">
            <a:avLst/>
          </a:prstGeom>
          <a:ln w="19050">
            <a:solidFill>
              <a:srgbClr val="002060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BB221D3-2B0F-E4AE-EB2A-38780373A523}"/>
              </a:ext>
            </a:extLst>
          </p:cNvPr>
          <p:cNvSpPr txBox="1"/>
          <p:nvPr/>
        </p:nvSpPr>
        <p:spPr>
          <a:xfrm>
            <a:off x="1095277" y="3803536"/>
            <a:ext cx="1400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고객 관리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20B79C7-4228-1570-4327-C349BD3CC83E}"/>
              </a:ext>
            </a:extLst>
          </p:cNvPr>
          <p:cNvSpPr/>
          <p:nvPr/>
        </p:nvSpPr>
        <p:spPr>
          <a:xfrm>
            <a:off x="1015604" y="5440974"/>
            <a:ext cx="1624012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</a:t>
            </a:r>
            <a:r>
              <a:rPr lang="ko-KR" altLang="en-US" dirty="0"/>
              <a:t>팀장</a:t>
            </a:r>
            <a:r>
              <a:rPr lang="en-US" altLang="ko-KR" dirty="0"/>
              <a:t>: </a:t>
            </a:r>
            <a:r>
              <a:rPr lang="ko-KR" altLang="en-US" dirty="0"/>
              <a:t>김동현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0CCA06-9E31-3EA0-E033-F83B3662C8A8}"/>
              </a:ext>
            </a:extLst>
          </p:cNvPr>
          <p:cNvSpPr txBox="1"/>
          <p:nvPr/>
        </p:nvSpPr>
        <p:spPr>
          <a:xfrm>
            <a:off x="3359696" y="380353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회계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93D5D83A-8B75-6B8D-19E7-7EC454BF9D0F}"/>
              </a:ext>
            </a:extLst>
          </p:cNvPr>
          <p:cNvSpPr/>
          <p:nvPr/>
        </p:nvSpPr>
        <p:spPr>
          <a:xfrm>
            <a:off x="3175842" y="5440974"/>
            <a:ext cx="1624012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 팀장</a:t>
            </a:r>
            <a:r>
              <a:rPr lang="en-US" altLang="ko-KR" dirty="0"/>
              <a:t>: </a:t>
            </a:r>
            <a:r>
              <a:rPr lang="ko-KR" altLang="en-US" dirty="0" err="1"/>
              <a:t>박준미</a:t>
            </a:r>
            <a:endParaRPr lang="ko-KR" altLang="en-US" dirty="0"/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3415C264-5F7C-9341-BB29-8796A1C41424}"/>
              </a:ext>
            </a:extLst>
          </p:cNvPr>
          <p:cNvCxnSpPr>
            <a:cxnSpLocks/>
          </p:cNvCxnSpPr>
          <p:nvPr/>
        </p:nvCxnSpPr>
        <p:spPr>
          <a:xfrm>
            <a:off x="3944609" y="3140968"/>
            <a:ext cx="1" cy="662568"/>
          </a:xfrm>
          <a:prstGeom prst="line">
            <a:avLst/>
          </a:prstGeom>
          <a:ln w="19050">
            <a:solidFill>
              <a:srgbClr val="002060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86A660D-4811-CC7E-7A11-DC2AF5D88161}"/>
              </a:ext>
            </a:extLst>
          </p:cNvPr>
          <p:cNvCxnSpPr/>
          <p:nvPr/>
        </p:nvCxnSpPr>
        <p:spPr>
          <a:xfrm flipH="1">
            <a:off x="6023992" y="3140968"/>
            <a:ext cx="4248472" cy="0"/>
          </a:xfrm>
          <a:prstGeom prst="line">
            <a:avLst/>
          </a:prstGeom>
          <a:ln w="19050">
            <a:solidFill>
              <a:srgbClr val="002060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C40D9AA-25CD-9AA8-85B9-CE7CF2EE5A0D}"/>
              </a:ext>
            </a:extLst>
          </p:cNvPr>
          <p:cNvSpPr txBox="1"/>
          <p:nvPr/>
        </p:nvSpPr>
        <p:spPr>
          <a:xfrm>
            <a:off x="7701292" y="380353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마케팅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45C3C359-5B34-5A5F-B53D-C7966EEB1A94}"/>
              </a:ext>
            </a:extLst>
          </p:cNvPr>
          <p:cNvSpPr/>
          <p:nvPr/>
        </p:nvSpPr>
        <p:spPr>
          <a:xfrm>
            <a:off x="7517438" y="5440974"/>
            <a:ext cx="1637717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 </a:t>
            </a:r>
            <a:r>
              <a:rPr lang="ko-KR" altLang="en-US"/>
              <a:t>팀장</a:t>
            </a:r>
            <a:r>
              <a:rPr lang="en-US" altLang="ko-KR" dirty="0"/>
              <a:t>: </a:t>
            </a:r>
            <a:r>
              <a:rPr lang="ko-KR" altLang="en-US" dirty="0"/>
              <a:t>강다영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D8BAF11-97A4-92BA-F2EB-438DC1C1CEEB}"/>
              </a:ext>
            </a:extLst>
          </p:cNvPr>
          <p:cNvCxnSpPr>
            <a:cxnSpLocks/>
          </p:cNvCxnSpPr>
          <p:nvPr/>
        </p:nvCxnSpPr>
        <p:spPr>
          <a:xfrm>
            <a:off x="8286205" y="3140968"/>
            <a:ext cx="1" cy="662568"/>
          </a:xfrm>
          <a:prstGeom prst="line">
            <a:avLst/>
          </a:prstGeom>
          <a:ln w="19050">
            <a:solidFill>
              <a:srgbClr val="002060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F8B29BE-0183-0495-B012-3FDACEBDDABC}"/>
              </a:ext>
            </a:extLst>
          </p:cNvPr>
          <p:cNvSpPr txBox="1"/>
          <p:nvPr/>
        </p:nvSpPr>
        <p:spPr>
          <a:xfrm>
            <a:off x="9678689" y="3803536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기획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B1720CDA-0DEF-9FBE-26A7-638F88807089}"/>
              </a:ext>
            </a:extLst>
          </p:cNvPr>
          <p:cNvSpPr/>
          <p:nvPr/>
        </p:nvSpPr>
        <p:spPr>
          <a:xfrm>
            <a:off x="9494835" y="5440974"/>
            <a:ext cx="1637717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 팀장</a:t>
            </a:r>
            <a:r>
              <a:rPr lang="en-US" altLang="ko-KR" dirty="0"/>
              <a:t>: </a:t>
            </a:r>
            <a:r>
              <a:rPr lang="ko-KR" altLang="en-US" dirty="0" err="1"/>
              <a:t>이아름</a:t>
            </a:r>
            <a:endParaRPr lang="ko-KR" altLang="en-US" dirty="0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7A98BD20-D60B-84D4-92E4-3085EEF8D731}"/>
              </a:ext>
            </a:extLst>
          </p:cNvPr>
          <p:cNvCxnSpPr>
            <a:cxnSpLocks/>
          </p:cNvCxnSpPr>
          <p:nvPr/>
        </p:nvCxnSpPr>
        <p:spPr>
          <a:xfrm>
            <a:off x="10263602" y="3140968"/>
            <a:ext cx="1" cy="662568"/>
          </a:xfrm>
          <a:prstGeom prst="line">
            <a:avLst/>
          </a:prstGeom>
          <a:ln w="19050">
            <a:solidFill>
              <a:srgbClr val="002060"/>
            </a:solidFill>
            <a:prstDash val="lgDashDot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708F5E8A-9A59-8ED9-30E6-B0B5E4F1D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10" y="4220009"/>
            <a:ext cx="1152000" cy="1152000"/>
          </a:xfrm>
          <a:prstGeom prst="ellipse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B03E51A-306C-0465-58B4-9F2FD68E9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203" y="238447"/>
            <a:ext cx="1164437" cy="10303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D22CDDF-C0A3-2E49-2250-9FB84F039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616" y="656692"/>
            <a:ext cx="1152000" cy="1152000"/>
          </a:xfrm>
          <a:prstGeom prst="ellipse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1EACD5D-B058-B63D-8BDB-78A239F47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2838" y="4172868"/>
            <a:ext cx="1152000" cy="1152000"/>
          </a:xfrm>
          <a:prstGeom prst="ellipse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822C2AE-DC1E-E007-1872-5FC896A946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5616" y="4197735"/>
            <a:ext cx="1152000" cy="1152000"/>
          </a:xfrm>
          <a:prstGeom prst="ellipse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8F0BAF6C-A23A-3E2D-292C-EC9916D0E2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0296" y="4219476"/>
            <a:ext cx="1152000" cy="1152000"/>
          </a:xfrm>
          <a:prstGeom prst="ellipse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1F1D128-DBDA-A07B-7DE0-6F7A9F408A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37693" y="4210373"/>
            <a:ext cx="1152000" cy="1152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036484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116632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512168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기업정보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C8BC5B9-462C-4FAF-1A70-A3AF0ABCA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38447"/>
            <a:ext cx="1164437" cy="10303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A0FD95C-2370-259D-1710-5CEE82900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640" y="2636912"/>
            <a:ext cx="2684298" cy="237626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22CDA5D-D3A2-7741-60F0-6A0C83CB355D}"/>
              </a:ext>
            </a:extLst>
          </p:cNvPr>
          <p:cNvSpPr/>
          <p:nvPr/>
        </p:nvSpPr>
        <p:spPr>
          <a:xfrm>
            <a:off x="2279576" y="1772816"/>
            <a:ext cx="352839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4000" b="1" i="1" spc="50" dirty="0">
                <a:ln w="9525" cmpd="sng">
                  <a:solidFill>
                    <a:srgbClr val="00B050"/>
                  </a:solidFill>
                  <a:prstDash val="solid"/>
                </a:ln>
                <a:solidFill>
                  <a:srgbClr val="00B05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마르세休</a:t>
            </a:r>
            <a:endParaRPr lang="en-US" altLang="ko-KR" sz="4000" b="1" i="1" cap="none" spc="50" dirty="0">
              <a:ln w="9525" cmpd="sng">
                <a:solidFill>
                  <a:srgbClr val="00B050"/>
                </a:solidFill>
                <a:prstDash val="solid"/>
              </a:ln>
              <a:solidFill>
                <a:srgbClr val="00B05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6B8F9B7-DEE6-765C-98C2-2AB3D523615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81714"/>
            <a:ext cx="504056" cy="50405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19DEF3F-B8CE-ADF4-53D0-1D58E966AE1A}"/>
              </a:ext>
            </a:extLst>
          </p:cNvPr>
          <p:cNvSpPr txBox="1"/>
          <p:nvPr/>
        </p:nvSpPr>
        <p:spPr>
          <a:xfrm>
            <a:off x="7032104" y="1772816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경기도 수원시 영통구 </a:t>
            </a:r>
            <a:r>
              <a:rPr lang="ko-KR" altLang="en-US" dirty="0" err="1"/>
              <a:t>삼성로</a:t>
            </a:r>
            <a:r>
              <a:rPr lang="ko-KR" altLang="en-US" dirty="0"/>
              <a:t> </a:t>
            </a:r>
            <a:r>
              <a:rPr lang="en-US" altLang="ko-KR" dirty="0"/>
              <a:t>129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3DCD05-6FFE-1B5A-D2F5-605666DDD90C}"/>
              </a:ext>
            </a:extLst>
          </p:cNvPr>
          <p:cNvSpPr txBox="1"/>
          <p:nvPr/>
        </p:nvSpPr>
        <p:spPr>
          <a:xfrm>
            <a:off x="7032104" y="2996952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031.456.123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332BBB-226E-95C5-49F8-F192249474F3}"/>
              </a:ext>
            </a:extLst>
          </p:cNvPr>
          <p:cNvSpPr txBox="1"/>
          <p:nvPr/>
        </p:nvSpPr>
        <p:spPr>
          <a:xfrm>
            <a:off x="7032104" y="4077072"/>
            <a:ext cx="403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@official_mareusehyu</a:t>
            </a:r>
          </a:p>
          <a:p>
            <a:r>
              <a:rPr lang="en-US" altLang="ko-KR" dirty="0"/>
              <a:t>e-mail: Mareuisehyu73@naver.com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E925E21-3836-C926-B381-3A4F675B7F2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4001" y="2883086"/>
            <a:ext cx="504000" cy="5040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10781992-416F-484A-6F9F-1F4804A7C7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149136"/>
            <a:ext cx="504000" cy="5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66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7BE207B-CFF3-EEFD-2E69-B7A73C237E07}"/>
              </a:ext>
            </a:extLst>
          </p:cNvPr>
          <p:cNvSpPr/>
          <p:nvPr/>
        </p:nvSpPr>
        <p:spPr>
          <a:xfrm>
            <a:off x="0" y="-13692"/>
            <a:ext cx="12192000" cy="6871692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BD8953-3F55-7B9D-2BEE-25C0D17F2B6B}"/>
              </a:ext>
            </a:extLst>
          </p:cNvPr>
          <p:cNvSpPr/>
          <p:nvPr/>
        </p:nvSpPr>
        <p:spPr>
          <a:xfrm>
            <a:off x="0" y="0"/>
            <a:ext cx="321568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C05C5-50ED-E1D7-D71C-86879FCD6302}"/>
              </a:ext>
            </a:extLst>
          </p:cNvPr>
          <p:cNvSpPr txBox="1"/>
          <p:nvPr/>
        </p:nvSpPr>
        <p:spPr>
          <a:xfrm>
            <a:off x="1919536" y="1700808"/>
            <a:ext cx="12241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0" dirty="0">
                <a:solidFill>
                  <a:schemeClr val="bg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02</a:t>
            </a:r>
            <a:endParaRPr lang="ko-KR" altLang="en-US" sz="7000" dirty="0">
              <a:solidFill>
                <a:schemeClr val="bg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948B7C-09C5-0C3E-345C-1C22DBD5901A}"/>
              </a:ext>
            </a:extLst>
          </p:cNvPr>
          <p:cNvSpPr txBox="1"/>
          <p:nvPr/>
        </p:nvSpPr>
        <p:spPr>
          <a:xfrm>
            <a:off x="4223792" y="2492896"/>
            <a:ext cx="4536504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500" dirty="0">
                <a:solidFill>
                  <a:schemeClr val="accent1">
                    <a:lumMod val="50000"/>
                  </a:schemeClr>
                </a:solidFill>
              </a:rPr>
              <a:t>제품 소개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7B5D28-25BA-2C7B-AB56-712D8E0BB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38447"/>
            <a:ext cx="1164437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193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872208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제품 선정 이유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9E88DC7-A158-82DC-2FC7-F42DC0D482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57" t="10475" r="2758" b="10477"/>
          <a:stretch/>
        </p:blipFill>
        <p:spPr>
          <a:xfrm>
            <a:off x="4043772" y="686160"/>
            <a:ext cx="6336704" cy="115212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003A036-9BEA-1D0F-8745-89598E72CD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23" t="14002" r="1505"/>
          <a:stretch/>
        </p:blipFill>
        <p:spPr>
          <a:xfrm>
            <a:off x="1295128" y="2243415"/>
            <a:ext cx="6336704" cy="12124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C71B2B-7CC2-92F0-5C64-9E0D650500F0}"/>
              </a:ext>
            </a:extLst>
          </p:cNvPr>
          <p:cNvSpPr txBox="1"/>
          <p:nvPr/>
        </p:nvSpPr>
        <p:spPr>
          <a:xfrm>
            <a:off x="2999656" y="4978783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COVID-19</a:t>
            </a:r>
            <a:r>
              <a:rPr lang="ko-KR" altLang="en-US" dirty="0"/>
              <a:t>로 인해 개인 위생개념이 증가하여 건조기 판매량 증가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544F59A-F739-BF6A-31C6-3E9E49DE2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090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872208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제품 선정 이유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C71B2B-7CC2-92F0-5C64-9E0D650500F0}"/>
              </a:ext>
            </a:extLst>
          </p:cNvPr>
          <p:cNvSpPr txBox="1"/>
          <p:nvPr/>
        </p:nvSpPr>
        <p:spPr>
          <a:xfrm>
            <a:off x="2711624" y="5598296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인 가구 증가로 </a:t>
            </a:r>
            <a:r>
              <a:rPr lang="en-US" altLang="ko-KR" dirty="0"/>
              <a:t>1</a:t>
            </a:r>
            <a:r>
              <a:rPr lang="ko-KR" altLang="en-US" dirty="0"/>
              <a:t>인 가구 특성상 부피가 작은 소형가전 선호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F423E401-ABEB-4F0E-F507-3595D1100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582" y="631089"/>
            <a:ext cx="5953956" cy="82879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34910B7E-E372-32C3-3F2A-CBDE8FEA619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330" t="2450" r="224"/>
          <a:stretch/>
        </p:blipFill>
        <p:spPr>
          <a:xfrm>
            <a:off x="1343472" y="1514929"/>
            <a:ext cx="6336704" cy="1229282"/>
          </a:xfrm>
          <a:prstGeom prst="rect">
            <a:avLst/>
          </a:prstGeom>
        </p:spPr>
      </p:pic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CA1E34B6-46B6-50B6-4AD6-5411E619327F}"/>
              </a:ext>
            </a:extLst>
          </p:cNvPr>
          <p:cNvCxnSpPr>
            <a:cxnSpLocks/>
          </p:cNvCxnSpPr>
          <p:nvPr/>
        </p:nvCxnSpPr>
        <p:spPr>
          <a:xfrm>
            <a:off x="1487488" y="2276872"/>
            <a:ext cx="453650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그림 32">
            <a:extLst>
              <a:ext uri="{FF2B5EF4-FFF2-40B4-BE49-F238E27FC236}">
                <a16:creationId xmlns:a16="http://schemas.microsoft.com/office/drawing/2014/main" id="{7BA54DDD-B066-0FEC-5697-4345CC16AF2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453" t="7030" r="1341" b="14843"/>
          <a:stretch/>
        </p:blipFill>
        <p:spPr>
          <a:xfrm>
            <a:off x="3026539" y="2524428"/>
            <a:ext cx="4821317" cy="2880319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63F03171-8FC3-B41D-17ED-D81F7C1E35E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82" t="-39451" r="5745" b="39451"/>
          <a:stretch/>
        </p:blipFill>
        <p:spPr>
          <a:xfrm>
            <a:off x="6600056" y="1118095"/>
            <a:ext cx="4598139" cy="86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953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872208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제품 선정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7BD53CC9-F84D-4132-6DDD-19D9B4D1A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87" y="1192721"/>
            <a:ext cx="5326043" cy="30243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A6CD65B-AE7F-E171-981A-AAEEA64D7DC2}"/>
              </a:ext>
            </a:extLst>
          </p:cNvPr>
          <p:cNvSpPr txBox="1"/>
          <p:nvPr/>
        </p:nvSpPr>
        <p:spPr>
          <a:xfrm>
            <a:off x="4937687" y="549296"/>
            <a:ext cx="2814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“</a:t>
            </a:r>
            <a:r>
              <a:rPr lang="ko-KR" altLang="en-US" dirty="0"/>
              <a:t>休드림 미니 건조기</a:t>
            </a:r>
            <a:r>
              <a:rPr lang="en-US" altLang="ko-KR" dirty="0"/>
              <a:t>”</a:t>
            </a:r>
            <a:endParaRPr lang="ko-KR" altLang="en-US" dirty="0"/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D6936353-0C11-F409-6302-3BC3002340DF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18812" y="3249407"/>
            <a:ext cx="1012143" cy="2170135"/>
          </a:xfrm>
          <a:prstGeom prst="bentConnector2">
            <a:avLst/>
          </a:prstGeom>
          <a:ln w="38100">
            <a:solidFill>
              <a:schemeClr val="accent5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8C67AEE-46C2-E4B9-42A3-190462FC4DB5}"/>
              </a:ext>
            </a:extLst>
          </p:cNvPr>
          <p:cNvSpPr txBox="1"/>
          <p:nvPr/>
        </p:nvSpPr>
        <p:spPr>
          <a:xfrm>
            <a:off x="6609951" y="3544146"/>
            <a:ext cx="3681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40</a:t>
            </a:r>
            <a:r>
              <a:rPr lang="ko-KR" altLang="en-US" dirty="0"/>
              <a:t>분 이내의 짧은 건조 시간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97398E-FCD7-FA8A-FC27-18818CE7998B}"/>
              </a:ext>
            </a:extLst>
          </p:cNvPr>
          <p:cNvSpPr txBox="1"/>
          <p:nvPr/>
        </p:nvSpPr>
        <p:spPr>
          <a:xfrm>
            <a:off x="6609951" y="4617747"/>
            <a:ext cx="4305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인 가구 맞춤형 용량 </a:t>
            </a:r>
            <a:r>
              <a:rPr lang="en-US" altLang="ko-KR" dirty="0"/>
              <a:t>‘4kg’</a:t>
            </a:r>
            <a:r>
              <a:rPr lang="ko-KR" altLang="en-US" dirty="0"/>
              <a:t>의 미니 건조기</a:t>
            </a:r>
          </a:p>
        </p:txBody>
      </p: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DA627DB6-093E-E129-2F08-9DA48B52DE8C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4792528" y="2167989"/>
            <a:ext cx="1817423" cy="1560822"/>
          </a:xfrm>
          <a:prstGeom prst="bentConnector3">
            <a:avLst>
              <a:gd name="adj1" fmla="val 50000"/>
            </a:avLst>
          </a:prstGeom>
          <a:ln w="38100">
            <a:solidFill>
              <a:schemeClr val="accent5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6E1B72C-18E8-8D81-DB1F-0BEFC73375D6}"/>
              </a:ext>
            </a:extLst>
          </p:cNvPr>
          <p:cNvSpPr txBox="1"/>
          <p:nvPr/>
        </p:nvSpPr>
        <p:spPr>
          <a:xfrm>
            <a:off x="1919536" y="2660340"/>
            <a:ext cx="360040" cy="1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" dirty="0">
                <a:solidFill>
                  <a:srgbClr val="002060"/>
                </a:solidFill>
              </a:rPr>
              <a:t>‘’</a:t>
            </a:r>
            <a:endParaRPr lang="ko-KR" altLang="en-US" sz="1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087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BD53CC9-F84D-4132-6DDD-19D9B4D1AB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2474" y="0"/>
            <a:ext cx="12192000" cy="6823146"/>
          </a:xfrm>
          <a:prstGeom prst="rect">
            <a:avLst/>
          </a:prstGeom>
          <a:solidFill>
            <a:srgbClr val="FFFFFF">
              <a:shade val="85000"/>
              <a:alpha val="80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E365C81-710B-C53D-CBC8-798DA396B4D4}"/>
              </a:ext>
            </a:extLst>
          </p:cNvPr>
          <p:cNvSpPr txBox="1"/>
          <p:nvPr/>
        </p:nvSpPr>
        <p:spPr>
          <a:xfrm>
            <a:off x="695400" y="1340768"/>
            <a:ext cx="4608512" cy="477054"/>
          </a:xfrm>
          <a:prstGeom prst="rect">
            <a:avLst/>
          </a:prstGeom>
          <a:noFill/>
          <a:ln w="38100">
            <a:solidFill>
              <a:srgbClr val="00206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국내생산 및 </a:t>
            </a:r>
            <a:r>
              <a:rPr lang="en-US" altLang="ko-KR" sz="25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</a:t>
            </a:r>
            <a:r>
              <a:rPr lang="ko-KR" altLang="en-US" sz="25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년 무상 품질 보증</a:t>
            </a:r>
            <a:endParaRPr lang="en-US" altLang="ko-KR" sz="25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2F8A3-ED25-7117-B2F7-A95A66027DAF}"/>
              </a:ext>
            </a:extLst>
          </p:cNvPr>
          <p:cNvSpPr txBox="1"/>
          <p:nvPr/>
        </p:nvSpPr>
        <p:spPr>
          <a:xfrm>
            <a:off x="6466427" y="1040156"/>
            <a:ext cx="5522410" cy="477054"/>
          </a:xfrm>
          <a:prstGeom prst="rect">
            <a:avLst/>
          </a:prstGeom>
          <a:noFill/>
          <a:ln w="38100">
            <a:solidFill>
              <a:srgbClr val="00206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건조기 소음 인증 </a:t>
            </a:r>
            <a:r>
              <a:rPr lang="ko-KR" altLang="en-US" sz="250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기준 업계 최저소음 </a:t>
            </a:r>
            <a:endParaRPr lang="en-US" altLang="ko-KR" sz="25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803C8A-8EE5-C1F8-AC9B-0B4AD1C91916}"/>
              </a:ext>
            </a:extLst>
          </p:cNvPr>
          <p:cNvSpPr txBox="1"/>
          <p:nvPr/>
        </p:nvSpPr>
        <p:spPr>
          <a:xfrm>
            <a:off x="2711624" y="467670"/>
            <a:ext cx="3888432" cy="477054"/>
          </a:xfrm>
          <a:prstGeom prst="rect">
            <a:avLst/>
          </a:prstGeom>
          <a:noFill/>
          <a:ln w="38100">
            <a:solidFill>
              <a:srgbClr val="00206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유해세균 최대 </a:t>
            </a:r>
            <a:r>
              <a:rPr lang="en-US" altLang="ko-KR" sz="25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99.9% </a:t>
            </a:r>
            <a:r>
              <a:rPr lang="ko-KR" altLang="en-US" sz="25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살균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7C4972-96AD-CB4C-C2C2-582B055E2DFE}"/>
              </a:ext>
            </a:extLst>
          </p:cNvPr>
          <p:cNvSpPr txBox="1"/>
          <p:nvPr/>
        </p:nvSpPr>
        <p:spPr>
          <a:xfrm>
            <a:off x="7968208" y="5092433"/>
            <a:ext cx="3888432" cy="477054"/>
          </a:xfrm>
          <a:prstGeom prst="rect">
            <a:avLst/>
          </a:prstGeom>
          <a:noFill/>
          <a:ln w="38100">
            <a:solidFill>
              <a:srgbClr val="00206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에너지소비효율등급 </a:t>
            </a:r>
            <a:r>
              <a:rPr lang="en-US" altLang="ko-KR" sz="25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</a:t>
            </a:r>
            <a:r>
              <a:rPr lang="ko-KR" altLang="en-US" sz="25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등급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97C15C-576C-1756-413F-AE73FD7C6753}"/>
              </a:ext>
            </a:extLst>
          </p:cNvPr>
          <p:cNvSpPr txBox="1"/>
          <p:nvPr/>
        </p:nvSpPr>
        <p:spPr>
          <a:xfrm>
            <a:off x="191344" y="5667610"/>
            <a:ext cx="6685880" cy="477054"/>
          </a:xfrm>
          <a:prstGeom prst="rect">
            <a:avLst/>
          </a:prstGeom>
          <a:noFill/>
          <a:ln w="38100">
            <a:solidFill>
              <a:srgbClr val="00206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ko-KR" altLang="en-US" sz="25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작은 사이즈와 다양한 색깔의 </a:t>
            </a:r>
            <a:r>
              <a:rPr lang="ko-KR" altLang="en-US" sz="2500" dirty="0" err="1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트랜디한</a:t>
            </a:r>
            <a:r>
              <a:rPr lang="ko-KR" altLang="en-US" sz="25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디자인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0AE7B25-9424-B408-1B63-E5EF90A0F12B}"/>
              </a:ext>
            </a:extLst>
          </p:cNvPr>
          <p:cNvSpPr/>
          <p:nvPr/>
        </p:nvSpPr>
        <p:spPr>
          <a:xfrm>
            <a:off x="407368" y="269940"/>
            <a:ext cx="1872208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제품 소개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D6015EB3-1A0B-7B77-62B2-3DECACE83149}"/>
              </a:ext>
            </a:extLst>
          </p:cNvPr>
          <p:cNvCxnSpPr>
            <a:endCxn id="11" idx="0"/>
          </p:cNvCxnSpPr>
          <p:nvPr/>
        </p:nvCxnSpPr>
        <p:spPr>
          <a:xfrm>
            <a:off x="3534284" y="5013176"/>
            <a:ext cx="0" cy="654434"/>
          </a:xfrm>
          <a:prstGeom prst="straightConnector1">
            <a:avLst/>
          </a:prstGeom>
          <a:ln w="38100"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9102C99-ADF7-36C0-C6B3-00A6DB9109FF}"/>
              </a:ext>
            </a:extLst>
          </p:cNvPr>
          <p:cNvCxnSpPr/>
          <p:nvPr/>
        </p:nvCxnSpPr>
        <p:spPr>
          <a:xfrm flipV="1">
            <a:off x="3791744" y="1817822"/>
            <a:ext cx="0" cy="531058"/>
          </a:xfrm>
          <a:prstGeom prst="straightConnector1">
            <a:avLst/>
          </a:prstGeom>
          <a:ln w="38100"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D8B489C6-4386-DC3F-AE96-92E7D813CCA5}"/>
              </a:ext>
            </a:extLst>
          </p:cNvPr>
          <p:cNvCxnSpPr>
            <a:cxnSpLocks/>
          </p:cNvCxnSpPr>
          <p:nvPr/>
        </p:nvCxnSpPr>
        <p:spPr>
          <a:xfrm flipH="1" flipV="1">
            <a:off x="5859556" y="984523"/>
            <a:ext cx="920520" cy="1026370"/>
          </a:xfrm>
          <a:prstGeom prst="straightConnector1">
            <a:avLst/>
          </a:prstGeom>
          <a:ln w="38100"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1F845BD-A226-D4E4-8D7C-3BE71D94589D}"/>
              </a:ext>
            </a:extLst>
          </p:cNvPr>
          <p:cNvCxnSpPr/>
          <p:nvPr/>
        </p:nvCxnSpPr>
        <p:spPr>
          <a:xfrm flipV="1">
            <a:off x="8544272" y="1529790"/>
            <a:ext cx="60905" cy="481103"/>
          </a:xfrm>
          <a:prstGeom prst="straightConnector1">
            <a:avLst/>
          </a:prstGeom>
          <a:ln w="38100"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8C370531-B82C-3A24-A004-4350288CA606}"/>
              </a:ext>
            </a:extLst>
          </p:cNvPr>
          <p:cNvCxnSpPr/>
          <p:nvPr/>
        </p:nvCxnSpPr>
        <p:spPr>
          <a:xfrm flipV="1">
            <a:off x="8544272" y="5569487"/>
            <a:ext cx="432048" cy="575177"/>
          </a:xfrm>
          <a:prstGeom prst="straightConnector1">
            <a:avLst/>
          </a:prstGeom>
          <a:ln w="38100">
            <a:solidFill>
              <a:srgbClr val="00206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959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BD53CC9-F84D-4132-6DDD-19D9B4D1AB5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9000"/>
          </a:blip>
          <a:stretch>
            <a:fillRect/>
          </a:stretch>
        </p:blipFill>
        <p:spPr>
          <a:xfrm>
            <a:off x="2474" y="0"/>
            <a:ext cx="12192000" cy="6823146"/>
          </a:xfrm>
          <a:prstGeom prst="rect">
            <a:avLst/>
          </a:prstGeom>
          <a:solidFill>
            <a:srgbClr val="FFFFFF">
              <a:shade val="85000"/>
              <a:alpha val="80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0AE7B25-9424-B408-1B63-E5EF90A0F12B}"/>
              </a:ext>
            </a:extLst>
          </p:cNvPr>
          <p:cNvSpPr/>
          <p:nvPr/>
        </p:nvSpPr>
        <p:spPr>
          <a:xfrm>
            <a:off x="407368" y="269940"/>
            <a:ext cx="1872208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제품 소개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ED3A0B-B997-2B48-A630-AB8100D58473}"/>
              </a:ext>
            </a:extLst>
          </p:cNvPr>
          <p:cNvSpPr txBox="1"/>
          <p:nvPr/>
        </p:nvSpPr>
        <p:spPr>
          <a:xfrm>
            <a:off x="1739516" y="2852936"/>
            <a:ext cx="8712968" cy="1015663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3000" dirty="0">
                <a:solidFill>
                  <a:schemeClr val="bg1"/>
                </a:solidFill>
              </a:rPr>
              <a:t>’2030</a:t>
            </a:r>
            <a:r>
              <a:rPr lang="ko-KR" altLang="en-US" sz="3000" dirty="0">
                <a:solidFill>
                  <a:schemeClr val="bg1"/>
                </a:solidFill>
              </a:rPr>
              <a:t>년 </a:t>
            </a:r>
            <a:r>
              <a:rPr lang="ko-KR" altLang="en-US" sz="3000" dirty="0" err="1">
                <a:solidFill>
                  <a:schemeClr val="bg1"/>
                </a:solidFill>
              </a:rPr>
              <a:t>탄소피크</a:t>
            </a:r>
            <a:r>
              <a:rPr lang="en-US" altLang="ko-KR" sz="3000" dirty="0">
                <a:solidFill>
                  <a:schemeClr val="bg1"/>
                </a:solidFill>
              </a:rPr>
              <a:t>,</a:t>
            </a:r>
            <a:r>
              <a:rPr lang="ko-KR" altLang="en-US" sz="3000" dirty="0">
                <a:solidFill>
                  <a:schemeClr val="bg1"/>
                </a:solidFill>
              </a:rPr>
              <a:t> </a:t>
            </a:r>
            <a:r>
              <a:rPr lang="en-US" altLang="ko-KR" sz="3000" dirty="0">
                <a:solidFill>
                  <a:schemeClr val="bg1"/>
                </a:solidFill>
              </a:rPr>
              <a:t>2060</a:t>
            </a:r>
            <a:r>
              <a:rPr lang="ko-KR" altLang="en-US" sz="3000" dirty="0">
                <a:solidFill>
                  <a:schemeClr val="bg1"/>
                </a:solidFill>
              </a:rPr>
              <a:t>년 탄소중립목표 선언</a:t>
            </a:r>
            <a:r>
              <a:rPr lang="en-US" altLang="ko-KR" sz="3000" dirty="0">
                <a:solidFill>
                  <a:schemeClr val="bg1"/>
                </a:solidFill>
              </a:rPr>
              <a:t>’</a:t>
            </a:r>
          </a:p>
          <a:p>
            <a:pPr algn="ctr"/>
            <a:r>
              <a:rPr lang="ko-KR" altLang="en-US" sz="3000" dirty="0">
                <a:solidFill>
                  <a:schemeClr val="bg1"/>
                </a:solidFill>
              </a:rPr>
              <a:t>친환경 브랜드에 대한 지원 가속화 마르세休 적용</a:t>
            </a:r>
          </a:p>
        </p:txBody>
      </p:sp>
    </p:spTree>
    <p:extLst>
      <p:ext uri="{BB962C8B-B14F-4D97-AF65-F5344CB8AC3E}">
        <p14:creationId xmlns:p14="http://schemas.microsoft.com/office/powerpoint/2010/main" val="3917149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872208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제품 선정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E1B72C-18E8-8D81-DB1F-0BEFC73375D6}"/>
              </a:ext>
            </a:extLst>
          </p:cNvPr>
          <p:cNvSpPr txBox="1"/>
          <p:nvPr/>
        </p:nvSpPr>
        <p:spPr>
          <a:xfrm>
            <a:off x="1919536" y="2660340"/>
            <a:ext cx="360040" cy="1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" dirty="0">
                <a:solidFill>
                  <a:srgbClr val="002060"/>
                </a:solidFill>
              </a:rPr>
              <a:t>‘’</a:t>
            </a:r>
            <a:endParaRPr lang="ko-KR" altLang="en-US" sz="100" dirty="0">
              <a:solidFill>
                <a:srgbClr val="0020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F95165-D6CB-AA6F-8222-D921CE92B2A3}"/>
              </a:ext>
            </a:extLst>
          </p:cNvPr>
          <p:cNvSpPr txBox="1"/>
          <p:nvPr/>
        </p:nvSpPr>
        <p:spPr>
          <a:xfrm>
            <a:off x="4655840" y="840561"/>
            <a:ext cx="309634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5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HS CODE</a:t>
            </a:r>
            <a:endParaRPr lang="ko-KR" altLang="en-US" sz="50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1E063E7-74A6-0D34-BDBD-E5C25FA46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440" y="1628605"/>
            <a:ext cx="6620799" cy="207674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E5B2BCE-890C-00EE-9A7E-C75DC8EBA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688" y="3851487"/>
            <a:ext cx="6563641" cy="2200582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CD7E93-7588-37B0-971A-12C0247EEB76}"/>
              </a:ext>
            </a:extLst>
          </p:cNvPr>
          <p:cNvSpPr/>
          <p:nvPr/>
        </p:nvSpPr>
        <p:spPr>
          <a:xfrm>
            <a:off x="2927648" y="1988840"/>
            <a:ext cx="936104" cy="359943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23884ED-D06D-0200-895D-0E7F47D3C9E3}"/>
              </a:ext>
            </a:extLst>
          </p:cNvPr>
          <p:cNvSpPr/>
          <p:nvPr/>
        </p:nvSpPr>
        <p:spPr>
          <a:xfrm>
            <a:off x="4894973" y="4270456"/>
            <a:ext cx="1201027" cy="279234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0516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944216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품질검사 인증서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E1B72C-18E8-8D81-DB1F-0BEFC73375D6}"/>
              </a:ext>
            </a:extLst>
          </p:cNvPr>
          <p:cNvSpPr txBox="1"/>
          <p:nvPr/>
        </p:nvSpPr>
        <p:spPr>
          <a:xfrm>
            <a:off x="1919536" y="2660340"/>
            <a:ext cx="360040" cy="1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" dirty="0">
                <a:solidFill>
                  <a:srgbClr val="002060"/>
                </a:solidFill>
              </a:rPr>
              <a:t>‘’</a:t>
            </a:r>
            <a:endParaRPr lang="ko-KR" altLang="en-US" sz="100" dirty="0">
              <a:solidFill>
                <a:srgbClr val="00206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696FF60-AA22-955C-F138-25BDDB788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9468" y="1223430"/>
            <a:ext cx="2638890" cy="3768488"/>
          </a:xfrm>
          <a:prstGeom prst="rect">
            <a:avLst/>
          </a:prstGeom>
        </p:spPr>
      </p:pic>
      <p:pic>
        <p:nvPicPr>
          <p:cNvPr id="1026" name="Picture 2" descr="보베로세 VoVeRoSe 여행용 의류건조기 휴대용 신발건조기 전자파 EMI KC 인증 : 네이버 블로그">
            <a:extLst>
              <a:ext uri="{FF2B5EF4-FFF2-40B4-BE49-F238E27FC236}">
                <a16:creationId xmlns:a16="http://schemas.microsoft.com/office/drawing/2014/main" id="{DA2B8E47-059A-6620-B0F3-AD09B15A39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4289" r="-3" b="10497"/>
          <a:stretch/>
        </p:blipFill>
        <p:spPr bwMode="auto">
          <a:xfrm>
            <a:off x="1903501" y="1358039"/>
            <a:ext cx="2792066" cy="373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B69D358-93B0-6E7A-B8FD-5EF76E1E2B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3464" y="5285659"/>
            <a:ext cx="372037" cy="3720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5B09DC-9A6E-DBE4-6CB5-E70D575F59EF}"/>
              </a:ext>
            </a:extLst>
          </p:cNvPr>
          <p:cNvSpPr txBox="1"/>
          <p:nvPr/>
        </p:nvSpPr>
        <p:spPr>
          <a:xfrm>
            <a:off x="3055555" y="5283038"/>
            <a:ext cx="1024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KC</a:t>
            </a:r>
            <a:r>
              <a:rPr lang="ko-KR" altLang="en-US" dirty="0"/>
              <a:t>인증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F0875E4-6D27-EC3C-2E17-23F0C5BBC73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1178" y="5285659"/>
            <a:ext cx="372037" cy="3720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2A12CE5-5469-4158-A31C-A75FCF46A91D}"/>
              </a:ext>
            </a:extLst>
          </p:cNvPr>
          <p:cNvSpPr txBox="1"/>
          <p:nvPr/>
        </p:nvSpPr>
        <p:spPr>
          <a:xfrm>
            <a:off x="8833269" y="5283038"/>
            <a:ext cx="1872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중국 </a:t>
            </a:r>
            <a:r>
              <a:rPr lang="en-US" altLang="ko-KR" dirty="0"/>
              <a:t>CCC</a:t>
            </a:r>
            <a:r>
              <a:rPr lang="ko-KR" altLang="en-US" dirty="0"/>
              <a:t>인증</a:t>
            </a:r>
          </a:p>
        </p:txBody>
      </p:sp>
    </p:spTree>
    <p:extLst>
      <p:ext uri="{BB962C8B-B14F-4D97-AF65-F5344CB8AC3E}">
        <p14:creationId xmlns:p14="http://schemas.microsoft.com/office/powerpoint/2010/main" val="826555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24644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2304256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제품 수출 가능 여부</a:t>
            </a:r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E1B72C-18E8-8D81-DB1F-0BEFC73375D6}"/>
              </a:ext>
            </a:extLst>
          </p:cNvPr>
          <p:cNvSpPr txBox="1"/>
          <p:nvPr/>
        </p:nvSpPr>
        <p:spPr>
          <a:xfrm>
            <a:off x="1919536" y="2660340"/>
            <a:ext cx="360040" cy="107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" dirty="0">
                <a:solidFill>
                  <a:srgbClr val="002060"/>
                </a:solidFill>
              </a:rPr>
              <a:t>‘’</a:t>
            </a:r>
            <a:endParaRPr lang="ko-KR" altLang="en-US" sz="100" dirty="0">
              <a:solidFill>
                <a:srgbClr val="00206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E8FFCD9-BB81-BCCA-2640-47D4307F94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1192721"/>
            <a:ext cx="3024336" cy="408993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D9C361A-313A-21CE-AB4F-ACE1C4DD8E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381" y="5667900"/>
            <a:ext cx="372037" cy="37203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92F0D5B-7670-A0A2-A2CA-0101150425D3}"/>
              </a:ext>
            </a:extLst>
          </p:cNvPr>
          <p:cNvSpPr txBox="1"/>
          <p:nvPr/>
        </p:nvSpPr>
        <p:spPr>
          <a:xfrm>
            <a:off x="1343472" y="5665279"/>
            <a:ext cx="17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한국 수출요건 해당 사항 없음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47E993A-6137-1BE4-50D5-C7035C0DEB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6801" y="1179912"/>
            <a:ext cx="6407722" cy="3032406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36A8A61C-675D-FB29-1A13-95F0A90A1393}"/>
              </a:ext>
            </a:extLst>
          </p:cNvPr>
          <p:cNvSpPr/>
          <p:nvPr/>
        </p:nvSpPr>
        <p:spPr>
          <a:xfrm>
            <a:off x="4134966" y="2992731"/>
            <a:ext cx="6389557" cy="279234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6BEC391-5FDB-9628-C798-7BD36C1DFA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2477" y="5849945"/>
            <a:ext cx="372037" cy="3720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9C80478-D9DD-319A-8E45-12E0F4A869FB}"/>
              </a:ext>
            </a:extLst>
          </p:cNvPr>
          <p:cNvSpPr txBox="1"/>
          <p:nvPr/>
        </p:nvSpPr>
        <p:spPr>
          <a:xfrm>
            <a:off x="7722157" y="5849945"/>
            <a:ext cx="3423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중국 수입 요건</a:t>
            </a:r>
            <a:r>
              <a:rPr lang="en-US" altLang="ko-KR" dirty="0"/>
              <a:t>: </a:t>
            </a:r>
            <a:r>
              <a:rPr lang="ko-KR" altLang="en-US" dirty="0"/>
              <a:t>해당 사항 없음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9E990837-CF88-887C-FAE2-4C7E134CBE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6179" y="4277423"/>
            <a:ext cx="372037" cy="37203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55D6F46-4438-D98D-029B-881E13B8C98D}"/>
              </a:ext>
            </a:extLst>
          </p:cNvPr>
          <p:cNvSpPr txBox="1"/>
          <p:nvPr/>
        </p:nvSpPr>
        <p:spPr>
          <a:xfrm>
            <a:off x="7288270" y="4274802"/>
            <a:ext cx="3704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수입국 관세 한</a:t>
            </a:r>
            <a:r>
              <a:rPr lang="en-US" altLang="ko-KR" dirty="0"/>
              <a:t>-</a:t>
            </a:r>
            <a:r>
              <a:rPr lang="ko-KR" altLang="en-US" dirty="0"/>
              <a:t>중 </a:t>
            </a:r>
            <a:r>
              <a:rPr lang="en-US" altLang="ko-KR" dirty="0"/>
              <a:t>FTA: </a:t>
            </a:r>
            <a:r>
              <a:rPr lang="ko-KR" altLang="en-US" dirty="0"/>
              <a:t>관세</a:t>
            </a:r>
            <a:r>
              <a:rPr lang="en-US" altLang="ko-KR" dirty="0"/>
              <a:t>0%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76A1DB1-19D2-E4EA-E480-B0DA69B24F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9162" y="4683310"/>
            <a:ext cx="2603035" cy="177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409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7BE207B-CFF3-EEFD-2E69-B7A73C237E07}"/>
              </a:ext>
            </a:extLst>
          </p:cNvPr>
          <p:cNvSpPr/>
          <p:nvPr/>
        </p:nvSpPr>
        <p:spPr>
          <a:xfrm>
            <a:off x="0" y="-13692"/>
            <a:ext cx="12192000" cy="6871692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BD8953-3F55-7B9D-2BEE-25C0D17F2B6B}"/>
              </a:ext>
            </a:extLst>
          </p:cNvPr>
          <p:cNvSpPr/>
          <p:nvPr/>
        </p:nvSpPr>
        <p:spPr>
          <a:xfrm>
            <a:off x="0" y="0"/>
            <a:ext cx="321568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C05C5-50ED-E1D7-D71C-86879FCD6302}"/>
              </a:ext>
            </a:extLst>
          </p:cNvPr>
          <p:cNvSpPr txBox="1"/>
          <p:nvPr/>
        </p:nvSpPr>
        <p:spPr>
          <a:xfrm>
            <a:off x="1919536" y="1700808"/>
            <a:ext cx="12241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0" dirty="0">
                <a:solidFill>
                  <a:schemeClr val="bg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03</a:t>
            </a:r>
            <a:endParaRPr lang="ko-KR" altLang="en-US" sz="7000" dirty="0">
              <a:solidFill>
                <a:schemeClr val="bg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948B7C-09C5-0C3E-345C-1C22DBD5901A}"/>
              </a:ext>
            </a:extLst>
          </p:cNvPr>
          <p:cNvSpPr txBox="1"/>
          <p:nvPr/>
        </p:nvSpPr>
        <p:spPr>
          <a:xfrm>
            <a:off x="4223792" y="2492896"/>
            <a:ext cx="496855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500">
                <a:solidFill>
                  <a:schemeClr val="accent1">
                    <a:lumMod val="50000"/>
                  </a:schemeClr>
                </a:solidFill>
              </a:rPr>
              <a:t>수출국 선정</a:t>
            </a:r>
            <a:endParaRPr lang="ko-KR" altLang="en-US" sz="65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7B5D28-25BA-2C7B-AB56-712D8E0BB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38447"/>
            <a:ext cx="1164437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848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영ㅇ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4104456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중국 선정 이유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sp>
        <p:nvSpPr>
          <p:cNvPr id="10" name="말풍선: 사각형 9">
            <a:extLst>
              <a:ext uri="{FF2B5EF4-FFF2-40B4-BE49-F238E27FC236}">
                <a16:creationId xmlns:a16="http://schemas.microsoft.com/office/drawing/2014/main" id="{47681837-55C3-A58F-4025-1960026669EE}"/>
              </a:ext>
            </a:extLst>
          </p:cNvPr>
          <p:cNvSpPr/>
          <p:nvPr/>
        </p:nvSpPr>
        <p:spPr>
          <a:xfrm>
            <a:off x="1027711" y="1339898"/>
            <a:ext cx="3103372" cy="1584176"/>
          </a:xfrm>
          <a:prstGeom prst="wedgeRectCallout">
            <a:avLst>
              <a:gd name="adj1" fmla="val 41572"/>
              <a:gd name="adj2" fmla="val 76946"/>
            </a:avLst>
          </a:prstGeom>
          <a:noFill/>
          <a:ln w="38100">
            <a:prstDash val="dash"/>
            <a:extLst>
              <a:ext uri="{C807C97D-BFC1-408E-A445-0C87EB9F89A2}">
                <ask:lineSketchStyleProps xmlns:ask="http://schemas.microsoft.com/office/drawing/2018/sketchyshapes" sd="475377810">
                  <a:custGeom>
                    <a:avLst/>
                    <a:gdLst>
                      <a:gd name="connsiteX0" fmla="*/ 0 w 2467616"/>
                      <a:gd name="connsiteY0" fmla="*/ 0 h 1584176"/>
                      <a:gd name="connsiteX1" fmla="*/ 411269 w 2467616"/>
                      <a:gd name="connsiteY1" fmla="*/ 0 h 1584176"/>
                      <a:gd name="connsiteX2" fmla="*/ 411269 w 2467616"/>
                      <a:gd name="connsiteY2" fmla="*/ 0 h 1584176"/>
                      <a:gd name="connsiteX3" fmla="*/ 1028173 w 2467616"/>
                      <a:gd name="connsiteY3" fmla="*/ 0 h 1584176"/>
                      <a:gd name="connsiteX4" fmla="*/ 1507987 w 2467616"/>
                      <a:gd name="connsiteY4" fmla="*/ 0 h 1584176"/>
                      <a:gd name="connsiteX5" fmla="*/ 1987802 w 2467616"/>
                      <a:gd name="connsiteY5" fmla="*/ 0 h 1584176"/>
                      <a:gd name="connsiteX6" fmla="*/ 2467616 w 2467616"/>
                      <a:gd name="connsiteY6" fmla="*/ 0 h 1584176"/>
                      <a:gd name="connsiteX7" fmla="*/ 2467616 w 2467616"/>
                      <a:gd name="connsiteY7" fmla="*/ 434328 h 1584176"/>
                      <a:gd name="connsiteX8" fmla="*/ 2467616 w 2467616"/>
                      <a:gd name="connsiteY8" fmla="*/ 924103 h 1584176"/>
                      <a:gd name="connsiteX9" fmla="*/ 2467616 w 2467616"/>
                      <a:gd name="connsiteY9" fmla="*/ 924103 h 1584176"/>
                      <a:gd name="connsiteX10" fmla="*/ 2467616 w 2467616"/>
                      <a:gd name="connsiteY10" fmla="*/ 1320147 h 1584176"/>
                      <a:gd name="connsiteX11" fmla="*/ 2467616 w 2467616"/>
                      <a:gd name="connsiteY11" fmla="*/ 1584176 h 1584176"/>
                      <a:gd name="connsiteX12" fmla="*/ 2002196 w 2467616"/>
                      <a:gd name="connsiteY12" fmla="*/ 1584176 h 1584176"/>
                      <a:gd name="connsiteX13" fmla="*/ 1522382 w 2467616"/>
                      <a:gd name="connsiteY13" fmla="*/ 1584176 h 1584176"/>
                      <a:gd name="connsiteX14" fmla="*/ 1028173 w 2467616"/>
                      <a:gd name="connsiteY14" fmla="*/ 1584176 h 1584176"/>
                      <a:gd name="connsiteX15" fmla="*/ 1111587 w 2467616"/>
                      <a:gd name="connsiteY15" fmla="*/ 1790911 h 1584176"/>
                      <a:gd name="connsiteX16" fmla="*/ 782438 w 2467616"/>
                      <a:gd name="connsiteY16" fmla="*/ 1693746 h 1584176"/>
                      <a:gd name="connsiteX17" fmla="*/ 411269 w 2467616"/>
                      <a:gd name="connsiteY17" fmla="*/ 1584176 h 1584176"/>
                      <a:gd name="connsiteX18" fmla="*/ 0 w 2467616"/>
                      <a:gd name="connsiteY18" fmla="*/ 1584176 h 1584176"/>
                      <a:gd name="connsiteX19" fmla="*/ 0 w 2467616"/>
                      <a:gd name="connsiteY19" fmla="*/ 1320147 h 1584176"/>
                      <a:gd name="connsiteX20" fmla="*/ 0 w 2467616"/>
                      <a:gd name="connsiteY20" fmla="*/ 924103 h 1584176"/>
                      <a:gd name="connsiteX21" fmla="*/ 0 w 2467616"/>
                      <a:gd name="connsiteY21" fmla="*/ 924103 h 1584176"/>
                      <a:gd name="connsiteX22" fmla="*/ 0 w 2467616"/>
                      <a:gd name="connsiteY22" fmla="*/ 489775 h 1584176"/>
                      <a:gd name="connsiteX23" fmla="*/ 0 w 2467616"/>
                      <a:gd name="connsiteY23" fmla="*/ 0 h 15841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467616" h="1584176" extrusionOk="0">
                        <a:moveTo>
                          <a:pt x="0" y="0"/>
                        </a:moveTo>
                        <a:cubicBezTo>
                          <a:pt x="154852" y="19545"/>
                          <a:pt x="214577" y="-9620"/>
                          <a:pt x="411269" y="0"/>
                        </a:cubicBezTo>
                        <a:lnTo>
                          <a:pt x="411269" y="0"/>
                        </a:lnTo>
                        <a:cubicBezTo>
                          <a:pt x="586752" y="14791"/>
                          <a:pt x="792778" y="-14433"/>
                          <a:pt x="1028173" y="0"/>
                        </a:cubicBezTo>
                        <a:cubicBezTo>
                          <a:pt x="1169964" y="-10708"/>
                          <a:pt x="1277352" y="-9863"/>
                          <a:pt x="1507987" y="0"/>
                        </a:cubicBezTo>
                        <a:cubicBezTo>
                          <a:pt x="1738622" y="9863"/>
                          <a:pt x="1780953" y="-17619"/>
                          <a:pt x="1987802" y="0"/>
                        </a:cubicBezTo>
                        <a:cubicBezTo>
                          <a:pt x="2194652" y="17619"/>
                          <a:pt x="2230078" y="-16390"/>
                          <a:pt x="2467616" y="0"/>
                        </a:cubicBezTo>
                        <a:cubicBezTo>
                          <a:pt x="2471429" y="133897"/>
                          <a:pt x="2469631" y="327256"/>
                          <a:pt x="2467616" y="434328"/>
                        </a:cubicBezTo>
                        <a:cubicBezTo>
                          <a:pt x="2465601" y="541400"/>
                          <a:pt x="2457959" y="681679"/>
                          <a:pt x="2467616" y="924103"/>
                        </a:cubicBezTo>
                        <a:lnTo>
                          <a:pt x="2467616" y="924103"/>
                        </a:lnTo>
                        <a:cubicBezTo>
                          <a:pt x="2469549" y="1117437"/>
                          <a:pt x="2465598" y="1147585"/>
                          <a:pt x="2467616" y="1320147"/>
                        </a:cubicBezTo>
                        <a:cubicBezTo>
                          <a:pt x="2465351" y="1416361"/>
                          <a:pt x="2465788" y="1512477"/>
                          <a:pt x="2467616" y="1584176"/>
                        </a:cubicBezTo>
                        <a:cubicBezTo>
                          <a:pt x="2296132" y="1563936"/>
                          <a:pt x="2176445" y="1602910"/>
                          <a:pt x="2002196" y="1584176"/>
                        </a:cubicBezTo>
                        <a:cubicBezTo>
                          <a:pt x="1827947" y="1565442"/>
                          <a:pt x="1711821" y="1580346"/>
                          <a:pt x="1522382" y="1584176"/>
                        </a:cubicBezTo>
                        <a:cubicBezTo>
                          <a:pt x="1332943" y="1588006"/>
                          <a:pt x="1202405" y="1565445"/>
                          <a:pt x="1028173" y="1584176"/>
                        </a:cubicBezTo>
                        <a:cubicBezTo>
                          <a:pt x="1069504" y="1657417"/>
                          <a:pt x="1081888" y="1737530"/>
                          <a:pt x="1111587" y="1790911"/>
                        </a:cubicBezTo>
                        <a:cubicBezTo>
                          <a:pt x="1002409" y="1745186"/>
                          <a:pt x="856456" y="1724558"/>
                          <a:pt x="782438" y="1693746"/>
                        </a:cubicBezTo>
                        <a:cubicBezTo>
                          <a:pt x="708420" y="1662934"/>
                          <a:pt x="487369" y="1606062"/>
                          <a:pt x="411269" y="1584176"/>
                        </a:cubicBezTo>
                        <a:cubicBezTo>
                          <a:pt x="300274" y="1592927"/>
                          <a:pt x="158032" y="1570718"/>
                          <a:pt x="0" y="1584176"/>
                        </a:cubicBezTo>
                        <a:cubicBezTo>
                          <a:pt x="-7535" y="1481038"/>
                          <a:pt x="-2782" y="1451635"/>
                          <a:pt x="0" y="1320147"/>
                        </a:cubicBezTo>
                        <a:cubicBezTo>
                          <a:pt x="-9870" y="1166737"/>
                          <a:pt x="-10736" y="1100837"/>
                          <a:pt x="0" y="924103"/>
                        </a:cubicBezTo>
                        <a:lnTo>
                          <a:pt x="0" y="924103"/>
                        </a:lnTo>
                        <a:cubicBezTo>
                          <a:pt x="9939" y="744070"/>
                          <a:pt x="20351" y="622421"/>
                          <a:pt x="0" y="489775"/>
                        </a:cubicBezTo>
                        <a:cubicBezTo>
                          <a:pt x="-20351" y="357129"/>
                          <a:pt x="-22302" y="13821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</a:rPr>
              <a:t>영국의 건조기 보급률은 </a:t>
            </a:r>
            <a:r>
              <a:rPr lang="en-US" altLang="ko-KR" sz="2000" dirty="0">
                <a:solidFill>
                  <a:schemeClr val="accent5">
                    <a:lumMod val="50000"/>
                  </a:schemeClr>
                </a:solidFill>
              </a:rPr>
              <a:t>45%</a:t>
            </a:r>
            <a:endParaRPr lang="ko-KR" altLang="en-US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35402DAD-716F-8C11-8079-AC2420497A79}"/>
              </a:ext>
            </a:extLst>
          </p:cNvPr>
          <p:cNvSpPr/>
          <p:nvPr/>
        </p:nvSpPr>
        <p:spPr>
          <a:xfrm>
            <a:off x="695400" y="4679590"/>
            <a:ext cx="3670602" cy="1584176"/>
          </a:xfrm>
          <a:prstGeom prst="wedgeRectCallout">
            <a:avLst>
              <a:gd name="adj1" fmla="val 74974"/>
              <a:gd name="adj2" fmla="val -58805"/>
            </a:avLst>
          </a:prstGeom>
          <a:noFill/>
          <a:ln w="38100">
            <a:prstDash val="dash"/>
            <a:extLst>
              <a:ext uri="{C807C97D-BFC1-408E-A445-0C87EB9F89A2}">
                <ask:lineSketchStyleProps xmlns:ask="http://schemas.microsoft.com/office/drawing/2018/sketchyshapes" sd="475377810">
                  <a:custGeom>
                    <a:avLst/>
                    <a:gdLst>
                      <a:gd name="connsiteX0" fmla="*/ 0 w 2467616"/>
                      <a:gd name="connsiteY0" fmla="*/ 0 h 1584176"/>
                      <a:gd name="connsiteX1" fmla="*/ 411269 w 2467616"/>
                      <a:gd name="connsiteY1" fmla="*/ 0 h 1584176"/>
                      <a:gd name="connsiteX2" fmla="*/ 411269 w 2467616"/>
                      <a:gd name="connsiteY2" fmla="*/ 0 h 1584176"/>
                      <a:gd name="connsiteX3" fmla="*/ 1028173 w 2467616"/>
                      <a:gd name="connsiteY3" fmla="*/ 0 h 1584176"/>
                      <a:gd name="connsiteX4" fmla="*/ 1507987 w 2467616"/>
                      <a:gd name="connsiteY4" fmla="*/ 0 h 1584176"/>
                      <a:gd name="connsiteX5" fmla="*/ 1987802 w 2467616"/>
                      <a:gd name="connsiteY5" fmla="*/ 0 h 1584176"/>
                      <a:gd name="connsiteX6" fmla="*/ 2467616 w 2467616"/>
                      <a:gd name="connsiteY6" fmla="*/ 0 h 1584176"/>
                      <a:gd name="connsiteX7" fmla="*/ 2467616 w 2467616"/>
                      <a:gd name="connsiteY7" fmla="*/ 434328 h 1584176"/>
                      <a:gd name="connsiteX8" fmla="*/ 2467616 w 2467616"/>
                      <a:gd name="connsiteY8" fmla="*/ 924103 h 1584176"/>
                      <a:gd name="connsiteX9" fmla="*/ 2467616 w 2467616"/>
                      <a:gd name="connsiteY9" fmla="*/ 924103 h 1584176"/>
                      <a:gd name="connsiteX10" fmla="*/ 2467616 w 2467616"/>
                      <a:gd name="connsiteY10" fmla="*/ 1320147 h 1584176"/>
                      <a:gd name="connsiteX11" fmla="*/ 2467616 w 2467616"/>
                      <a:gd name="connsiteY11" fmla="*/ 1584176 h 1584176"/>
                      <a:gd name="connsiteX12" fmla="*/ 2002196 w 2467616"/>
                      <a:gd name="connsiteY12" fmla="*/ 1584176 h 1584176"/>
                      <a:gd name="connsiteX13" fmla="*/ 1522382 w 2467616"/>
                      <a:gd name="connsiteY13" fmla="*/ 1584176 h 1584176"/>
                      <a:gd name="connsiteX14" fmla="*/ 1028173 w 2467616"/>
                      <a:gd name="connsiteY14" fmla="*/ 1584176 h 1584176"/>
                      <a:gd name="connsiteX15" fmla="*/ 1111587 w 2467616"/>
                      <a:gd name="connsiteY15" fmla="*/ 1790911 h 1584176"/>
                      <a:gd name="connsiteX16" fmla="*/ 782438 w 2467616"/>
                      <a:gd name="connsiteY16" fmla="*/ 1693746 h 1584176"/>
                      <a:gd name="connsiteX17" fmla="*/ 411269 w 2467616"/>
                      <a:gd name="connsiteY17" fmla="*/ 1584176 h 1584176"/>
                      <a:gd name="connsiteX18" fmla="*/ 0 w 2467616"/>
                      <a:gd name="connsiteY18" fmla="*/ 1584176 h 1584176"/>
                      <a:gd name="connsiteX19" fmla="*/ 0 w 2467616"/>
                      <a:gd name="connsiteY19" fmla="*/ 1320147 h 1584176"/>
                      <a:gd name="connsiteX20" fmla="*/ 0 w 2467616"/>
                      <a:gd name="connsiteY20" fmla="*/ 924103 h 1584176"/>
                      <a:gd name="connsiteX21" fmla="*/ 0 w 2467616"/>
                      <a:gd name="connsiteY21" fmla="*/ 924103 h 1584176"/>
                      <a:gd name="connsiteX22" fmla="*/ 0 w 2467616"/>
                      <a:gd name="connsiteY22" fmla="*/ 489775 h 1584176"/>
                      <a:gd name="connsiteX23" fmla="*/ 0 w 2467616"/>
                      <a:gd name="connsiteY23" fmla="*/ 0 h 15841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467616" h="1584176" extrusionOk="0">
                        <a:moveTo>
                          <a:pt x="0" y="0"/>
                        </a:moveTo>
                        <a:cubicBezTo>
                          <a:pt x="154852" y="19545"/>
                          <a:pt x="214577" y="-9620"/>
                          <a:pt x="411269" y="0"/>
                        </a:cubicBezTo>
                        <a:lnTo>
                          <a:pt x="411269" y="0"/>
                        </a:lnTo>
                        <a:cubicBezTo>
                          <a:pt x="586752" y="14791"/>
                          <a:pt x="792778" y="-14433"/>
                          <a:pt x="1028173" y="0"/>
                        </a:cubicBezTo>
                        <a:cubicBezTo>
                          <a:pt x="1169964" y="-10708"/>
                          <a:pt x="1277352" y="-9863"/>
                          <a:pt x="1507987" y="0"/>
                        </a:cubicBezTo>
                        <a:cubicBezTo>
                          <a:pt x="1738622" y="9863"/>
                          <a:pt x="1780953" y="-17619"/>
                          <a:pt x="1987802" y="0"/>
                        </a:cubicBezTo>
                        <a:cubicBezTo>
                          <a:pt x="2194652" y="17619"/>
                          <a:pt x="2230078" y="-16390"/>
                          <a:pt x="2467616" y="0"/>
                        </a:cubicBezTo>
                        <a:cubicBezTo>
                          <a:pt x="2471429" y="133897"/>
                          <a:pt x="2469631" y="327256"/>
                          <a:pt x="2467616" y="434328"/>
                        </a:cubicBezTo>
                        <a:cubicBezTo>
                          <a:pt x="2465601" y="541400"/>
                          <a:pt x="2457959" y="681679"/>
                          <a:pt x="2467616" y="924103"/>
                        </a:cubicBezTo>
                        <a:lnTo>
                          <a:pt x="2467616" y="924103"/>
                        </a:lnTo>
                        <a:cubicBezTo>
                          <a:pt x="2469549" y="1117437"/>
                          <a:pt x="2465598" y="1147585"/>
                          <a:pt x="2467616" y="1320147"/>
                        </a:cubicBezTo>
                        <a:cubicBezTo>
                          <a:pt x="2465351" y="1416361"/>
                          <a:pt x="2465788" y="1512477"/>
                          <a:pt x="2467616" y="1584176"/>
                        </a:cubicBezTo>
                        <a:cubicBezTo>
                          <a:pt x="2296132" y="1563936"/>
                          <a:pt x="2176445" y="1602910"/>
                          <a:pt x="2002196" y="1584176"/>
                        </a:cubicBezTo>
                        <a:cubicBezTo>
                          <a:pt x="1827947" y="1565442"/>
                          <a:pt x="1711821" y="1580346"/>
                          <a:pt x="1522382" y="1584176"/>
                        </a:cubicBezTo>
                        <a:cubicBezTo>
                          <a:pt x="1332943" y="1588006"/>
                          <a:pt x="1202405" y="1565445"/>
                          <a:pt x="1028173" y="1584176"/>
                        </a:cubicBezTo>
                        <a:cubicBezTo>
                          <a:pt x="1069504" y="1657417"/>
                          <a:pt x="1081888" y="1737530"/>
                          <a:pt x="1111587" y="1790911"/>
                        </a:cubicBezTo>
                        <a:cubicBezTo>
                          <a:pt x="1002409" y="1745186"/>
                          <a:pt x="856456" y="1724558"/>
                          <a:pt x="782438" y="1693746"/>
                        </a:cubicBezTo>
                        <a:cubicBezTo>
                          <a:pt x="708420" y="1662934"/>
                          <a:pt x="487369" y="1606062"/>
                          <a:pt x="411269" y="1584176"/>
                        </a:cubicBezTo>
                        <a:cubicBezTo>
                          <a:pt x="300274" y="1592927"/>
                          <a:pt x="158032" y="1570718"/>
                          <a:pt x="0" y="1584176"/>
                        </a:cubicBezTo>
                        <a:cubicBezTo>
                          <a:pt x="-7535" y="1481038"/>
                          <a:pt x="-2782" y="1451635"/>
                          <a:pt x="0" y="1320147"/>
                        </a:cubicBezTo>
                        <a:cubicBezTo>
                          <a:pt x="-9870" y="1166737"/>
                          <a:pt x="-10736" y="1100837"/>
                          <a:pt x="0" y="924103"/>
                        </a:cubicBezTo>
                        <a:lnTo>
                          <a:pt x="0" y="924103"/>
                        </a:lnTo>
                        <a:cubicBezTo>
                          <a:pt x="9939" y="744070"/>
                          <a:pt x="20351" y="622421"/>
                          <a:pt x="0" y="489775"/>
                        </a:cubicBezTo>
                        <a:cubicBezTo>
                          <a:pt x="-20351" y="357129"/>
                          <a:pt x="-22302" y="13821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</a:rPr>
              <a:t>영국 자사 제품 구매율이 높다</a:t>
            </a:r>
            <a:r>
              <a:rPr lang="en-US" altLang="ko-KR" sz="2000" dirty="0">
                <a:solidFill>
                  <a:schemeClr val="accent5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F1B418-7366-0F6B-6640-97CB58FAE01A}"/>
              </a:ext>
            </a:extLst>
          </p:cNvPr>
          <p:cNvSpPr txBox="1"/>
          <p:nvPr/>
        </p:nvSpPr>
        <p:spPr>
          <a:xfrm>
            <a:off x="9888791" y="600252"/>
            <a:ext cx="93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출처</a:t>
            </a:r>
            <a:r>
              <a:rPr lang="en-US" altLang="ko-KR" dirty="0"/>
              <a:t>: KOTRA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822B7907-3D7C-A11D-B28E-DDF919CA3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002" y="1678014"/>
            <a:ext cx="3459995" cy="345999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0EFC8CC-EE03-48C9-F9BA-8893BB613B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214" t="14144" r="50000" b="641"/>
          <a:stretch/>
        </p:blipFill>
        <p:spPr>
          <a:xfrm>
            <a:off x="738035" y="2994698"/>
            <a:ext cx="1336389" cy="1468433"/>
          </a:xfrm>
          <a:prstGeom prst="rect">
            <a:avLst/>
          </a:prstGeom>
        </p:spPr>
      </p:pic>
      <p:sp>
        <p:nvSpPr>
          <p:cNvPr id="22" name="말풍선: 사각형 21">
            <a:extLst>
              <a:ext uri="{FF2B5EF4-FFF2-40B4-BE49-F238E27FC236}">
                <a16:creationId xmlns:a16="http://schemas.microsoft.com/office/drawing/2014/main" id="{5D044133-1731-C153-48ED-04268CA6BCE3}"/>
              </a:ext>
            </a:extLst>
          </p:cNvPr>
          <p:cNvSpPr/>
          <p:nvPr/>
        </p:nvSpPr>
        <p:spPr>
          <a:xfrm>
            <a:off x="8053490" y="2935745"/>
            <a:ext cx="3670602" cy="1584176"/>
          </a:xfrm>
          <a:prstGeom prst="wedgeRectCallout">
            <a:avLst>
              <a:gd name="adj1" fmla="val -60194"/>
              <a:gd name="adj2" fmla="val -5360"/>
            </a:avLst>
          </a:prstGeom>
          <a:noFill/>
          <a:ln w="38100">
            <a:prstDash val="dash"/>
            <a:extLst>
              <a:ext uri="{C807C97D-BFC1-408E-A445-0C87EB9F89A2}">
                <ask:lineSketchStyleProps xmlns:ask="http://schemas.microsoft.com/office/drawing/2018/sketchyshapes" sd="475377810">
                  <a:custGeom>
                    <a:avLst/>
                    <a:gdLst>
                      <a:gd name="connsiteX0" fmla="*/ 0 w 2467616"/>
                      <a:gd name="connsiteY0" fmla="*/ 0 h 1584176"/>
                      <a:gd name="connsiteX1" fmla="*/ 411269 w 2467616"/>
                      <a:gd name="connsiteY1" fmla="*/ 0 h 1584176"/>
                      <a:gd name="connsiteX2" fmla="*/ 411269 w 2467616"/>
                      <a:gd name="connsiteY2" fmla="*/ 0 h 1584176"/>
                      <a:gd name="connsiteX3" fmla="*/ 1028173 w 2467616"/>
                      <a:gd name="connsiteY3" fmla="*/ 0 h 1584176"/>
                      <a:gd name="connsiteX4" fmla="*/ 1507987 w 2467616"/>
                      <a:gd name="connsiteY4" fmla="*/ 0 h 1584176"/>
                      <a:gd name="connsiteX5" fmla="*/ 1987802 w 2467616"/>
                      <a:gd name="connsiteY5" fmla="*/ 0 h 1584176"/>
                      <a:gd name="connsiteX6" fmla="*/ 2467616 w 2467616"/>
                      <a:gd name="connsiteY6" fmla="*/ 0 h 1584176"/>
                      <a:gd name="connsiteX7" fmla="*/ 2467616 w 2467616"/>
                      <a:gd name="connsiteY7" fmla="*/ 434328 h 1584176"/>
                      <a:gd name="connsiteX8" fmla="*/ 2467616 w 2467616"/>
                      <a:gd name="connsiteY8" fmla="*/ 924103 h 1584176"/>
                      <a:gd name="connsiteX9" fmla="*/ 2467616 w 2467616"/>
                      <a:gd name="connsiteY9" fmla="*/ 924103 h 1584176"/>
                      <a:gd name="connsiteX10" fmla="*/ 2467616 w 2467616"/>
                      <a:gd name="connsiteY10" fmla="*/ 1320147 h 1584176"/>
                      <a:gd name="connsiteX11" fmla="*/ 2467616 w 2467616"/>
                      <a:gd name="connsiteY11" fmla="*/ 1584176 h 1584176"/>
                      <a:gd name="connsiteX12" fmla="*/ 2002196 w 2467616"/>
                      <a:gd name="connsiteY12" fmla="*/ 1584176 h 1584176"/>
                      <a:gd name="connsiteX13" fmla="*/ 1522382 w 2467616"/>
                      <a:gd name="connsiteY13" fmla="*/ 1584176 h 1584176"/>
                      <a:gd name="connsiteX14" fmla="*/ 1028173 w 2467616"/>
                      <a:gd name="connsiteY14" fmla="*/ 1584176 h 1584176"/>
                      <a:gd name="connsiteX15" fmla="*/ 1111587 w 2467616"/>
                      <a:gd name="connsiteY15" fmla="*/ 1790911 h 1584176"/>
                      <a:gd name="connsiteX16" fmla="*/ 782438 w 2467616"/>
                      <a:gd name="connsiteY16" fmla="*/ 1693746 h 1584176"/>
                      <a:gd name="connsiteX17" fmla="*/ 411269 w 2467616"/>
                      <a:gd name="connsiteY17" fmla="*/ 1584176 h 1584176"/>
                      <a:gd name="connsiteX18" fmla="*/ 0 w 2467616"/>
                      <a:gd name="connsiteY18" fmla="*/ 1584176 h 1584176"/>
                      <a:gd name="connsiteX19" fmla="*/ 0 w 2467616"/>
                      <a:gd name="connsiteY19" fmla="*/ 1320147 h 1584176"/>
                      <a:gd name="connsiteX20" fmla="*/ 0 w 2467616"/>
                      <a:gd name="connsiteY20" fmla="*/ 924103 h 1584176"/>
                      <a:gd name="connsiteX21" fmla="*/ 0 w 2467616"/>
                      <a:gd name="connsiteY21" fmla="*/ 924103 h 1584176"/>
                      <a:gd name="connsiteX22" fmla="*/ 0 w 2467616"/>
                      <a:gd name="connsiteY22" fmla="*/ 489775 h 1584176"/>
                      <a:gd name="connsiteX23" fmla="*/ 0 w 2467616"/>
                      <a:gd name="connsiteY23" fmla="*/ 0 h 15841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467616" h="1584176" extrusionOk="0">
                        <a:moveTo>
                          <a:pt x="0" y="0"/>
                        </a:moveTo>
                        <a:cubicBezTo>
                          <a:pt x="154852" y="19545"/>
                          <a:pt x="214577" y="-9620"/>
                          <a:pt x="411269" y="0"/>
                        </a:cubicBezTo>
                        <a:lnTo>
                          <a:pt x="411269" y="0"/>
                        </a:lnTo>
                        <a:cubicBezTo>
                          <a:pt x="586752" y="14791"/>
                          <a:pt x="792778" y="-14433"/>
                          <a:pt x="1028173" y="0"/>
                        </a:cubicBezTo>
                        <a:cubicBezTo>
                          <a:pt x="1169964" y="-10708"/>
                          <a:pt x="1277352" y="-9863"/>
                          <a:pt x="1507987" y="0"/>
                        </a:cubicBezTo>
                        <a:cubicBezTo>
                          <a:pt x="1738622" y="9863"/>
                          <a:pt x="1780953" y="-17619"/>
                          <a:pt x="1987802" y="0"/>
                        </a:cubicBezTo>
                        <a:cubicBezTo>
                          <a:pt x="2194652" y="17619"/>
                          <a:pt x="2230078" y="-16390"/>
                          <a:pt x="2467616" y="0"/>
                        </a:cubicBezTo>
                        <a:cubicBezTo>
                          <a:pt x="2471429" y="133897"/>
                          <a:pt x="2469631" y="327256"/>
                          <a:pt x="2467616" y="434328"/>
                        </a:cubicBezTo>
                        <a:cubicBezTo>
                          <a:pt x="2465601" y="541400"/>
                          <a:pt x="2457959" y="681679"/>
                          <a:pt x="2467616" y="924103"/>
                        </a:cubicBezTo>
                        <a:lnTo>
                          <a:pt x="2467616" y="924103"/>
                        </a:lnTo>
                        <a:cubicBezTo>
                          <a:pt x="2469549" y="1117437"/>
                          <a:pt x="2465598" y="1147585"/>
                          <a:pt x="2467616" y="1320147"/>
                        </a:cubicBezTo>
                        <a:cubicBezTo>
                          <a:pt x="2465351" y="1416361"/>
                          <a:pt x="2465788" y="1512477"/>
                          <a:pt x="2467616" y="1584176"/>
                        </a:cubicBezTo>
                        <a:cubicBezTo>
                          <a:pt x="2296132" y="1563936"/>
                          <a:pt x="2176445" y="1602910"/>
                          <a:pt x="2002196" y="1584176"/>
                        </a:cubicBezTo>
                        <a:cubicBezTo>
                          <a:pt x="1827947" y="1565442"/>
                          <a:pt x="1711821" y="1580346"/>
                          <a:pt x="1522382" y="1584176"/>
                        </a:cubicBezTo>
                        <a:cubicBezTo>
                          <a:pt x="1332943" y="1588006"/>
                          <a:pt x="1202405" y="1565445"/>
                          <a:pt x="1028173" y="1584176"/>
                        </a:cubicBezTo>
                        <a:cubicBezTo>
                          <a:pt x="1069504" y="1657417"/>
                          <a:pt x="1081888" y="1737530"/>
                          <a:pt x="1111587" y="1790911"/>
                        </a:cubicBezTo>
                        <a:cubicBezTo>
                          <a:pt x="1002409" y="1745186"/>
                          <a:pt x="856456" y="1724558"/>
                          <a:pt x="782438" y="1693746"/>
                        </a:cubicBezTo>
                        <a:cubicBezTo>
                          <a:pt x="708420" y="1662934"/>
                          <a:pt x="487369" y="1606062"/>
                          <a:pt x="411269" y="1584176"/>
                        </a:cubicBezTo>
                        <a:cubicBezTo>
                          <a:pt x="300274" y="1592927"/>
                          <a:pt x="158032" y="1570718"/>
                          <a:pt x="0" y="1584176"/>
                        </a:cubicBezTo>
                        <a:cubicBezTo>
                          <a:pt x="-7535" y="1481038"/>
                          <a:pt x="-2782" y="1451635"/>
                          <a:pt x="0" y="1320147"/>
                        </a:cubicBezTo>
                        <a:cubicBezTo>
                          <a:pt x="-9870" y="1166737"/>
                          <a:pt x="-10736" y="1100837"/>
                          <a:pt x="0" y="924103"/>
                        </a:cubicBezTo>
                        <a:lnTo>
                          <a:pt x="0" y="924103"/>
                        </a:lnTo>
                        <a:cubicBezTo>
                          <a:pt x="9939" y="744070"/>
                          <a:pt x="20351" y="622421"/>
                          <a:pt x="0" y="489775"/>
                        </a:cubicBezTo>
                        <a:cubicBezTo>
                          <a:pt x="-20351" y="357129"/>
                          <a:pt x="-22302" y="13821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</a:rPr>
              <a:t>영국 내 가격 경쟁률 치열</a:t>
            </a:r>
            <a:endParaRPr lang="en-US" altLang="ko-KR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47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2016224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수출국 선정 이유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0A0237E-15A8-7C31-6F01-BF2050A23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3" y="1290961"/>
            <a:ext cx="5976664" cy="26006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831D394-F785-0E38-B388-B8AF07118330}"/>
              </a:ext>
            </a:extLst>
          </p:cNvPr>
          <p:cNvSpPr txBox="1"/>
          <p:nvPr/>
        </p:nvSpPr>
        <p:spPr>
          <a:xfrm>
            <a:off x="7306913" y="2161106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중국 </a:t>
            </a:r>
            <a:r>
              <a:rPr lang="en-US" altLang="ko-KR" dirty="0"/>
              <a:t>GDP </a:t>
            </a:r>
            <a:r>
              <a:rPr lang="ko-KR" altLang="en-US" dirty="0"/>
              <a:t>상승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8F47308-F868-989F-8296-92AA28FA4D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692" t="15649" r="3796" b="3936"/>
          <a:stretch/>
        </p:blipFill>
        <p:spPr>
          <a:xfrm>
            <a:off x="1178025" y="4326001"/>
            <a:ext cx="5566047" cy="1573169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D04BDE4-E4B1-1AE5-AA24-C4DD478B5814}"/>
              </a:ext>
            </a:extLst>
          </p:cNvPr>
          <p:cNvSpPr/>
          <p:nvPr/>
        </p:nvSpPr>
        <p:spPr>
          <a:xfrm>
            <a:off x="2474169" y="4520754"/>
            <a:ext cx="864096" cy="1259542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3F7CA9-4A15-7EF2-9177-DB0179D751BA}"/>
              </a:ext>
            </a:extLst>
          </p:cNvPr>
          <p:cNvSpPr txBox="1"/>
          <p:nvPr/>
        </p:nvSpPr>
        <p:spPr>
          <a:xfrm>
            <a:off x="7428148" y="4965859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인 가구 꾸준히 증가</a:t>
            </a:r>
          </a:p>
        </p:txBody>
      </p:sp>
    </p:spTree>
    <p:extLst>
      <p:ext uri="{BB962C8B-B14F-4D97-AF65-F5344CB8AC3E}">
        <p14:creationId xmlns:p14="http://schemas.microsoft.com/office/powerpoint/2010/main" val="1787224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2016224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수출국 선정 이유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AD85115-D4F0-26C6-7BDB-B84C3A5C84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475" t="108"/>
          <a:stretch/>
        </p:blipFill>
        <p:spPr>
          <a:xfrm>
            <a:off x="869266" y="1287430"/>
            <a:ext cx="3888432" cy="403476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465BDD5-EB07-A62B-5262-E7EC12C99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504" y="901086"/>
            <a:ext cx="3277057" cy="226726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92B1023-4127-C0D4-0355-7647A67DBE3C}"/>
              </a:ext>
            </a:extLst>
          </p:cNvPr>
          <p:cNvSpPr txBox="1"/>
          <p:nvPr/>
        </p:nvSpPr>
        <p:spPr>
          <a:xfrm>
            <a:off x="5632920" y="3570014"/>
            <a:ext cx="201622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출처</a:t>
            </a:r>
            <a:r>
              <a:rPr lang="en-US" altLang="ko-KR" sz="1500" dirty="0"/>
              <a:t>: </a:t>
            </a:r>
            <a:r>
              <a:rPr lang="ko-KR" altLang="en-US" sz="1500" dirty="0"/>
              <a:t>한국무역협회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4081421-EACD-FD49-BEAF-C48210959A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896" y="4089343"/>
            <a:ext cx="5112527" cy="227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4561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2016224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수출국 선정 이유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2C81F00-BD32-E8D5-C6B7-B08BAC094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070" y="1556792"/>
            <a:ext cx="5506218" cy="3219899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D060B5E-C9BF-21EA-AC12-3B2F28978396}"/>
              </a:ext>
            </a:extLst>
          </p:cNvPr>
          <p:cNvCxnSpPr>
            <a:cxnSpLocks/>
          </p:cNvCxnSpPr>
          <p:nvPr/>
        </p:nvCxnSpPr>
        <p:spPr>
          <a:xfrm>
            <a:off x="5591944" y="4016690"/>
            <a:ext cx="0" cy="1090806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A31C3A8-A136-BB40-5FB0-3631ACDC0A9E}"/>
              </a:ext>
            </a:extLst>
          </p:cNvPr>
          <p:cNvSpPr txBox="1"/>
          <p:nvPr/>
        </p:nvSpPr>
        <p:spPr>
          <a:xfrm>
            <a:off x="3827748" y="5377038"/>
            <a:ext cx="35283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품목 수입금액</a:t>
            </a:r>
            <a:r>
              <a:rPr lang="en-US" altLang="ko-KR" dirty="0"/>
              <a:t>: $140,972</a:t>
            </a:r>
          </a:p>
          <a:p>
            <a:r>
              <a:rPr lang="ko-KR" altLang="en-US" dirty="0"/>
              <a:t>한국 수출금액</a:t>
            </a:r>
            <a:r>
              <a:rPr lang="en-US" altLang="ko-KR" dirty="0"/>
              <a:t>: $25,683</a:t>
            </a:r>
          </a:p>
          <a:p>
            <a:r>
              <a:rPr lang="ko-KR" altLang="en-US" dirty="0"/>
              <a:t>중국의 해당품목 수입국가 수 </a:t>
            </a:r>
            <a:r>
              <a:rPr lang="en-US" altLang="ko-KR" dirty="0"/>
              <a:t>12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CBEBBD6-1DEF-E749-32DD-9847CBF8A38D}"/>
              </a:ext>
            </a:extLst>
          </p:cNvPr>
          <p:cNvSpPr/>
          <p:nvPr/>
        </p:nvSpPr>
        <p:spPr>
          <a:xfrm>
            <a:off x="5303912" y="3284984"/>
            <a:ext cx="576064" cy="721010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2020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2016224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수출국 선정 이유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911F43C-2D37-7AC4-1193-0264A46A06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307" y="2032580"/>
            <a:ext cx="4123386" cy="3554919"/>
          </a:xfrm>
          <a:prstGeom prst="rect">
            <a:avLst/>
          </a:prstGeom>
        </p:spPr>
      </p:pic>
      <p:sp>
        <p:nvSpPr>
          <p:cNvPr id="10" name="말풍선: 사각형 9">
            <a:extLst>
              <a:ext uri="{FF2B5EF4-FFF2-40B4-BE49-F238E27FC236}">
                <a16:creationId xmlns:a16="http://schemas.microsoft.com/office/drawing/2014/main" id="{47681837-55C3-A58F-4025-1960026669EE}"/>
              </a:ext>
            </a:extLst>
          </p:cNvPr>
          <p:cNvSpPr/>
          <p:nvPr/>
        </p:nvSpPr>
        <p:spPr>
          <a:xfrm>
            <a:off x="1027711" y="1339898"/>
            <a:ext cx="3103372" cy="1584176"/>
          </a:xfrm>
          <a:prstGeom prst="wedgeRectCallout">
            <a:avLst>
              <a:gd name="adj1" fmla="val 41572"/>
              <a:gd name="adj2" fmla="val 76946"/>
            </a:avLst>
          </a:prstGeom>
          <a:noFill/>
          <a:ln w="38100">
            <a:prstDash val="dash"/>
            <a:extLst>
              <a:ext uri="{C807C97D-BFC1-408E-A445-0C87EB9F89A2}">
                <ask:lineSketchStyleProps xmlns:ask="http://schemas.microsoft.com/office/drawing/2018/sketchyshapes" sd="475377810">
                  <a:custGeom>
                    <a:avLst/>
                    <a:gdLst>
                      <a:gd name="connsiteX0" fmla="*/ 0 w 2467616"/>
                      <a:gd name="connsiteY0" fmla="*/ 0 h 1584176"/>
                      <a:gd name="connsiteX1" fmla="*/ 411269 w 2467616"/>
                      <a:gd name="connsiteY1" fmla="*/ 0 h 1584176"/>
                      <a:gd name="connsiteX2" fmla="*/ 411269 w 2467616"/>
                      <a:gd name="connsiteY2" fmla="*/ 0 h 1584176"/>
                      <a:gd name="connsiteX3" fmla="*/ 1028173 w 2467616"/>
                      <a:gd name="connsiteY3" fmla="*/ 0 h 1584176"/>
                      <a:gd name="connsiteX4" fmla="*/ 1507987 w 2467616"/>
                      <a:gd name="connsiteY4" fmla="*/ 0 h 1584176"/>
                      <a:gd name="connsiteX5" fmla="*/ 1987802 w 2467616"/>
                      <a:gd name="connsiteY5" fmla="*/ 0 h 1584176"/>
                      <a:gd name="connsiteX6" fmla="*/ 2467616 w 2467616"/>
                      <a:gd name="connsiteY6" fmla="*/ 0 h 1584176"/>
                      <a:gd name="connsiteX7" fmla="*/ 2467616 w 2467616"/>
                      <a:gd name="connsiteY7" fmla="*/ 434328 h 1584176"/>
                      <a:gd name="connsiteX8" fmla="*/ 2467616 w 2467616"/>
                      <a:gd name="connsiteY8" fmla="*/ 924103 h 1584176"/>
                      <a:gd name="connsiteX9" fmla="*/ 2467616 w 2467616"/>
                      <a:gd name="connsiteY9" fmla="*/ 924103 h 1584176"/>
                      <a:gd name="connsiteX10" fmla="*/ 2467616 w 2467616"/>
                      <a:gd name="connsiteY10" fmla="*/ 1320147 h 1584176"/>
                      <a:gd name="connsiteX11" fmla="*/ 2467616 w 2467616"/>
                      <a:gd name="connsiteY11" fmla="*/ 1584176 h 1584176"/>
                      <a:gd name="connsiteX12" fmla="*/ 2002196 w 2467616"/>
                      <a:gd name="connsiteY12" fmla="*/ 1584176 h 1584176"/>
                      <a:gd name="connsiteX13" fmla="*/ 1522382 w 2467616"/>
                      <a:gd name="connsiteY13" fmla="*/ 1584176 h 1584176"/>
                      <a:gd name="connsiteX14" fmla="*/ 1028173 w 2467616"/>
                      <a:gd name="connsiteY14" fmla="*/ 1584176 h 1584176"/>
                      <a:gd name="connsiteX15" fmla="*/ 1111587 w 2467616"/>
                      <a:gd name="connsiteY15" fmla="*/ 1790911 h 1584176"/>
                      <a:gd name="connsiteX16" fmla="*/ 782438 w 2467616"/>
                      <a:gd name="connsiteY16" fmla="*/ 1693746 h 1584176"/>
                      <a:gd name="connsiteX17" fmla="*/ 411269 w 2467616"/>
                      <a:gd name="connsiteY17" fmla="*/ 1584176 h 1584176"/>
                      <a:gd name="connsiteX18" fmla="*/ 0 w 2467616"/>
                      <a:gd name="connsiteY18" fmla="*/ 1584176 h 1584176"/>
                      <a:gd name="connsiteX19" fmla="*/ 0 w 2467616"/>
                      <a:gd name="connsiteY19" fmla="*/ 1320147 h 1584176"/>
                      <a:gd name="connsiteX20" fmla="*/ 0 w 2467616"/>
                      <a:gd name="connsiteY20" fmla="*/ 924103 h 1584176"/>
                      <a:gd name="connsiteX21" fmla="*/ 0 w 2467616"/>
                      <a:gd name="connsiteY21" fmla="*/ 924103 h 1584176"/>
                      <a:gd name="connsiteX22" fmla="*/ 0 w 2467616"/>
                      <a:gd name="connsiteY22" fmla="*/ 489775 h 1584176"/>
                      <a:gd name="connsiteX23" fmla="*/ 0 w 2467616"/>
                      <a:gd name="connsiteY23" fmla="*/ 0 h 15841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467616" h="1584176" extrusionOk="0">
                        <a:moveTo>
                          <a:pt x="0" y="0"/>
                        </a:moveTo>
                        <a:cubicBezTo>
                          <a:pt x="154852" y="19545"/>
                          <a:pt x="214577" y="-9620"/>
                          <a:pt x="411269" y="0"/>
                        </a:cubicBezTo>
                        <a:lnTo>
                          <a:pt x="411269" y="0"/>
                        </a:lnTo>
                        <a:cubicBezTo>
                          <a:pt x="586752" y="14791"/>
                          <a:pt x="792778" y="-14433"/>
                          <a:pt x="1028173" y="0"/>
                        </a:cubicBezTo>
                        <a:cubicBezTo>
                          <a:pt x="1169964" y="-10708"/>
                          <a:pt x="1277352" y="-9863"/>
                          <a:pt x="1507987" y="0"/>
                        </a:cubicBezTo>
                        <a:cubicBezTo>
                          <a:pt x="1738622" y="9863"/>
                          <a:pt x="1780953" y="-17619"/>
                          <a:pt x="1987802" y="0"/>
                        </a:cubicBezTo>
                        <a:cubicBezTo>
                          <a:pt x="2194652" y="17619"/>
                          <a:pt x="2230078" y="-16390"/>
                          <a:pt x="2467616" y="0"/>
                        </a:cubicBezTo>
                        <a:cubicBezTo>
                          <a:pt x="2471429" y="133897"/>
                          <a:pt x="2469631" y="327256"/>
                          <a:pt x="2467616" y="434328"/>
                        </a:cubicBezTo>
                        <a:cubicBezTo>
                          <a:pt x="2465601" y="541400"/>
                          <a:pt x="2457959" y="681679"/>
                          <a:pt x="2467616" y="924103"/>
                        </a:cubicBezTo>
                        <a:lnTo>
                          <a:pt x="2467616" y="924103"/>
                        </a:lnTo>
                        <a:cubicBezTo>
                          <a:pt x="2469549" y="1117437"/>
                          <a:pt x="2465598" y="1147585"/>
                          <a:pt x="2467616" y="1320147"/>
                        </a:cubicBezTo>
                        <a:cubicBezTo>
                          <a:pt x="2465351" y="1416361"/>
                          <a:pt x="2465788" y="1512477"/>
                          <a:pt x="2467616" y="1584176"/>
                        </a:cubicBezTo>
                        <a:cubicBezTo>
                          <a:pt x="2296132" y="1563936"/>
                          <a:pt x="2176445" y="1602910"/>
                          <a:pt x="2002196" y="1584176"/>
                        </a:cubicBezTo>
                        <a:cubicBezTo>
                          <a:pt x="1827947" y="1565442"/>
                          <a:pt x="1711821" y="1580346"/>
                          <a:pt x="1522382" y="1584176"/>
                        </a:cubicBezTo>
                        <a:cubicBezTo>
                          <a:pt x="1332943" y="1588006"/>
                          <a:pt x="1202405" y="1565445"/>
                          <a:pt x="1028173" y="1584176"/>
                        </a:cubicBezTo>
                        <a:cubicBezTo>
                          <a:pt x="1069504" y="1657417"/>
                          <a:pt x="1081888" y="1737530"/>
                          <a:pt x="1111587" y="1790911"/>
                        </a:cubicBezTo>
                        <a:cubicBezTo>
                          <a:pt x="1002409" y="1745186"/>
                          <a:pt x="856456" y="1724558"/>
                          <a:pt x="782438" y="1693746"/>
                        </a:cubicBezTo>
                        <a:cubicBezTo>
                          <a:pt x="708420" y="1662934"/>
                          <a:pt x="487369" y="1606062"/>
                          <a:pt x="411269" y="1584176"/>
                        </a:cubicBezTo>
                        <a:cubicBezTo>
                          <a:pt x="300274" y="1592927"/>
                          <a:pt x="158032" y="1570718"/>
                          <a:pt x="0" y="1584176"/>
                        </a:cubicBezTo>
                        <a:cubicBezTo>
                          <a:pt x="-7535" y="1481038"/>
                          <a:pt x="-2782" y="1451635"/>
                          <a:pt x="0" y="1320147"/>
                        </a:cubicBezTo>
                        <a:cubicBezTo>
                          <a:pt x="-9870" y="1166737"/>
                          <a:pt x="-10736" y="1100837"/>
                          <a:pt x="0" y="924103"/>
                        </a:cubicBezTo>
                        <a:lnTo>
                          <a:pt x="0" y="924103"/>
                        </a:lnTo>
                        <a:cubicBezTo>
                          <a:pt x="9939" y="744070"/>
                          <a:pt x="20351" y="622421"/>
                          <a:pt x="0" y="489775"/>
                        </a:cubicBezTo>
                        <a:cubicBezTo>
                          <a:pt x="-20351" y="357129"/>
                          <a:pt x="-22302" y="13821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</a:rPr>
              <a:t>중국 의료건조기 시장은 발전 초기 단계</a:t>
            </a:r>
          </a:p>
        </p:txBody>
      </p:sp>
      <p:sp>
        <p:nvSpPr>
          <p:cNvPr id="11" name="말풍선: 사각형 10">
            <a:extLst>
              <a:ext uri="{FF2B5EF4-FFF2-40B4-BE49-F238E27FC236}">
                <a16:creationId xmlns:a16="http://schemas.microsoft.com/office/drawing/2014/main" id="{00AEC4F4-EA2E-1CEB-077A-1340015E0E11}"/>
              </a:ext>
            </a:extLst>
          </p:cNvPr>
          <p:cNvSpPr/>
          <p:nvPr/>
        </p:nvSpPr>
        <p:spPr>
          <a:xfrm>
            <a:off x="8405655" y="1339898"/>
            <a:ext cx="2838917" cy="1584176"/>
          </a:xfrm>
          <a:prstGeom prst="wedgeRectCallout">
            <a:avLst>
              <a:gd name="adj1" fmla="val -56846"/>
              <a:gd name="adj2" fmla="val 73739"/>
            </a:avLst>
          </a:prstGeom>
          <a:noFill/>
          <a:ln w="38100">
            <a:prstDash val="dash"/>
            <a:extLst>
              <a:ext uri="{C807C97D-BFC1-408E-A445-0C87EB9F89A2}">
                <ask:lineSketchStyleProps xmlns:ask="http://schemas.microsoft.com/office/drawing/2018/sketchyshapes" sd="475377810">
                  <a:custGeom>
                    <a:avLst/>
                    <a:gdLst>
                      <a:gd name="connsiteX0" fmla="*/ 0 w 2467616"/>
                      <a:gd name="connsiteY0" fmla="*/ 0 h 1584176"/>
                      <a:gd name="connsiteX1" fmla="*/ 411269 w 2467616"/>
                      <a:gd name="connsiteY1" fmla="*/ 0 h 1584176"/>
                      <a:gd name="connsiteX2" fmla="*/ 411269 w 2467616"/>
                      <a:gd name="connsiteY2" fmla="*/ 0 h 1584176"/>
                      <a:gd name="connsiteX3" fmla="*/ 1028173 w 2467616"/>
                      <a:gd name="connsiteY3" fmla="*/ 0 h 1584176"/>
                      <a:gd name="connsiteX4" fmla="*/ 1507987 w 2467616"/>
                      <a:gd name="connsiteY4" fmla="*/ 0 h 1584176"/>
                      <a:gd name="connsiteX5" fmla="*/ 1987802 w 2467616"/>
                      <a:gd name="connsiteY5" fmla="*/ 0 h 1584176"/>
                      <a:gd name="connsiteX6" fmla="*/ 2467616 w 2467616"/>
                      <a:gd name="connsiteY6" fmla="*/ 0 h 1584176"/>
                      <a:gd name="connsiteX7" fmla="*/ 2467616 w 2467616"/>
                      <a:gd name="connsiteY7" fmla="*/ 434328 h 1584176"/>
                      <a:gd name="connsiteX8" fmla="*/ 2467616 w 2467616"/>
                      <a:gd name="connsiteY8" fmla="*/ 924103 h 1584176"/>
                      <a:gd name="connsiteX9" fmla="*/ 2467616 w 2467616"/>
                      <a:gd name="connsiteY9" fmla="*/ 924103 h 1584176"/>
                      <a:gd name="connsiteX10" fmla="*/ 2467616 w 2467616"/>
                      <a:gd name="connsiteY10" fmla="*/ 1320147 h 1584176"/>
                      <a:gd name="connsiteX11" fmla="*/ 2467616 w 2467616"/>
                      <a:gd name="connsiteY11" fmla="*/ 1584176 h 1584176"/>
                      <a:gd name="connsiteX12" fmla="*/ 2002196 w 2467616"/>
                      <a:gd name="connsiteY12" fmla="*/ 1584176 h 1584176"/>
                      <a:gd name="connsiteX13" fmla="*/ 1522382 w 2467616"/>
                      <a:gd name="connsiteY13" fmla="*/ 1584176 h 1584176"/>
                      <a:gd name="connsiteX14" fmla="*/ 1028173 w 2467616"/>
                      <a:gd name="connsiteY14" fmla="*/ 1584176 h 1584176"/>
                      <a:gd name="connsiteX15" fmla="*/ 1111587 w 2467616"/>
                      <a:gd name="connsiteY15" fmla="*/ 1790911 h 1584176"/>
                      <a:gd name="connsiteX16" fmla="*/ 782438 w 2467616"/>
                      <a:gd name="connsiteY16" fmla="*/ 1693746 h 1584176"/>
                      <a:gd name="connsiteX17" fmla="*/ 411269 w 2467616"/>
                      <a:gd name="connsiteY17" fmla="*/ 1584176 h 1584176"/>
                      <a:gd name="connsiteX18" fmla="*/ 0 w 2467616"/>
                      <a:gd name="connsiteY18" fmla="*/ 1584176 h 1584176"/>
                      <a:gd name="connsiteX19" fmla="*/ 0 w 2467616"/>
                      <a:gd name="connsiteY19" fmla="*/ 1320147 h 1584176"/>
                      <a:gd name="connsiteX20" fmla="*/ 0 w 2467616"/>
                      <a:gd name="connsiteY20" fmla="*/ 924103 h 1584176"/>
                      <a:gd name="connsiteX21" fmla="*/ 0 w 2467616"/>
                      <a:gd name="connsiteY21" fmla="*/ 924103 h 1584176"/>
                      <a:gd name="connsiteX22" fmla="*/ 0 w 2467616"/>
                      <a:gd name="connsiteY22" fmla="*/ 489775 h 1584176"/>
                      <a:gd name="connsiteX23" fmla="*/ 0 w 2467616"/>
                      <a:gd name="connsiteY23" fmla="*/ 0 h 15841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467616" h="1584176" extrusionOk="0">
                        <a:moveTo>
                          <a:pt x="0" y="0"/>
                        </a:moveTo>
                        <a:cubicBezTo>
                          <a:pt x="154852" y="19545"/>
                          <a:pt x="214577" y="-9620"/>
                          <a:pt x="411269" y="0"/>
                        </a:cubicBezTo>
                        <a:lnTo>
                          <a:pt x="411269" y="0"/>
                        </a:lnTo>
                        <a:cubicBezTo>
                          <a:pt x="586752" y="14791"/>
                          <a:pt x="792778" y="-14433"/>
                          <a:pt x="1028173" y="0"/>
                        </a:cubicBezTo>
                        <a:cubicBezTo>
                          <a:pt x="1169964" y="-10708"/>
                          <a:pt x="1277352" y="-9863"/>
                          <a:pt x="1507987" y="0"/>
                        </a:cubicBezTo>
                        <a:cubicBezTo>
                          <a:pt x="1738622" y="9863"/>
                          <a:pt x="1780953" y="-17619"/>
                          <a:pt x="1987802" y="0"/>
                        </a:cubicBezTo>
                        <a:cubicBezTo>
                          <a:pt x="2194652" y="17619"/>
                          <a:pt x="2230078" y="-16390"/>
                          <a:pt x="2467616" y="0"/>
                        </a:cubicBezTo>
                        <a:cubicBezTo>
                          <a:pt x="2471429" y="133897"/>
                          <a:pt x="2469631" y="327256"/>
                          <a:pt x="2467616" y="434328"/>
                        </a:cubicBezTo>
                        <a:cubicBezTo>
                          <a:pt x="2465601" y="541400"/>
                          <a:pt x="2457959" y="681679"/>
                          <a:pt x="2467616" y="924103"/>
                        </a:cubicBezTo>
                        <a:lnTo>
                          <a:pt x="2467616" y="924103"/>
                        </a:lnTo>
                        <a:cubicBezTo>
                          <a:pt x="2469549" y="1117437"/>
                          <a:pt x="2465598" y="1147585"/>
                          <a:pt x="2467616" y="1320147"/>
                        </a:cubicBezTo>
                        <a:cubicBezTo>
                          <a:pt x="2465351" y="1416361"/>
                          <a:pt x="2465788" y="1512477"/>
                          <a:pt x="2467616" y="1584176"/>
                        </a:cubicBezTo>
                        <a:cubicBezTo>
                          <a:pt x="2296132" y="1563936"/>
                          <a:pt x="2176445" y="1602910"/>
                          <a:pt x="2002196" y="1584176"/>
                        </a:cubicBezTo>
                        <a:cubicBezTo>
                          <a:pt x="1827947" y="1565442"/>
                          <a:pt x="1711821" y="1580346"/>
                          <a:pt x="1522382" y="1584176"/>
                        </a:cubicBezTo>
                        <a:cubicBezTo>
                          <a:pt x="1332943" y="1588006"/>
                          <a:pt x="1202405" y="1565445"/>
                          <a:pt x="1028173" y="1584176"/>
                        </a:cubicBezTo>
                        <a:cubicBezTo>
                          <a:pt x="1069504" y="1657417"/>
                          <a:pt x="1081888" y="1737530"/>
                          <a:pt x="1111587" y="1790911"/>
                        </a:cubicBezTo>
                        <a:cubicBezTo>
                          <a:pt x="1002409" y="1745186"/>
                          <a:pt x="856456" y="1724558"/>
                          <a:pt x="782438" y="1693746"/>
                        </a:cubicBezTo>
                        <a:cubicBezTo>
                          <a:pt x="708420" y="1662934"/>
                          <a:pt x="487369" y="1606062"/>
                          <a:pt x="411269" y="1584176"/>
                        </a:cubicBezTo>
                        <a:cubicBezTo>
                          <a:pt x="300274" y="1592927"/>
                          <a:pt x="158032" y="1570718"/>
                          <a:pt x="0" y="1584176"/>
                        </a:cubicBezTo>
                        <a:cubicBezTo>
                          <a:pt x="-7535" y="1481038"/>
                          <a:pt x="-2782" y="1451635"/>
                          <a:pt x="0" y="1320147"/>
                        </a:cubicBezTo>
                        <a:cubicBezTo>
                          <a:pt x="-9870" y="1166737"/>
                          <a:pt x="-10736" y="1100837"/>
                          <a:pt x="0" y="924103"/>
                        </a:cubicBezTo>
                        <a:lnTo>
                          <a:pt x="0" y="924103"/>
                        </a:lnTo>
                        <a:cubicBezTo>
                          <a:pt x="9939" y="744070"/>
                          <a:pt x="20351" y="622421"/>
                          <a:pt x="0" y="489775"/>
                        </a:cubicBezTo>
                        <a:cubicBezTo>
                          <a:pt x="-20351" y="357129"/>
                          <a:pt x="-22302" y="13821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</a:rPr>
              <a:t>시장보급율은 </a:t>
            </a:r>
            <a:r>
              <a:rPr lang="en-US" altLang="ko-KR" sz="2000" dirty="0">
                <a:solidFill>
                  <a:schemeClr val="accent5">
                    <a:lumMod val="50000"/>
                  </a:schemeClr>
                </a:solidFill>
              </a:rPr>
              <a:t>6%</a:t>
            </a:r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</a:rPr>
              <a:t>불가</a:t>
            </a:r>
            <a:endParaRPr lang="en-US" altLang="ko-KR" sz="20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r>
              <a:rPr lang="ko-KR" altLang="en-US" sz="2500" b="1" dirty="0">
                <a:solidFill>
                  <a:srgbClr val="FF0000"/>
                </a:solidFill>
              </a:rPr>
              <a:t>그러나</a:t>
            </a:r>
            <a:r>
              <a:rPr lang="en-US" altLang="ko-KR" sz="2500" b="1" dirty="0">
                <a:solidFill>
                  <a:srgbClr val="FF0000"/>
                </a:solidFill>
              </a:rPr>
              <a:t>!! </a:t>
            </a:r>
          </a:p>
          <a:p>
            <a:pPr algn="ctr"/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미국</a:t>
            </a:r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90%,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유럽 </a:t>
            </a:r>
            <a:r>
              <a:rPr lang="en-US" altLang="ko-KR" dirty="0">
                <a:solidFill>
                  <a:schemeClr val="accent5">
                    <a:lumMod val="50000"/>
                  </a:schemeClr>
                </a:solidFill>
              </a:rPr>
              <a:t>60%</a:t>
            </a:r>
            <a:r>
              <a:rPr lang="ko-KR" altLang="en-US" dirty="0">
                <a:solidFill>
                  <a:schemeClr val="accent5">
                    <a:lumMod val="50000"/>
                  </a:schemeClr>
                </a:solidFill>
              </a:rPr>
              <a:t>비해 성장 가능성이 매우 큼</a:t>
            </a:r>
            <a:endParaRPr lang="ko-KR" altLang="en-US" sz="2500" b="1" dirty="0">
              <a:solidFill>
                <a:srgbClr val="FF0000"/>
              </a:solidFill>
            </a:endParaRPr>
          </a:p>
        </p:txBody>
      </p:sp>
      <p:sp>
        <p:nvSpPr>
          <p:cNvPr id="12" name="말풍선: 사각형 11">
            <a:extLst>
              <a:ext uri="{FF2B5EF4-FFF2-40B4-BE49-F238E27FC236}">
                <a16:creationId xmlns:a16="http://schemas.microsoft.com/office/drawing/2014/main" id="{35402DAD-716F-8C11-8079-AC2420497A79}"/>
              </a:ext>
            </a:extLst>
          </p:cNvPr>
          <p:cNvSpPr/>
          <p:nvPr/>
        </p:nvSpPr>
        <p:spPr>
          <a:xfrm>
            <a:off x="1027710" y="4679590"/>
            <a:ext cx="2838917" cy="1584176"/>
          </a:xfrm>
          <a:prstGeom prst="wedgeRectCallout">
            <a:avLst>
              <a:gd name="adj1" fmla="val 74974"/>
              <a:gd name="adj2" fmla="val -58805"/>
            </a:avLst>
          </a:prstGeom>
          <a:noFill/>
          <a:ln w="38100">
            <a:prstDash val="dash"/>
            <a:extLst>
              <a:ext uri="{C807C97D-BFC1-408E-A445-0C87EB9F89A2}">
                <ask:lineSketchStyleProps xmlns:ask="http://schemas.microsoft.com/office/drawing/2018/sketchyshapes" sd="475377810">
                  <a:custGeom>
                    <a:avLst/>
                    <a:gdLst>
                      <a:gd name="connsiteX0" fmla="*/ 0 w 2467616"/>
                      <a:gd name="connsiteY0" fmla="*/ 0 h 1584176"/>
                      <a:gd name="connsiteX1" fmla="*/ 411269 w 2467616"/>
                      <a:gd name="connsiteY1" fmla="*/ 0 h 1584176"/>
                      <a:gd name="connsiteX2" fmla="*/ 411269 w 2467616"/>
                      <a:gd name="connsiteY2" fmla="*/ 0 h 1584176"/>
                      <a:gd name="connsiteX3" fmla="*/ 1028173 w 2467616"/>
                      <a:gd name="connsiteY3" fmla="*/ 0 h 1584176"/>
                      <a:gd name="connsiteX4" fmla="*/ 1507987 w 2467616"/>
                      <a:gd name="connsiteY4" fmla="*/ 0 h 1584176"/>
                      <a:gd name="connsiteX5" fmla="*/ 1987802 w 2467616"/>
                      <a:gd name="connsiteY5" fmla="*/ 0 h 1584176"/>
                      <a:gd name="connsiteX6" fmla="*/ 2467616 w 2467616"/>
                      <a:gd name="connsiteY6" fmla="*/ 0 h 1584176"/>
                      <a:gd name="connsiteX7" fmla="*/ 2467616 w 2467616"/>
                      <a:gd name="connsiteY7" fmla="*/ 434328 h 1584176"/>
                      <a:gd name="connsiteX8" fmla="*/ 2467616 w 2467616"/>
                      <a:gd name="connsiteY8" fmla="*/ 924103 h 1584176"/>
                      <a:gd name="connsiteX9" fmla="*/ 2467616 w 2467616"/>
                      <a:gd name="connsiteY9" fmla="*/ 924103 h 1584176"/>
                      <a:gd name="connsiteX10" fmla="*/ 2467616 w 2467616"/>
                      <a:gd name="connsiteY10" fmla="*/ 1320147 h 1584176"/>
                      <a:gd name="connsiteX11" fmla="*/ 2467616 w 2467616"/>
                      <a:gd name="connsiteY11" fmla="*/ 1584176 h 1584176"/>
                      <a:gd name="connsiteX12" fmla="*/ 2002196 w 2467616"/>
                      <a:gd name="connsiteY12" fmla="*/ 1584176 h 1584176"/>
                      <a:gd name="connsiteX13" fmla="*/ 1522382 w 2467616"/>
                      <a:gd name="connsiteY13" fmla="*/ 1584176 h 1584176"/>
                      <a:gd name="connsiteX14" fmla="*/ 1028173 w 2467616"/>
                      <a:gd name="connsiteY14" fmla="*/ 1584176 h 1584176"/>
                      <a:gd name="connsiteX15" fmla="*/ 1111587 w 2467616"/>
                      <a:gd name="connsiteY15" fmla="*/ 1790911 h 1584176"/>
                      <a:gd name="connsiteX16" fmla="*/ 782438 w 2467616"/>
                      <a:gd name="connsiteY16" fmla="*/ 1693746 h 1584176"/>
                      <a:gd name="connsiteX17" fmla="*/ 411269 w 2467616"/>
                      <a:gd name="connsiteY17" fmla="*/ 1584176 h 1584176"/>
                      <a:gd name="connsiteX18" fmla="*/ 0 w 2467616"/>
                      <a:gd name="connsiteY18" fmla="*/ 1584176 h 1584176"/>
                      <a:gd name="connsiteX19" fmla="*/ 0 w 2467616"/>
                      <a:gd name="connsiteY19" fmla="*/ 1320147 h 1584176"/>
                      <a:gd name="connsiteX20" fmla="*/ 0 w 2467616"/>
                      <a:gd name="connsiteY20" fmla="*/ 924103 h 1584176"/>
                      <a:gd name="connsiteX21" fmla="*/ 0 w 2467616"/>
                      <a:gd name="connsiteY21" fmla="*/ 924103 h 1584176"/>
                      <a:gd name="connsiteX22" fmla="*/ 0 w 2467616"/>
                      <a:gd name="connsiteY22" fmla="*/ 489775 h 1584176"/>
                      <a:gd name="connsiteX23" fmla="*/ 0 w 2467616"/>
                      <a:gd name="connsiteY23" fmla="*/ 0 h 15841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467616" h="1584176" extrusionOk="0">
                        <a:moveTo>
                          <a:pt x="0" y="0"/>
                        </a:moveTo>
                        <a:cubicBezTo>
                          <a:pt x="154852" y="19545"/>
                          <a:pt x="214577" y="-9620"/>
                          <a:pt x="411269" y="0"/>
                        </a:cubicBezTo>
                        <a:lnTo>
                          <a:pt x="411269" y="0"/>
                        </a:lnTo>
                        <a:cubicBezTo>
                          <a:pt x="586752" y="14791"/>
                          <a:pt x="792778" y="-14433"/>
                          <a:pt x="1028173" y="0"/>
                        </a:cubicBezTo>
                        <a:cubicBezTo>
                          <a:pt x="1169964" y="-10708"/>
                          <a:pt x="1277352" y="-9863"/>
                          <a:pt x="1507987" y="0"/>
                        </a:cubicBezTo>
                        <a:cubicBezTo>
                          <a:pt x="1738622" y="9863"/>
                          <a:pt x="1780953" y="-17619"/>
                          <a:pt x="1987802" y="0"/>
                        </a:cubicBezTo>
                        <a:cubicBezTo>
                          <a:pt x="2194652" y="17619"/>
                          <a:pt x="2230078" y="-16390"/>
                          <a:pt x="2467616" y="0"/>
                        </a:cubicBezTo>
                        <a:cubicBezTo>
                          <a:pt x="2471429" y="133897"/>
                          <a:pt x="2469631" y="327256"/>
                          <a:pt x="2467616" y="434328"/>
                        </a:cubicBezTo>
                        <a:cubicBezTo>
                          <a:pt x="2465601" y="541400"/>
                          <a:pt x="2457959" y="681679"/>
                          <a:pt x="2467616" y="924103"/>
                        </a:cubicBezTo>
                        <a:lnTo>
                          <a:pt x="2467616" y="924103"/>
                        </a:lnTo>
                        <a:cubicBezTo>
                          <a:pt x="2469549" y="1117437"/>
                          <a:pt x="2465598" y="1147585"/>
                          <a:pt x="2467616" y="1320147"/>
                        </a:cubicBezTo>
                        <a:cubicBezTo>
                          <a:pt x="2465351" y="1416361"/>
                          <a:pt x="2465788" y="1512477"/>
                          <a:pt x="2467616" y="1584176"/>
                        </a:cubicBezTo>
                        <a:cubicBezTo>
                          <a:pt x="2296132" y="1563936"/>
                          <a:pt x="2176445" y="1602910"/>
                          <a:pt x="2002196" y="1584176"/>
                        </a:cubicBezTo>
                        <a:cubicBezTo>
                          <a:pt x="1827947" y="1565442"/>
                          <a:pt x="1711821" y="1580346"/>
                          <a:pt x="1522382" y="1584176"/>
                        </a:cubicBezTo>
                        <a:cubicBezTo>
                          <a:pt x="1332943" y="1588006"/>
                          <a:pt x="1202405" y="1565445"/>
                          <a:pt x="1028173" y="1584176"/>
                        </a:cubicBezTo>
                        <a:cubicBezTo>
                          <a:pt x="1069504" y="1657417"/>
                          <a:pt x="1081888" y="1737530"/>
                          <a:pt x="1111587" y="1790911"/>
                        </a:cubicBezTo>
                        <a:cubicBezTo>
                          <a:pt x="1002409" y="1745186"/>
                          <a:pt x="856456" y="1724558"/>
                          <a:pt x="782438" y="1693746"/>
                        </a:cubicBezTo>
                        <a:cubicBezTo>
                          <a:pt x="708420" y="1662934"/>
                          <a:pt x="487369" y="1606062"/>
                          <a:pt x="411269" y="1584176"/>
                        </a:cubicBezTo>
                        <a:cubicBezTo>
                          <a:pt x="300274" y="1592927"/>
                          <a:pt x="158032" y="1570718"/>
                          <a:pt x="0" y="1584176"/>
                        </a:cubicBezTo>
                        <a:cubicBezTo>
                          <a:pt x="-7535" y="1481038"/>
                          <a:pt x="-2782" y="1451635"/>
                          <a:pt x="0" y="1320147"/>
                        </a:cubicBezTo>
                        <a:cubicBezTo>
                          <a:pt x="-9870" y="1166737"/>
                          <a:pt x="-10736" y="1100837"/>
                          <a:pt x="0" y="924103"/>
                        </a:cubicBezTo>
                        <a:lnTo>
                          <a:pt x="0" y="924103"/>
                        </a:lnTo>
                        <a:cubicBezTo>
                          <a:pt x="9939" y="744070"/>
                          <a:pt x="20351" y="622421"/>
                          <a:pt x="0" y="489775"/>
                        </a:cubicBezTo>
                        <a:cubicBezTo>
                          <a:pt x="-20351" y="357129"/>
                          <a:pt x="-22302" y="13821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accent5">
                    <a:lumMod val="50000"/>
                  </a:schemeClr>
                </a:solidFill>
              </a:rPr>
              <a:t>2020</a:t>
            </a:r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</a:rPr>
              <a:t>년 코로나</a:t>
            </a:r>
            <a:r>
              <a:rPr lang="en-US" altLang="ko-KR" sz="2000" dirty="0">
                <a:solidFill>
                  <a:schemeClr val="accent5">
                    <a:lumMod val="50000"/>
                  </a:schemeClr>
                </a:solidFill>
              </a:rPr>
              <a:t>19 </a:t>
            </a:r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</a:rPr>
              <a:t>사태로 건강의 중요성 부각</a:t>
            </a:r>
            <a:endParaRPr lang="en-US" altLang="ko-KR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말풍선: 사각형 12">
            <a:extLst>
              <a:ext uri="{FF2B5EF4-FFF2-40B4-BE49-F238E27FC236}">
                <a16:creationId xmlns:a16="http://schemas.microsoft.com/office/drawing/2014/main" id="{1EFCFC98-B2CB-B196-B94A-D5E0F7012B28}"/>
              </a:ext>
            </a:extLst>
          </p:cNvPr>
          <p:cNvSpPr/>
          <p:nvPr/>
        </p:nvSpPr>
        <p:spPr>
          <a:xfrm>
            <a:off x="8340653" y="4679590"/>
            <a:ext cx="3299963" cy="1584176"/>
          </a:xfrm>
          <a:prstGeom prst="wedgeRectCallout">
            <a:avLst>
              <a:gd name="adj1" fmla="val -70565"/>
              <a:gd name="adj2" fmla="val -49185"/>
            </a:avLst>
          </a:prstGeom>
          <a:noFill/>
          <a:ln w="38100">
            <a:prstDash val="dash"/>
            <a:extLst>
              <a:ext uri="{C807C97D-BFC1-408E-A445-0C87EB9F89A2}">
                <ask:lineSketchStyleProps xmlns:ask="http://schemas.microsoft.com/office/drawing/2018/sketchyshapes" sd="475377810">
                  <a:custGeom>
                    <a:avLst/>
                    <a:gdLst>
                      <a:gd name="connsiteX0" fmla="*/ 0 w 2467616"/>
                      <a:gd name="connsiteY0" fmla="*/ 0 h 1584176"/>
                      <a:gd name="connsiteX1" fmla="*/ 411269 w 2467616"/>
                      <a:gd name="connsiteY1" fmla="*/ 0 h 1584176"/>
                      <a:gd name="connsiteX2" fmla="*/ 411269 w 2467616"/>
                      <a:gd name="connsiteY2" fmla="*/ 0 h 1584176"/>
                      <a:gd name="connsiteX3" fmla="*/ 1028173 w 2467616"/>
                      <a:gd name="connsiteY3" fmla="*/ 0 h 1584176"/>
                      <a:gd name="connsiteX4" fmla="*/ 1507987 w 2467616"/>
                      <a:gd name="connsiteY4" fmla="*/ 0 h 1584176"/>
                      <a:gd name="connsiteX5" fmla="*/ 1987802 w 2467616"/>
                      <a:gd name="connsiteY5" fmla="*/ 0 h 1584176"/>
                      <a:gd name="connsiteX6" fmla="*/ 2467616 w 2467616"/>
                      <a:gd name="connsiteY6" fmla="*/ 0 h 1584176"/>
                      <a:gd name="connsiteX7" fmla="*/ 2467616 w 2467616"/>
                      <a:gd name="connsiteY7" fmla="*/ 434328 h 1584176"/>
                      <a:gd name="connsiteX8" fmla="*/ 2467616 w 2467616"/>
                      <a:gd name="connsiteY8" fmla="*/ 924103 h 1584176"/>
                      <a:gd name="connsiteX9" fmla="*/ 2467616 w 2467616"/>
                      <a:gd name="connsiteY9" fmla="*/ 924103 h 1584176"/>
                      <a:gd name="connsiteX10" fmla="*/ 2467616 w 2467616"/>
                      <a:gd name="connsiteY10" fmla="*/ 1320147 h 1584176"/>
                      <a:gd name="connsiteX11" fmla="*/ 2467616 w 2467616"/>
                      <a:gd name="connsiteY11" fmla="*/ 1584176 h 1584176"/>
                      <a:gd name="connsiteX12" fmla="*/ 2002196 w 2467616"/>
                      <a:gd name="connsiteY12" fmla="*/ 1584176 h 1584176"/>
                      <a:gd name="connsiteX13" fmla="*/ 1522382 w 2467616"/>
                      <a:gd name="connsiteY13" fmla="*/ 1584176 h 1584176"/>
                      <a:gd name="connsiteX14" fmla="*/ 1028173 w 2467616"/>
                      <a:gd name="connsiteY14" fmla="*/ 1584176 h 1584176"/>
                      <a:gd name="connsiteX15" fmla="*/ 1111587 w 2467616"/>
                      <a:gd name="connsiteY15" fmla="*/ 1790911 h 1584176"/>
                      <a:gd name="connsiteX16" fmla="*/ 782438 w 2467616"/>
                      <a:gd name="connsiteY16" fmla="*/ 1693746 h 1584176"/>
                      <a:gd name="connsiteX17" fmla="*/ 411269 w 2467616"/>
                      <a:gd name="connsiteY17" fmla="*/ 1584176 h 1584176"/>
                      <a:gd name="connsiteX18" fmla="*/ 0 w 2467616"/>
                      <a:gd name="connsiteY18" fmla="*/ 1584176 h 1584176"/>
                      <a:gd name="connsiteX19" fmla="*/ 0 w 2467616"/>
                      <a:gd name="connsiteY19" fmla="*/ 1320147 h 1584176"/>
                      <a:gd name="connsiteX20" fmla="*/ 0 w 2467616"/>
                      <a:gd name="connsiteY20" fmla="*/ 924103 h 1584176"/>
                      <a:gd name="connsiteX21" fmla="*/ 0 w 2467616"/>
                      <a:gd name="connsiteY21" fmla="*/ 924103 h 1584176"/>
                      <a:gd name="connsiteX22" fmla="*/ 0 w 2467616"/>
                      <a:gd name="connsiteY22" fmla="*/ 489775 h 1584176"/>
                      <a:gd name="connsiteX23" fmla="*/ 0 w 2467616"/>
                      <a:gd name="connsiteY23" fmla="*/ 0 h 15841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</a:cxnLst>
                    <a:rect l="l" t="t" r="r" b="b"/>
                    <a:pathLst>
                      <a:path w="2467616" h="1584176" extrusionOk="0">
                        <a:moveTo>
                          <a:pt x="0" y="0"/>
                        </a:moveTo>
                        <a:cubicBezTo>
                          <a:pt x="154852" y="19545"/>
                          <a:pt x="214577" y="-9620"/>
                          <a:pt x="411269" y="0"/>
                        </a:cubicBezTo>
                        <a:lnTo>
                          <a:pt x="411269" y="0"/>
                        </a:lnTo>
                        <a:cubicBezTo>
                          <a:pt x="586752" y="14791"/>
                          <a:pt x="792778" y="-14433"/>
                          <a:pt x="1028173" y="0"/>
                        </a:cubicBezTo>
                        <a:cubicBezTo>
                          <a:pt x="1169964" y="-10708"/>
                          <a:pt x="1277352" y="-9863"/>
                          <a:pt x="1507987" y="0"/>
                        </a:cubicBezTo>
                        <a:cubicBezTo>
                          <a:pt x="1738622" y="9863"/>
                          <a:pt x="1780953" y="-17619"/>
                          <a:pt x="1987802" y="0"/>
                        </a:cubicBezTo>
                        <a:cubicBezTo>
                          <a:pt x="2194652" y="17619"/>
                          <a:pt x="2230078" y="-16390"/>
                          <a:pt x="2467616" y="0"/>
                        </a:cubicBezTo>
                        <a:cubicBezTo>
                          <a:pt x="2471429" y="133897"/>
                          <a:pt x="2469631" y="327256"/>
                          <a:pt x="2467616" y="434328"/>
                        </a:cubicBezTo>
                        <a:cubicBezTo>
                          <a:pt x="2465601" y="541400"/>
                          <a:pt x="2457959" y="681679"/>
                          <a:pt x="2467616" y="924103"/>
                        </a:cubicBezTo>
                        <a:lnTo>
                          <a:pt x="2467616" y="924103"/>
                        </a:lnTo>
                        <a:cubicBezTo>
                          <a:pt x="2469549" y="1117437"/>
                          <a:pt x="2465598" y="1147585"/>
                          <a:pt x="2467616" y="1320147"/>
                        </a:cubicBezTo>
                        <a:cubicBezTo>
                          <a:pt x="2465351" y="1416361"/>
                          <a:pt x="2465788" y="1512477"/>
                          <a:pt x="2467616" y="1584176"/>
                        </a:cubicBezTo>
                        <a:cubicBezTo>
                          <a:pt x="2296132" y="1563936"/>
                          <a:pt x="2176445" y="1602910"/>
                          <a:pt x="2002196" y="1584176"/>
                        </a:cubicBezTo>
                        <a:cubicBezTo>
                          <a:pt x="1827947" y="1565442"/>
                          <a:pt x="1711821" y="1580346"/>
                          <a:pt x="1522382" y="1584176"/>
                        </a:cubicBezTo>
                        <a:cubicBezTo>
                          <a:pt x="1332943" y="1588006"/>
                          <a:pt x="1202405" y="1565445"/>
                          <a:pt x="1028173" y="1584176"/>
                        </a:cubicBezTo>
                        <a:cubicBezTo>
                          <a:pt x="1069504" y="1657417"/>
                          <a:pt x="1081888" y="1737530"/>
                          <a:pt x="1111587" y="1790911"/>
                        </a:cubicBezTo>
                        <a:cubicBezTo>
                          <a:pt x="1002409" y="1745186"/>
                          <a:pt x="856456" y="1724558"/>
                          <a:pt x="782438" y="1693746"/>
                        </a:cubicBezTo>
                        <a:cubicBezTo>
                          <a:pt x="708420" y="1662934"/>
                          <a:pt x="487369" y="1606062"/>
                          <a:pt x="411269" y="1584176"/>
                        </a:cubicBezTo>
                        <a:cubicBezTo>
                          <a:pt x="300274" y="1592927"/>
                          <a:pt x="158032" y="1570718"/>
                          <a:pt x="0" y="1584176"/>
                        </a:cubicBezTo>
                        <a:cubicBezTo>
                          <a:pt x="-7535" y="1481038"/>
                          <a:pt x="-2782" y="1451635"/>
                          <a:pt x="0" y="1320147"/>
                        </a:cubicBezTo>
                        <a:cubicBezTo>
                          <a:pt x="-9870" y="1166737"/>
                          <a:pt x="-10736" y="1100837"/>
                          <a:pt x="0" y="924103"/>
                        </a:cubicBezTo>
                        <a:lnTo>
                          <a:pt x="0" y="924103"/>
                        </a:lnTo>
                        <a:cubicBezTo>
                          <a:pt x="9939" y="744070"/>
                          <a:pt x="20351" y="622421"/>
                          <a:pt x="0" y="489775"/>
                        </a:cubicBezTo>
                        <a:cubicBezTo>
                          <a:pt x="-20351" y="357129"/>
                          <a:pt x="-22302" y="138215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</a:rPr>
              <a:t>살균</a:t>
            </a:r>
            <a:r>
              <a:rPr lang="en-US" altLang="ko-KR" sz="2000" dirty="0">
                <a:solidFill>
                  <a:schemeClr val="accent5">
                    <a:lumMod val="50000"/>
                  </a:schemeClr>
                </a:solidFill>
              </a:rPr>
              <a:t>, </a:t>
            </a:r>
            <a:r>
              <a:rPr lang="ko-KR" altLang="en-US" sz="2000" dirty="0">
                <a:solidFill>
                  <a:schemeClr val="accent5">
                    <a:lumMod val="50000"/>
                  </a:schemeClr>
                </a:solidFill>
              </a:rPr>
              <a:t>악취 제거 등의 기능을 갖춘 건조기 제품 주목</a:t>
            </a:r>
            <a:endParaRPr lang="en-US" altLang="ko-KR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F1B418-7366-0F6B-6640-97CB58FAE01A}"/>
              </a:ext>
            </a:extLst>
          </p:cNvPr>
          <p:cNvSpPr txBox="1"/>
          <p:nvPr/>
        </p:nvSpPr>
        <p:spPr>
          <a:xfrm>
            <a:off x="9888791" y="600252"/>
            <a:ext cx="93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출처</a:t>
            </a:r>
            <a:r>
              <a:rPr lang="en-US" altLang="ko-KR" dirty="0"/>
              <a:t>: KOTRA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1498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2376264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중국내 경쟁사 비교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CC306EF-FA3B-7C46-80EF-36E2B7CF1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43" y="1506984"/>
            <a:ext cx="10361878" cy="473032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F769BEB4-5BFA-A0FF-65F7-44442D585468}"/>
              </a:ext>
            </a:extLst>
          </p:cNvPr>
          <p:cNvSpPr/>
          <p:nvPr/>
        </p:nvSpPr>
        <p:spPr>
          <a:xfrm>
            <a:off x="7032104" y="1988840"/>
            <a:ext cx="1944216" cy="3744416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1257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7BE207B-CFF3-EEFD-2E69-B7A73C237E07}"/>
              </a:ext>
            </a:extLst>
          </p:cNvPr>
          <p:cNvSpPr/>
          <p:nvPr/>
        </p:nvSpPr>
        <p:spPr>
          <a:xfrm>
            <a:off x="0" y="-13692"/>
            <a:ext cx="12192000" cy="6871692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BD8953-3F55-7B9D-2BEE-25C0D17F2B6B}"/>
              </a:ext>
            </a:extLst>
          </p:cNvPr>
          <p:cNvSpPr/>
          <p:nvPr/>
        </p:nvSpPr>
        <p:spPr>
          <a:xfrm>
            <a:off x="0" y="0"/>
            <a:ext cx="321568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C05C5-50ED-E1D7-D71C-86879FCD6302}"/>
              </a:ext>
            </a:extLst>
          </p:cNvPr>
          <p:cNvSpPr txBox="1"/>
          <p:nvPr/>
        </p:nvSpPr>
        <p:spPr>
          <a:xfrm>
            <a:off x="1919536" y="1700808"/>
            <a:ext cx="12241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0" dirty="0">
                <a:solidFill>
                  <a:schemeClr val="bg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04</a:t>
            </a:r>
            <a:endParaRPr lang="ko-KR" altLang="en-US" sz="7000" dirty="0">
              <a:solidFill>
                <a:schemeClr val="bg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948B7C-09C5-0C3E-345C-1C22DBD5901A}"/>
              </a:ext>
            </a:extLst>
          </p:cNvPr>
          <p:cNvSpPr txBox="1"/>
          <p:nvPr/>
        </p:nvSpPr>
        <p:spPr>
          <a:xfrm>
            <a:off x="3575720" y="2492896"/>
            <a:ext cx="7848872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500">
                <a:solidFill>
                  <a:schemeClr val="accent1">
                    <a:lumMod val="50000"/>
                  </a:schemeClr>
                </a:solidFill>
              </a:rPr>
              <a:t>진출 전략 및 마케팅</a:t>
            </a:r>
            <a:endParaRPr lang="ko-KR" altLang="en-US" sz="65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7B5D28-25BA-2C7B-AB56-712D8E0BB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38447"/>
            <a:ext cx="1164437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74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2016224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SWOT </a:t>
            </a:r>
            <a:r>
              <a:rPr lang="ko-KR" altLang="en-US" dirty="0"/>
              <a:t>분석</a:t>
            </a:r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0095FB96-A4A4-D4D7-0891-166896EF3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04" y="1182742"/>
            <a:ext cx="10729192" cy="494031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3025" y="268355"/>
            <a:ext cx="1164437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118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2016224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SWOT </a:t>
            </a:r>
            <a:r>
              <a:rPr lang="ko-KR" altLang="en-US" dirty="0"/>
              <a:t>분석</a:t>
            </a:r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0095FB96-A4A4-D4D7-0891-166896EF3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04" y="1182742"/>
            <a:ext cx="10729192" cy="494031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CD9C3A6-2EDD-661E-5643-2A4C7BAED016}"/>
              </a:ext>
            </a:extLst>
          </p:cNvPr>
          <p:cNvSpPr/>
          <p:nvPr/>
        </p:nvSpPr>
        <p:spPr>
          <a:xfrm>
            <a:off x="911424" y="1988839"/>
            <a:ext cx="2952328" cy="211092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030C11-B3D7-E3DD-1D94-69F8FAC9A577}"/>
              </a:ext>
            </a:extLst>
          </p:cNvPr>
          <p:cNvSpPr/>
          <p:nvPr/>
        </p:nvSpPr>
        <p:spPr>
          <a:xfrm>
            <a:off x="911424" y="4106460"/>
            <a:ext cx="3456384" cy="1747459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2863F6C-F487-B743-7095-C74F25F84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89" y="1189237"/>
            <a:ext cx="5578127" cy="494031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2665CF-A7E5-8B7B-31F2-CAA6C3EAE859}"/>
              </a:ext>
            </a:extLst>
          </p:cNvPr>
          <p:cNvSpPr txBox="1"/>
          <p:nvPr/>
        </p:nvSpPr>
        <p:spPr>
          <a:xfrm>
            <a:off x="6058619" y="4194848"/>
            <a:ext cx="554697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>
                <a:solidFill>
                  <a:schemeClr val="bg1">
                    <a:lumMod val="95000"/>
                  </a:schemeClr>
                </a:solidFill>
              </a:rPr>
              <a:t>1. </a:t>
            </a:r>
            <a:r>
              <a:rPr lang="ko-KR" altLang="en-US" sz="3000" dirty="0">
                <a:solidFill>
                  <a:schemeClr val="bg1">
                    <a:lumMod val="95000"/>
                  </a:schemeClr>
                </a:solidFill>
              </a:rPr>
              <a:t>증가하는 </a:t>
            </a:r>
            <a:r>
              <a:rPr lang="en-US" altLang="ko-KR" sz="3000" dirty="0">
                <a:solidFill>
                  <a:schemeClr val="bg1">
                    <a:lumMod val="95000"/>
                  </a:schemeClr>
                </a:solidFill>
              </a:rPr>
              <a:t>1</a:t>
            </a:r>
            <a:r>
              <a:rPr lang="ko-KR" altLang="en-US" sz="3000" dirty="0">
                <a:solidFill>
                  <a:schemeClr val="bg1">
                    <a:lumMod val="95000"/>
                  </a:schemeClr>
                </a:solidFill>
              </a:rPr>
              <a:t>인가구를 </a:t>
            </a:r>
            <a:r>
              <a:rPr lang="ko-KR" altLang="en-US" sz="3000" dirty="0" err="1">
                <a:solidFill>
                  <a:schemeClr val="bg1">
                    <a:lumMod val="95000"/>
                  </a:schemeClr>
                </a:solidFill>
              </a:rPr>
              <a:t>타켓으로</a:t>
            </a:r>
            <a:r>
              <a:rPr lang="ko-KR" altLang="en-US" sz="3000" dirty="0">
                <a:solidFill>
                  <a:schemeClr val="bg1">
                    <a:lumMod val="95000"/>
                  </a:schemeClr>
                </a:solidFill>
              </a:rPr>
              <a:t> 하는 미니 건조기</a:t>
            </a:r>
            <a:endParaRPr lang="en-US" altLang="ko-KR" sz="30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altLang="ko-KR" sz="3000" dirty="0">
                <a:solidFill>
                  <a:schemeClr val="bg1">
                    <a:lumMod val="95000"/>
                  </a:schemeClr>
                </a:solidFill>
              </a:rPr>
              <a:t>2. </a:t>
            </a:r>
            <a:r>
              <a:rPr lang="ko-KR" altLang="en-US" sz="3000" dirty="0">
                <a:solidFill>
                  <a:schemeClr val="bg1">
                    <a:lumMod val="95000"/>
                  </a:schemeClr>
                </a:solidFill>
              </a:rPr>
              <a:t>친환경 정책에 부합하는 높은 에너지 소비효율등급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BEDA56B-3AFB-3ADC-C5AD-29D0A76EF201}"/>
              </a:ext>
            </a:extLst>
          </p:cNvPr>
          <p:cNvSpPr/>
          <p:nvPr/>
        </p:nvSpPr>
        <p:spPr>
          <a:xfrm>
            <a:off x="7513010" y="1279968"/>
            <a:ext cx="2592288" cy="2520280"/>
          </a:xfrm>
          <a:prstGeom prst="ellipse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A91A92-E1C9-F019-C56C-96B5B38F5119}"/>
              </a:ext>
            </a:extLst>
          </p:cNvPr>
          <p:cNvSpPr txBox="1"/>
          <p:nvPr/>
        </p:nvSpPr>
        <p:spPr>
          <a:xfrm>
            <a:off x="7296986" y="2144064"/>
            <a:ext cx="28803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/>
              <a:t>“S-O</a:t>
            </a:r>
            <a:r>
              <a:rPr lang="ko-KR" altLang="en-US" sz="5000" dirty="0"/>
              <a:t>전략</a:t>
            </a:r>
            <a:r>
              <a:rPr lang="en-US" altLang="ko-KR" sz="5000" dirty="0"/>
              <a:t>”</a:t>
            </a:r>
            <a:endParaRPr lang="ko-KR" altLang="en-US" sz="5000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3025" y="268355"/>
            <a:ext cx="1164437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34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2304256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STP-Segmentation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B9F402-FB52-C721-7E6A-70AC546863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25" t="8629" r="6576" b="848"/>
          <a:stretch/>
        </p:blipFill>
        <p:spPr>
          <a:xfrm>
            <a:off x="2495600" y="1340768"/>
            <a:ext cx="7031484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6407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B9F402-FB52-C721-7E6A-70AC546863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25" t="8629" r="6576" b="848"/>
          <a:stretch/>
        </p:blipFill>
        <p:spPr>
          <a:xfrm>
            <a:off x="2495600" y="1340768"/>
            <a:ext cx="7031484" cy="4464496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7E936659-A54B-5672-67C7-3028EA018A30}"/>
              </a:ext>
            </a:extLst>
          </p:cNvPr>
          <p:cNvSpPr/>
          <p:nvPr/>
        </p:nvSpPr>
        <p:spPr>
          <a:xfrm>
            <a:off x="3287688" y="2636912"/>
            <a:ext cx="1656184" cy="2204864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50EDB8E-B64B-02AB-70E9-6FA199D38AB9}"/>
              </a:ext>
            </a:extLst>
          </p:cNvPr>
          <p:cNvSpPr/>
          <p:nvPr/>
        </p:nvSpPr>
        <p:spPr>
          <a:xfrm>
            <a:off x="695400" y="476672"/>
            <a:ext cx="2304256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STP-Segmentation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4657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E891C49-C77A-FA8D-1A7B-728653BC4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688" y="980728"/>
            <a:ext cx="5829300" cy="408622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B49A5DF-7922-E16D-775D-E939A1DAE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688" y="5301208"/>
            <a:ext cx="5486400" cy="876300"/>
          </a:xfrm>
          <a:prstGeom prst="rect">
            <a:avLst/>
          </a:prstGeom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CE1611C-D0EF-C0CE-0E8E-E87B56521726}"/>
              </a:ext>
            </a:extLst>
          </p:cNvPr>
          <p:cNvSpPr/>
          <p:nvPr/>
        </p:nvSpPr>
        <p:spPr>
          <a:xfrm>
            <a:off x="695400" y="476672"/>
            <a:ext cx="2304256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STP-Segmentation</a:t>
            </a:r>
            <a:endParaRPr lang="ko-KR" altLang="en-US" dirty="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D735DF6-E02F-2BAB-04C0-148E5E3AC778}"/>
              </a:ext>
            </a:extLst>
          </p:cNvPr>
          <p:cNvSpPr/>
          <p:nvPr/>
        </p:nvSpPr>
        <p:spPr>
          <a:xfrm>
            <a:off x="4151784" y="5173885"/>
            <a:ext cx="1584176" cy="531275"/>
          </a:xfrm>
          <a:custGeom>
            <a:avLst/>
            <a:gdLst>
              <a:gd name="connsiteX0" fmla="*/ 0 w 1584176"/>
              <a:gd name="connsiteY0" fmla="*/ 265638 h 531275"/>
              <a:gd name="connsiteX1" fmla="*/ 792088 w 1584176"/>
              <a:gd name="connsiteY1" fmla="*/ 0 h 531275"/>
              <a:gd name="connsiteX2" fmla="*/ 1584176 w 1584176"/>
              <a:gd name="connsiteY2" fmla="*/ 265638 h 531275"/>
              <a:gd name="connsiteX3" fmla="*/ 792088 w 1584176"/>
              <a:gd name="connsiteY3" fmla="*/ 531276 h 531275"/>
              <a:gd name="connsiteX4" fmla="*/ 0 w 1584176"/>
              <a:gd name="connsiteY4" fmla="*/ 265638 h 531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84176" h="531275" extrusionOk="0">
                <a:moveTo>
                  <a:pt x="0" y="265638"/>
                </a:moveTo>
                <a:cubicBezTo>
                  <a:pt x="7863" y="59784"/>
                  <a:pt x="386699" y="25833"/>
                  <a:pt x="792088" y="0"/>
                </a:cubicBezTo>
                <a:cubicBezTo>
                  <a:pt x="1198841" y="-11610"/>
                  <a:pt x="1595682" y="78587"/>
                  <a:pt x="1584176" y="265638"/>
                </a:cubicBezTo>
                <a:cubicBezTo>
                  <a:pt x="1618597" y="389594"/>
                  <a:pt x="1208429" y="585084"/>
                  <a:pt x="792088" y="531276"/>
                </a:cubicBezTo>
                <a:cubicBezTo>
                  <a:pt x="351984" y="539967"/>
                  <a:pt x="10288" y="403297"/>
                  <a:pt x="0" y="265638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426649898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3081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E891C49-C77A-FA8D-1A7B-728653BC4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592" y="984279"/>
            <a:ext cx="7524867" cy="5253033"/>
          </a:xfrm>
          <a:prstGeom prst="rect">
            <a:avLst/>
          </a:prstGeom>
        </p:spPr>
      </p:pic>
      <p:sp>
        <p:nvSpPr>
          <p:cNvPr id="11" name="타원 10">
            <a:extLst>
              <a:ext uri="{FF2B5EF4-FFF2-40B4-BE49-F238E27FC236}">
                <a16:creationId xmlns:a16="http://schemas.microsoft.com/office/drawing/2014/main" id="{414E29C2-FCEF-C807-4F46-60BCBDCDFD00}"/>
              </a:ext>
            </a:extLst>
          </p:cNvPr>
          <p:cNvSpPr/>
          <p:nvPr/>
        </p:nvSpPr>
        <p:spPr>
          <a:xfrm>
            <a:off x="8230786" y="1880553"/>
            <a:ext cx="915004" cy="813752"/>
          </a:xfrm>
          <a:custGeom>
            <a:avLst/>
            <a:gdLst>
              <a:gd name="connsiteX0" fmla="*/ 0 w 915004"/>
              <a:gd name="connsiteY0" fmla="*/ 406876 h 813752"/>
              <a:gd name="connsiteX1" fmla="*/ 457502 w 915004"/>
              <a:gd name="connsiteY1" fmla="*/ 0 h 813752"/>
              <a:gd name="connsiteX2" fmla="*/ 915004 w 915004"/>
              <a:gd name="connsiteY2" fmla="*/ 406876 h 813752"/>
              <a:gd name="connsiteX3" fmla="*/ 457502 w 915004"/>
              <a:gd name="connsiteY3" fmla="*/ 813752 h 813752"/>
              <a:gd name="connsiteX4" fmla="*/ 0 w 915004"/>
              <a:gd name="connsiteY4" fmla="*/ 406876 h 8137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004" h="813752" extrusionOk="0">
                <a:moveTo>
                  <a:pt x="0" y="406876"/>
                </a:moveTo>
                <a:cubicBezTo>
                  <a:pt x="6003" y="137009"/>
                  <a:pt x="263284" y="47086"/>
                  <a:pt x="457502" y="0"/>
                </a:cubicBezTo>
                <a:cubicBezTo>
                  <a:pt x="668161" y="-15885"/>
                  <a:pt x="925023" y="147036"/>
                  <a:pt x="915004" y="406876"/>
                </a:cubicBezTo>
                <a:cubicBezTo>
                  <a:pt x="977203" y="590475"/>
                  <a:pt x="688308" y="869465"/>
                  <a:pt x="457502" y="813752"/>
                </a:cubicBezTo>
                <a:cubicBezTo>
                  <a:pt x="201703" y="824025"/>
                  <a:pt x="17718" y="616002"/>
                  <a:pt x="0" y="406876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426649898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BF3BCA9-D919-AC37-036F-A7B7B47C31D0}"/>
              </a:ext>
            </a:extLst>
          </p:cNvPr>
          <p:cNvSpPr/>
          <p:nvPr/>
        </p:nvSpPr>
        <p:spPr>
          <a:xfrm>
            <a:off x="8323894" y="3347702"/>
            <a:ext cx="915004" cy="720632"/>
          </a:xfrm>
          <a:custGeom>
            <a:avLst/>
            <a:gdLst>
              <a:gd name="connsiteX0" fmla="*/ 0 w 915004"/>
              <a:gd name="connsiteY0" fmla="*/ 360316 h 720632"/>
              <a:gd name="connsiteX1" fmla="*/ 457502 w 915004"/>
              <a:gd name="connsiteY1" fmla="*/ 0 h 720632"/>
              <a:gd name="connsiteX2" fmla="*/ 915004 w 915004"/>
              <a:gd name="connsiteY2" fmla="*/ 360316 h 720632"/>
              <a:gd name="connsiteX3" fmla="*/ 457502 w 915004"/>
              <a:gd name="connsiteY3" fmla="*/ 720632 h 720632"/>
              <a:gd name="connsiteX4" fmla="*/ 0 w 915004"/>
              <a:gd name="connsiteY4" fmla="*/ 360316 h 720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5004" h="720632" extrusionOk="0">
                <a:moveTo>
                  <a:pt x="0" y="360316"/>
                </a:moveTo>
                <a:cubicBezTo>
                  <a:pt x="6003" y="116163"/>
                  <a:pt x="263284" y="47086"/>
                  <a:pt x="457502" y="0"/>
                </a:cubicBezTo>
                <a:cubicBezTo>
                  <a:pt x="673446" y="-13886"/>
                  <a:pt x="929980" y="108810"/>
                  <a:pt x="915004" y="360316"/>
                </a:cubicBezTo>
                <a:cubicBezTo>
                  <a:pt x="977203" y="518201"/>
                  <a:pt x="688308" y="776345"/>
                  <a:pt x="457502" y="720632"/>
                </a:cubicBezTo>
                <a:cubicBezTo>
                  <a:pt x="191824" y="763349"/>
                  <a:pt x="39001" y="525009"/>
                  <a:pt x="0" y="360316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426649898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15FB868D-109C-5C7A-F9C4-2FD790CCB492}"/>
              </a:ext>
            </a:extLst>
          </p:cNvPr>
          <p:cNvSpPr/>
          <p:nvPr/>
        </p:nvSpPr>
        <p:spPr>
          <a:xfrm>
            <a:off x="5521608" y="4910804"/>
            <a:ext cx="862424" cy="681393"/>
          </a:xfrm>
          <a:custGeom>
            <a:avLst/>
            <a:gdLst>
              <a:gd name="connsiteX0" fmla="*/ 0 w 862424"/>
              <a:gd name="connsiteY0" fmla="*/ 340697 h 681393"/>
              <a:gd name="connsiteX1" fmla="*/ 431212 w 862424"/>
              <a:gd name="connsiteY1" fmla="*/ 0 h 681393"/>
              <a:gd name="connsiteX2" fmla="*/ 862424 w 862424"/>
              <a:gd name="connsiteY2" fmla="*/ 340697 h 681393"/>
              <a:gd name="connsiteX3" fmla="*/ 431212 w 862424"/>
              <a:gd name="connsiteY3" fmla="*/ 681394 h 681393"/>
              <a:gd name="connsiteX4" fmla="*/ 0 w 862424"/>
              <a:gd name="connsiteY4" fmla="*/ 340697 h 681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2424" h="681393" extrusionOk="0">
                <a:moveTo>
                  <a:pt x="0" y="340697"/>
                </a:moveTo>
                <a:cubicBezTo>
                  <a:pt x="2745" y="131886"/>
                  <a:pt x="237792" y="36033"/>
                  <a:pt x="431212" y="0"/>
                </a:cubicBezTo>
                <a:cubicBezTo>
                  <a:pt x="663556" y="-2196"/>
                  <a:pt x="876695" y="102495"/>
                  <a:pt x="862424" y="340697"/>
                </a:cubicBezTo>
                <a:cubicBezTo>
                  <a:pt x="876192" y="519758"/>
                  <a:pt x="667108" y="687143"/>
                  <a:pt x="431212" y="681394"/>
                </a:cubicBezTo>
                <a:cubicBezTo>
                  <a:pt x="181107" y="720650"/>
                  <a:pt x="8670" y="521233"/>
                  <a:pt x="0" y="340697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426649898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5B271275-9762-75DA-955A-8DC876E7D30A}"/>
              </a:ext>
            </a:extLst>
          </p:cNvPr>
          <p:cNvSpPr/>
          <p:nvPr/>
        </p:nvSpPr>
        <p:spPr>
          <a:xfrm>
            <a:off x="7840737" y="4910804"/>
            <a:ext cx="1016820" cy="720632"/>
          </a:xfrm>
          <a:custGeom>
            <a:avLst/>
            <a:gdLst>
              <a:gd name="connsiteX0" fmla="*/ 0 w 1016820"/>
              <a:gd name="connsiteY0" fmla="*/ 360316 h 720632"/>
              <a:gd name="connsiteX1" fmla="*/ 508410 w 1016820"/>
              <a:gd name="connsiteY1" fmla="*/ 0 h 720632"/>
              <a:gd name="connsiteX2" fmla="*/ 1016820 w 1016820"/>
              <a:gd name="connsiteY2" fmla="*/ 360316 h 720632"/>
              <a:gd name="connsiteX3" fmla="*/ 508410 w 1016820"/>
              <a:gd name="connsiteY3" fmla="*/ 720632 h 720632"/>
              <a:gd name="connsiteX4" fmla="*/ 0 w 1016820"/>
              <a:gd name="connsiteY4" fmla="*/ 360316 h 720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6820" h="720632" extrusionOk="0">
                <a:moveTo>
                  <a:pt x="0" y="360316"/>
                </a:moveTo>
                <a:cubicBezTo>
                  <a:pt x="6880" y="109569"/>
                  <a:pt x="245080" y="14062"/>
                  <a:pt x="508410" y="0"/>
                </a:cubicBezTo>
                <a:cubicBezTo>
                  <a:pt x="752470" y="-13886"/>
                  <a:pt x="1031796" y="108810"/>
                  <a:pt x="1016820" y="360316"/>
                </a:cubicBezTo>
                <a:cubicBezTo>
                  <a:pt x="1033043" y="548590"/>
                  <a:pt x="761123" y="792168"/>
                  <a:pt x="508410" y="720632"/>
                </a:cubicBezTo>
                <a:cubicBezTo>
                  <a:pt x="214616" y="763349"/>
                  <a:pt x="39001" y="525009"/>
                  <a:pt x="0" y="360316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426649898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044BBA4-9E09-2893-628F-B9A1CB86A588}"/>
              </a:ext>
            </a:extLst>
          </p:cNvPr>
          <p:cNvSpPr/>
          <p:nvPr/>
        </p:nvSpPr>
        <p:spPr>
          <a:xfrm>
            <a:off x="695400" y="476672"/>
            <a:ext cx="2016224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STP-Targeting</a:t>
            </a:r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F1DF192-FAD5-2649-0DB7-2D37B75BE9BB}"/>
              </a:ext>
            </a:extLst>
          </p:cNvPr>
          <p:cNvSpPr/>
          <p:nvPr/>
        </p:nvSpPr>
        <p:spPr>
          <a:xfrm>
            <a:off x="8210056" y="4075331"/>
            <a:ext cx="1142680" cy="784539"/>
          </a:xfrm>
          <a:custGeom>
            <a:avLst/>
            <a:gdLst>
              <a:gd name="connsiteX0" fmla="*/ 0 w 1142680"/>
              <a:gd name="connsiteY0" fmla="*/ 392270 h 784539"/>
              <a:gd name="connsiteX1" fmla="*/ 571340 w 1142680"/>
              <a:gd name="connsiteY1" fmla="*/ 0 h 784539"/>
              <a:gd name="connsiteX2" fmla="*/ 1142680 w 1142680"/>
              <a:gd name="connsiteY2" fmla="*/ 392270 h 784539"/>
              <a:gd name="connsiteX3" fmla="*/ 571340 w 1142680"/>
              <a:gd name="connsiteY3" fmla="*/ 784540 h 784539"/>
              <a:gd name="connsiteX4" fmla="*/ 0 w 1142680"/>
              <a:gd name="connsiteY4" fmla="*/ 392270 h 784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2680" h="784539" extrusionOk="0">
                <a:moveTo>
                  <a:pt x="0" y="392270"/>
                </a:moveTo>
                <a:cubicBezTo>
                  <a:pt x="11425" y="89681"/>
                  <a:pt x="277978" y="17867"/>
                  <a:pt x="571340" y="0"/>
                </a:cubicBezTo>
                <a:cubicBezTo>
                  <a:pt x="858156" y="-10861"/>
                  <a:pt x="1149734" y="150891"/>
                  <a:pt x="1142680" y="392270"/>
                </a:cubicBezTo>
                <a:cubicBezTo>
                  <a:pt x="1210695" y="563958"/>
                  <a:pt x="866796" y="835721"/>
                  <a:pt x="571340" y="784540"/>
                </a:cubicBezTo>
                <a:cubicBezTo>
                  <a:pt x="243216" y="825860"/>
                  <a:pt x="46417" y="568089"/>
                  <a:pt x="0" y="392270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4266498984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3E113FF-D72A-3A5F-D7DF-236B76E03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712" y="1576387"/>
            <a:ext cx="993457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37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25813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2016224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STP-Positioning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3EA0D41-D1FA-6A12-DF47-20A86631580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7408" y="980728"/>
            <a:ext cx="10369152" cy="54006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6721D0E-6154-013C-CE95-52CC23D245FA}"/>
              </a:ext>
            </a:extLst>
          </p:cNvPr>
          <p:cNvSpPr/>
          <p:nvPr/>
        </p:nvSpPr>
        <p:spPr>
          <a:xfrm>
            <a:off x="5447928" y="1628800"/>
            <a:ext cx="1800200" cy="864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002610C-7BD1-B683-3E53-82ED4B73C889}"/>
              </a:ext>
            </a:extLst>
          </p:cNvPr>
          <p:cNvSpPr/>
          <p:nvPr/>
        </p:nvSpPr>
        <p:spPr>
          <a:xfrm>
            <a:off x="6744072" y="4229630"/>
            <a:ext cx="1800200" cy="576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04E9A66-7A2E-23DF-E4D8-DE1F73268ABB}"/>
              </a:ext>
            </a:extLst>
          </p:cNvPr>
          <p:cNvSpPr/>
          <p:nvPr/>
        </p:nvSpPr>
        <p:spPr>
          <a:xfrm>
            <a:off x="8112224" y="2790038"/>
            <a:ext cx="2304256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o-KR" altLang="en-US" sz="4000" b="1" spc="50" dirty="0">
                <a:ln w="9525" cmpd="sng">
                  <a:solidFill>
                    <a:srgbClr val="00B050"/>
                  </a:solidFill>
                  <a:prstDash val="solid"/>
                </a:ln>
                <a:solidFill>
                  <a:srgbClr val="00B05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마르세休</a:t>
            </a:r>
            <a:endParaRPr lang="en-US" altLang="ko-KR" sz="4000" b="1" cap="none" spc="50" dirty="0">
              <a:ln w="9525" cmpd="sng">
                <a:solidFill>
                  <a:srgbClr val="00B050"/>
                </a:solidFill>
                <a:prstDash val="solid"/>
              </a:ln>
              <a:solidFill>
                <a:srgbClr val="00B05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372996-6EEB-19BD-751F-BF1CC4AF142E}"/>
              </a:ext>
            </a:extLst>
          </p:cNvPr>
          <p:cNvSpPr/>
          <p:nvPr/>
        </p:nvSpPr>
        <p:spPr>
          <a:xfrm>
            <a:off x="8134259" y="2737462"/>
            <a:ext cx="2376264" cy="813037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44F601D-CA6C-73DF-7E52-3548098BC9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816" y="4581128"/>
            <a:ext cx="1753022" cy="430288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CE245E3A-2B62-38B2-EAA3-37B4088544BE}"/>
              </a:ext>
            </a:extLst>
          </p:cNvPr>
          <p:cNvSpPr/>
          <p:nvPr/>
        </p:nvSpPr>
        <p:spPr>
          <a:xfrm>
            <a:off x="6201852" y="3933056"/>
            <a:ext cx="2376264" cy="44424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E31005A-A10C-A77E-7501-FD7CE659DF13}"/>
              </a:ext>
            </a:extLst>
          </p:cNvPr>
          <p:cNvSpPr/>
          <p:nvPr/>
        </p:nvSpPr>
        <p:spPr>
          <a:xfrm>
            <a:off x="4939552" y="2385686"/>
            <a:ext cx="2304256" cy="8640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C643B7E-C9E0-E206-ACD2-EC5E6BC6B6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344" y="1628800"/>
            <a:ext cx="1981728" cy="929482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D7B32B3F-D49D-297C-DF20-B2A4011A8DED}"/>
              </a:ext>
            </a:extLst>
          </p:cNvPr>
          <p:cNvCxnSpPr>
            <a:cxnSpLocks/>
          </p:cNvCxnSpPr>
          <p:nvPr/>
        </p:nvCxnSpPr>
        <p:spPr>
          <a:xfrm>
            <a:off x="3503712" y="5661248"/>
            <a:ext cx="7128792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923EAFA-8AF4-BCBA-01D6-F1318D87D2EB}"/>
              </a:ext>
            </a:extLst>
          </p:cNvPr>
          <p:cNvCxnSpPr>
            <a:cxnSpLocks/>
          </p:cNvCxnSpPr>
          <p:nvPr/>
        </p:nvCxnSpPr>
        <p:spPr>
          <a:xfrm flipV="1">
            <a:off x="3926189" y="1408402"/>
            <a:ext cx="9571" cy="4533575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22BF252-B4CC-D7BE-5B32-EADD80F360B9}"/>
              </a:ext>
            </a:extLst>
          </p:cNvPr>
          <p:cNvSpPr/>
          <p:nvPr/>
        </p:nvSpPr>
        <p:spPr>
          <a:xfrm>
            <a:off x="7389984" y="4478314"/>
            <a:ext cx="1800200" cy="576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8560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2016224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마케팅 전략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1091443" y="3983331"/>
            <a:ext cx="432281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2) 1</a:t>
            </a:r>
            <a:r>
              <a:rPr lang="ko-KR" altLang="en-US" sz="1500" dirty="0" err="1"/>
              <a:t>인가구</a:t>
            </a:r>
            <a:r>
              <a:rPr lang="ko-KR" altLang="en-US" sz="1500" dirty="0"/>
              <a:t> 비중이 높은 지역에 팝업스토어 개점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29E691A-3B6D-BB0A-CDE7-6435F6607D7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1443" y="1656245"/>
            <a:ext cx="3766519" cy="209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AE567D4-5B63-729F-5B31-17E4A4567216}"/>
              </a:ext>
            </a:extLst>
          </p:cNvPr>
          <p:cNvSpPr txBox="1"/>
          <p:nvPr/>
        </p:nvSpPr>
        <p:spPr>
          <a:xfrm>
            <a:off x="911424" y="1081753"/>
            <a:ext cx="47792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1) </a:t>
            </a:r>
            <a:r>
              <a:rPr lang="ko-KR" altLang="en-US" sz="1500" dirty="0" err="1">
                <a:solidFill>
                  <a:srgbClr val="FF0000"/>
                </a:solidFill>
              </a:rPr>
              <a:t>왕홍</a:t>
            </a:r>
            <a:r>
              <a:rPr lang="ko-KR" altLang="en-US" sz="1500" dirty="0" err="1"/>
              <a:t>과</a:t>
            </a:r>
            <a:r>
              <a:rPr lang="ko-KR" altLang="en-US" sz="1500" dirty="0"/>
              <a:t> 협력을 통해 중국 </a:t>
            </a:r>
            <a:r>
              <a:rPr lang="en-US" altLang="ko-KR" sz="1500" dirty="0"/>
              <a:t>SNS</a:t>
            </a:r>
            <a:r>
              <a:rPr lang="ko-KR" altLang="en-US" sz="1500" dirty="0"/>
              <a:t>플랫폼으로 홍보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3D4F22-02D0-F15D-741C-FF560F634366}"/>
              </a:ext>
            </a:extLst>
          </p:cNvPr>
          <p:cNvSpPr txBox="1"/>
          <p:nvPr/>
        </p:nvSpPr>
        <p:spPr>
          <a:xfrm>
            <a:off x="1091443" y="1333080"/>
            <a:ext cx="22322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 err="1"/>
              <a:t>왕홍</a:t>
            </a:r>
            <a:r>
              <a:rPr lang="en-US" altLang="ko-KR" sz="1000" dirty="0"/>
              <a:t>: </a:t>
            </a:r>
            <a:r>
              <a:rPr lang="ko-KR" altLang="en-US" sz="1000" dirty="0"/>
              <a:t>온라인상의 유명인사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FFDA39E-A44E-A45C-DF3A-3F50C8760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0714" y="932876"/>
            <a:ext cx="4779229" cy="309634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68E134CE-0B11-09C0-C8CB-E88E333922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341" y="3983331"/>
            <a:ext cx="4079977" cy="214329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1FF2CDF-0EED-36EB-18A4-E1A12620A98D}"/>
              </a:ext>
            </a:extLst>
          </p:cNvPr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1443" y="4365328"/>
            <a:ext cx="3766519" cy="2016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96894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728192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유통 채널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C8D895-08A4-C91A-016A-7D2E7326192D}"/>
              </a:ext>
            </a:extLst>
          </p:cNvPr>
          <p:cNvSpPr txBox="1"/>
          <p:nvPr/>
        </p:nvSpPr>
        <p:spPr>
          <a:xfrm>
            <a:off x="4223792" y="913836"/>
            <a:ext cx="4104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/>
              <a:t>온라인 유통 채널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9EB4DA3-4D3C-66A3-A435-FC2A418B7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176" y="1845955"/>
            <a:ext cx="3168352" cy="25178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03798C-9761-B5E3-2055-637F4123B6F5}"/>
              </a:ext>
            </a:extLst>
          </p:cNvPr>
          <p:cNvSpPr txBox="1"/>
          <p:nvPr/>
        </p:nvSpPr>
        <p:spPr>
          <a:xfrm>
            <a:off x="3143672" y="4316324"/>
            <a:ext cx="655272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2700" dirty="0"/>
              <a:t>전 제품 온라인 판매</a:t>
            </a:r>
            <a:endParaRPr lang="en-US" altLang="ko-KR" sz="2700" dirty="0"/>
          </a:p>
          <a:p>
            <a:endParaRPr lang="en-US" altLang="ko-KR" sz="2700" dirty="0"/>
          </a:p>
          <a:p>
            <a:pPr marL="285750" indent="-285750">
              <a:buFontTx/>
              <a:buChar char="-"/>
            </a:pPr>
            <a:r>
              <a:rPr lang="ko-KR" altLang="en-US" sz="2700" dirty="0"/>
              <a:t>다량의 소비자에게 제품을 홍보 유리</a:t>
            </a:r>
            <a:endParaRPr lang="en-US" altLang="ko-KR" sz="27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4AC1B4D-DE4A-F260-9CBE-7013007202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267" y="1723585"/>
            <a:ext cx="3816424" cy="230957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D9CE755-E0FF-BA08-F2D0-D17C60EA7B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5732" y="910950"/>
            <a:ext cx="8784976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9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188640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728192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유통 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E5886E-A2FD-705E-3D58-812DC6B38E6C}"/>
              </a:ext>
            </a:extLst>
          </p:cNvPr>
          <p:cNvSpPr txBox="1"/>
          <p:nvPr/>
        </p:nvSpPr>
        <p:spPr>
          <a:xfrm>
            <a:off x="4155198" y="1560157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공장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41BBFE7-AB96-D02A-0418-5DA1A8575B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325" y="1966296"/>
            <a:ext cx="1080000" cy="1080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AFA0083-8A57-E8BF-786C-0109C152F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792" y="1966296"/>
            <a:ext cx="1080000" cy="1080000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A889E33-34EE-8115-CD1F-86248B4713A2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607325" y="2506296"/>
            <a:ext cx="1616467" cy="0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58D8B16-68DA-AD80-CCE0-5215FE843D84}"/>
              </a:ext>
            </a:extLst>
          </p:cNvPr>
          <p:cNvSpPr txBox="1"/>
          <p:nvPr/>
        </p:nvSpPr>
        <p:spPr>
          <a:xfrm>
            <a:off x="1491261" y="1573665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마르세休 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6EB44EC4-BCB2-8A97-9142-09DE5DB471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27" y="1966296"/>
            <a:ext cx="1080000" cy="1080000"/>
          </a:xfrm>
          <a:prstGeom prst="rect">
            <a:avLst/>
          </a:prstGeom>
        </p:spPr>
      </p:pic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EFE0F425-4349-32B2-5EF6-729B8BA81CEC}"/>
              </a:ext>
            </a:extLst>
          </p:cNvPr>
          <p:cNvCxnSpPr>
            <a:cxnSpLocks/>
            <a:stCxn id="12" idx="3"/>
            <a:endCxn id="34" idx="1"/>
          </p:cNvCxnSpPr>
          <p:nvPr/>
        </p:nvCxnSpPr>
        <p:spPr>
          <a:xfrm>
            <a:off x="5303792" y="2506296"/>
            <a:ext cx="1599035" cy="0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BFE2FE0-EF12-2458-3FC2-CC64DB3401F8}"/>
              </a:ext>
            </a:extLst>
          </p:cNvPr>
          <p:cNvSpPr txBox="1"/>
          <p:nvPr/>
        </p:nvSpPr>
        <p:spPr>
          <a:xfrm>
            <a:off x="6925919" y="1560157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선적 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347A2371-395F-165B-7EBA-C43B7239BAB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232" y="1966296"/>
            <a:ext cx="1512168" cy="1080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9678ECFB-ECA5-BEE2-61F9-BC65958FD0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69893" y="1966296"/>
            <a:ext cx="1080000" cy="1080000"/>
          </a:xfrm>
          <a:prstGeom prst="rect">
            <a:avLst/>
          </a:prstGeom>
        </p:spPr>
      </p:pic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AB908D9-EE41-B818-B801-602FD8D3357F}"/>
              </a:ext>
            </a:extLst>
          </p:cNvPr>
          <p:cNvCxnSpPr>
            <a:cxnSpLocks/>
            <a:stCxn id="53" idx="2"/>
            <a:endCxn id="63" idx="0"/>
          </p:cNvCxnSpPr>
          <p:nvPr/>
        </p:nvCxnSpPr>
        <p:spPr>
          <a:xfrm>
            <a:off x="10309893" y="3046296"/>
            <a:ext cx="0" cy="1233346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그림 62">
            <a:extLst>
              <a:ext uri="{FF2B5EF4-FFF2-40B4-BE49-F238E27FC236}">
                <a16:creationId xmlns:a16="http://schemas.microsoft.com/office/drawing/2014/main" id="{7C6FB1F5-B238-F7F3-00AD-AC117F93C65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893" y="4279642"/>
            <a:ext cx="1080000" cy="10800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575FE7D8-4EDD-7F18-D342-E2CB0C33D904}"/>
              </a:ext>
            </a:extLst>
          </p:cNvPr>
          <p:cNvSpPr txBox="1"/>
          <p:nvPr/>
        </p:nvSpPr>
        <p:spPr>
          <a:xfrm>
            <a:off x="9769893" y="5669253"/>
            <a:ext cx="1227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수입업자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899BC2A-C591-6D9B-5B43-DA1C426F0ED0}"/>
              </a:ext>
            </a:extLst>
          </p:cNvPr>
          <p:cNvSpPr txBox="1"/>
          <p:nvPr/>
        </p:nvSpPr>
        <p:spPr>
          <a:xfrm>
            <a:off x="6902827" y="5669253"/>
            <a:ext cx="1227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도매업자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01E290-6B48-6509-ACA3-42D1BB7EF7D2}"/>
              </a:ext>
            </a:extLst>
          </p:cNvPr>
          <p:cNvSpPr txBox="1"/>
          <p:nvPr/>
        </p:nvSpPr>
        <p:spPr>
          <a:xfrm>
            <a:off x="4223792" y="5669253"/>
            <a:ext cx="1227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소매업자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EAAFE58-24ED-E4C5-64D0-1AC8ED9328E8}"/>
              </a:ext>
            </a:extLst>
          </p:cNvPr>
          <p:cNvSpPr txBox="1"/>
          <p:nvPr/>
        </p:nvSpPr>
        <p:spPr>
          <a:xfrm>
            <a:off x="1356726" y="5669253"/>
            <a:ext cx="1227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소비자 </a:t>
            </a: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4ACF5BB4-CF5D-BE94-1D9D-0F236172366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919" y="4279642"/>
            <a:ext cx="1080000" cy="1080000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CCA30591-A907-031D-934E-D31F6B041C8E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3937525" y="3763257"/>
            <a:ext cx="1800000" cy="1800000"/>
          </a:xfrm>
          <a:prstGeom prst="rect">
            <a:avLst/>
          </a:prstGeom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A38E1DAC-F990-3C46-ACAA-77BD5D6C89C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261" y="4289065"/>
            <a:ext cx="1080000" cy="1080000"/>
          </a:xfrm>
          <a:prstGeom prst="rect">
            <a:avLst/>
          </a:prstGeom>
        </p:spPr>
      </p:pic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F7E2EB2E-8DF7-3796-D281-11A838B0441A}"/>
              </a:ext>
            </a:extLst>
          </p:cNvPr>
          <p:cNvCxnSpPr>
            <a:cxnSpLocks/>
          </p:cNvCxnSpPr>
          <p:nvPr/>
        </p:nvCxnSpPr>
        <p:spPr>
          <a:xfrm flipH="1">
            <a:off x="5447928" y="4869160"/>
            <a:ext cx="1455019" cy="0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54DF807D-431D-5AA8-7685-757730E63FF8}"/>
              </a:ext>
            </a:extLst>
          </p:cNvPr>
          <p:cNvCxnSpPr>
            <a:cxnSpLocks/>
          </p:cNvCxnSpPr>
          <p:nvPr/>
        </p:nvCxnSpPr>
        <p:spPr>
          <a:xfrm flipH="1">
            <a:off x="2639616" y="4869160"/>
            <a:ext cx="1599035" cy="0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AEAA678F-9775-2459-0DE0-133A5F5FF466}"/>
              </a:ext>
            </a:extLst>
          </p:cNvPr>
          <p:cNvCxnSpPr>
            <a:cxnSpLocks/>
          </p:cNvCxnSpPr>
          <p:nvPr/>
        </p:nvCxnSpPr>
        <p:spPr>
          <a:xfrm flipH="1">
            <a:off x="8184232" y="4869160"/>
            <a:ext cx="1599035" cy="0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960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7BE207B-CFF3-EEFD-2E69-B7A73C237E07}"/>
              </a:ext>
            </a:extLst>
          </p:cNvPr>
          <p:cNvSpPr/>
          <p:nvPr/>
        </p:nvSpPr>
        <p:spPr>
          <a:xfrm>
            <a:off x="0" y="-13692"/>
            <a:ext cx="12192000" cy="6871692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BD8953-3F55-7B9D-2BEE-25C0D17F2B6B}"/>
              </a:ext>
            </a:extLst>
          </p:cNvPr>
          <p:cNvSpPr/>
          <p:nvPr/>
        </p:nvSpPr>
        <p:spPr>
          <a:xfrm>
            <a:off x="0" y="0"/>
            <a:ext cx="321568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C05C5-50ED-E1D7-D71C-86879FCD6302}"/>
              </a:ext>
            </a:extLst>
          </p:cNvPr>
          <p:cNvSpPr txBox="1"/>
          <p:nvPr/>
        </p:nvSpPr>
        <p:spPr>
          <a:xfrm>
            <a:off x="1919536" y="1700808"/>
            <a:ext cx="12241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0" dirty="0">
                <a:solidFill>
                  <a:schemeClr val="bg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05</a:t>
            </a:r>
            <a:endParaRPr lang="ko-KR" altLang="en-US" sz="7000" dirty="0">
              <a:solidFill>
                <a:schemeClr val="bg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948B7C-09C5-0C3E-345C-1C22DBD5901A}"/>
              </a:ext>
            </a:extLst>
          </p:cNvPr>
          <p:cNvSpPr txBox="1"/>
          <p:nvPr/>
        </p:nvSpPr>
        <p:spPr>
          <a:xfrm>
            <a:off x="3738984" y="2636912"/>
            <a:ext cx="7968208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500" dirty="0">
                <a:solidFill>
                  <a:schemeClr val="accent1">
                    <a:lumMod val="50000"/>
                  </a:schemeClr>
                </a:solidFill>
              </a:rPr>
              <a:t>바이어 발굴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7B5D28-25BA-2C7B-AB56-712D8E0BB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38447"/>
            <a:ext cx="1164437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257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728192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전시회 초대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41BA370-A3C3-A7F7-66A0-F8893E039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1454080"/>
            <a:ext cx="11020574" cy="418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794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728192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전시회 초대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6E75431-F104-DDB0-9CF3-47C365935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560" y="1406567"/>
            <a:ext cx="7471828" cy="41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9010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2592288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해외 전시회 상담일지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D34580A-6CF9-FA7F-FCAD-D492F6F7F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1025352"/>
            <a:ext cx="3600400" cy="5328592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EE4D65F-1436-7E70-59F1-9B2B51858CF8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389946" y="1007905"/>
            <a:ext cx="3600000" cy="5328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A6E633B-992E-040B-7463-4ECCA5454A39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051584" y="1102225"/>
            <a:ext cx="3600000" cy="53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998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188640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728192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유통 과정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E5886E-A2FD-705E-3D58-812DC6B38E6C}"/>
              </a:ext>
            </a:extLst>
          </p:cNvPr>
          <p:cNvSpPr txBox="1"/>
          <p:nvPr/>
        </p:nvSpPr>
        <p:spPr>
          <a:xfrm>
            <a:off x="4155198" y="1560157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공장 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41BBFE7-AB96-D02A-0418-5DA1A8575B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325" y="1966296"/>
            <a:ext cx="1080000" cy="1080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AFA0083-8A57-E8BF-786C-0109C152FC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792" y="1966296"/>
            <a:ext cx="1080000" cy="1080000"/>
          </a:xfrm>
          <a:prstGeom prst="rect">
            <a:avLst/>
          </a:prstGeom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A889E33-34EE-8115-CD1F-86248B4713A2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607325" y="2506296"/>
            <a:ext cx="1616467" cy="0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58D8B16-68DA-AD80-CCE0-5215FE843D84}"/>
              </a:ext>
            </a:extLst>
          </p:cNvPr>
          <p:cNvSpPr txBox="1"/>
          <p:nvPr/>
        </p:nvSpPr>
        <p:spPr>
          <a:xfrm>
            <a:off x="1491261" y="1573665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마르세休 </a:t>
            </a: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6EB44EC4-BCB2-8A97-9142-09DE5DB471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827" y="1966296"/>
            <a:ext cx="1080000" cy="1080000"/>
          </a:xfrm>
          <a:prstGeom prst="rect">
            <a:avLst/>
          </a:prstGeom>
        </p:spPr>
      </p:pic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EFE0F425-4349-32B2-5EF6-729B8BA81CEC}"/>
              </a:ext>
            </a:extLst>
          </p:cNvPr>
          <p:cNvCxnSpPr>
            <a:cxnSpLocks/>
            <a:stCxn id="12" idx="3"/>
            <a:endCxn id="34" idx="1"/>
          </p:cNvCxnSpPr>
          <p:nvPr/>
        </p:nvCxnSpPr>
        <p:spPr>
          <a:xfrm>
            <a:off x="5303792" y="2506296"/>
            <a:ext cx="1599035" cy="0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BFE2FE0-EF12-2458-3FC2-CC64DB3401F8}"/>
              </a:ext>
            </a:extLst>
          </p:cNvPr>
          <p:cNvSpPr txBox="1"/>
          <p:nvPr/>
        </p:nvSpPr>
        <p:spPr>
          <a:xfrm>
            <a:off x="6925919" y="1560157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선적 </a:t>
            </a:r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347A2371-395F-165B-7EBA-C43B7239BAB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232" y="1966296"/>
            <a:ext cx="1512168" cy="1080000"/>
          </a:xfrm>
          <a:prstGeom prst="rect">
            <a:avLst/>
          </a:prstGeom>
        </p:spPr>
      </p:pic>
      <p:pic>
        <p:nvPicPr>
          <p:cNvPr id="53" name="그림 52">
            <a:extLst>
              <a:ext uri="{FF2B5EF4-FFF2-40B4-BE49-F238E27FC236}">
                <a16:creationId xmlns:a16="http://schemas.microsoft.com/office/drawing/2014/main" id="{9678ECFB-ECA5-BEE2-61F9-BC65958FD02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769893" y="1966296"/>
            <a:ext cx="1080000" cy="1080000"/>
          </a:xfrm>
          <a:prstGeom prst="rect">
            <a:avLst/>
          </a:prstGeom>
        </p:spPr>
      </p:pic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AB908D9-EE41-B818-B801-602FD8D3357F}"/>
              </a:ext>
            </a:extLst>
          </p:cNvPr>
          <p:cNvCxnSpPr>
            <a:cxnSpLocks/>
            <a:stCxn id="53" idx="2"/>
            <a:endCxn id="63" idx="0"/>
          </p:cNvCxnSpPr>
          <p:nvPr/>
        </p:nvCxnSpPr>
        <p:spPr>
          <a:xfrm>
            <a:off x="10309893" y="3046296"/>
            <a:ext cx="0" cy="1233346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그림 62">
            <a:extLst>
              <a:ext uri="{FF2B5EF4-FFF2-40B4-BE49-F238E27FC236}">
                <a16:creationId xmlns:a16="http://schemas.microsoft.com/office/drawing/2014/main" id="{7C6FB1F5-B238-F7F3-00AD-AC117F93C65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893" y="4279642"/>
            <a:ext cx="1080000" cy="10800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575FE7D8-4EDD-7F18-D342-E2CB0C33D904}"/>
              </a:ext>
            </a:extLst>
          </p:cNvPr>
          <p:cNvSpPr txBox="1"/>
          <p:nvPr/>
        </p:nvSpPr>
        <p:spPr>
          <a:xfrm>
            <a:off x="9769893" y="5669253"/>
            <a:ext cx="1227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수입업자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899BC2A-C591-6D9B-5B43-DA1C426F0ED0}"/>
              </a:ext>
            </a:extLst>
          </p:cNvPr>
          <p:cNvSpPr txBox="1"/>
          <p:nvPr/>
        </p:nvSpPr>
        <p:spPr>
          <a:xfrm>
            <a:off x="6902827" y="5669253"/>
            <a:ext cx="1227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도매업자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701E290-6B48-6509-ACA3-42D1BB7EF7D2}"/>
              </a:ext>
            </a:extLst>
          </p:cNvPr>
          <p:cNvSpPr txBox="1"/>
          <p:nvPr/>
        </p:nvSpPr>
        <p:spPr>
          <a:xfrm>
            <a:off x="4223792" y="5669253"/>
            <a:ext cx="1227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소매업자 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EAAFE58-24ED-E4C5-64D0-1AC8ED9328E8}"/>
              </a:ext>
            </a:extLst>
          </p:cNvPr>
          <p:cNvSpPr txBox="1"/>
          <p:nvPr/>
        </p:nvSpPr>
        <p:spPr>
          <a:xfrm>
            <a:off x="1356726" y="5669253"/>
            <a:ext cx="1227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소비자 </a:t>
            </a:r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4ACF5BB4-CF5D-BE94-1D9D-0F236172366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5919" y="4279642"/>
            <a:ext cx="1080000" cy="1080000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CCA30591-A907-031D-934E-D31F6B041C8E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3937525" y="3763257"/>
            <a:ext cx="1800000" cy="1800000"/>
          </a:xfrm>
          <a:prstGeom prst="rect">
            <a:avLst/>
          </a:prstGeom>
        </p:spPr>
      </p:pic>
      <p:pic>
        <p:nvPicPr>
          <p:cNvPr id="84" name="그림 83">
            <a:extLst>
              <a:ext uri="{FF2B5EF4-FFF2-40B4-BE49-F238E27FC236}">
                <a16:creationId xmlns:a16="http://schemas.microsoft.com/office/drawing/2014/main" id="{A38E1DAC-F990-3C46-ACAA-77BD5D6C89C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261" y="4289065"/>
            <a:ext cx="1080000" cy="1080000"/>
          </a:xfrm>
          <a:prstGeom prst="rect">
            <a:avLst/>
          </a:prstGeom>
        </p:spPr>
      </p:pic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F7E2EB2E-8DF7-3796-D281-11A838B0441A}"/>
              </a:ext>
            </a:extLst>
          </p:cNvPr>
          <p:cNvCxnSpPr>
            <a:cxnSpLocks/>
          </p:cNvCxnSpPr>
          <p:nvPr/>
        </p:nvCxnSpPr>
        <p:spPr>
          <a:xfrm flipH="1">
            <a:off x="5447928" y="4869160"/>
            <a:ext cx="1455019" cy="0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id="{54DF807D-431D-5AA8-7685-757730E63FF8}"/>
              </a:ext>
            </a:extLst>
          </p:cNvPr>
          <p:cNvCxnSpPr>
            <a:cxnSpLocks/>
          </p:cNvCxnSpPr>
          <p:nvPr/>
        </p:nvCxnSpPr>
        <p:spPr>
          <a:xfrm flipH="1">
            <a:off x="2639616" y="4869160"/>
            <a:ext cx="1599035" cy="0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AEAA678F-9775-2459-0DE0-133A5F5FF466}"/>
              </a:ext>
            </a:extLst>
          </p:cNvPr>
          <p:cNvCxnSpPr>
            <a:cxnSpLocks/>
          </p:cNvCxnSpPr>
          <p:nvPr/>
        </p:nvCxnSpPr>
        <p:spPr>
          <a:xfrm flipH="1">
            <a:off x="8184232" y="4869160"/>
            <a:ext cx="1599035" cy="0"/>
          </a:xfrm>
          <a:prstGeom prst="straightConnector1">
            <a:avLst/>
          </a:prstGeom>
          <a:ln w="571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A538BFB-8D77-6844-B100-F836744806B0}"/>
              </a:ext>
            </a:extLst>
          </p:cNvPr>
          <p:cNvSpPr txBox="1"/>
          <p:nvPr/>
        </p:nvSpPr>
        <p:spPr>
          <a:xfrm>
            <a:off x="1607571" y="3172326"/>
            <a:ext cx="9636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$88.89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5CD37F-99E8-9F2F-4FE5-439A60A70FCE}"/>
              </a:ext>
            </a:extLst>
          </p:cNvPr>
          <p:cNvSpPr txBox="1"/>
          <p:nvPr/>
        </p:nvSpPr>
        <p:spPr>
          <a:xfrm>
            <a:off x="4281946" y="3172326"/>
            <a:ext cx="116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EXW $132.96</a:t>
            </a:r>
            <a:endParaRPr lang="ko-KR" altLang="en-US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D9096A5C-EDC5-84E6-BC41-DDE0ED05A195}"/>
              </a:ext>
            </a:extLst>
          </p:cNvPr>
          <p:cNvSpPr/>
          <p:nvPr/>
        </p:nvSpPr>
        <p:spPr>
          <a:xfrm>
            <a:off x="5436603" y="1226182"/>
            <a:ext cx="1303149" cy="1203546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49.58%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0EE2D9-D6BB-6DC4-AE51-E39020BE6C64}"/>
              </a:ext>
            </a:extLst>
          </p:cNvPr>
          <p:cNvSpPr txBox="1"/>
          <p:nvPr/>
        </p:nvSpPr>
        <p:spPr>
          <a:xfrm>
            <a:off x="6887942" y="3172326"/>
            <a:ext cx="116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FOB </a:t>
            </a:r>
          </a:p>
          <a:p>
            <a:r>
              <a:rPr lang="en-US" altLang="ko-KR" dirty="0"/>
              <a:t>$133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D9800D-A8AE-90BE-3D9A-3FEFC0894BE7}"/>
              </a:ext>
            </a:extLst>
          </p:cNvPr>
          <p:cNvSpPr txBox="1"/>
          <p:nvPr/>
        </p:nvSpPr>
        <p:spPr>
          <a:xfrm>
            <a:off x="10585727" y="5965523"/>
            <a:ext cx="116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F51C98-DA75-11AF-F532-6A9C7AC4FC94}"/>
              </a:ext>
            </a:extLst>
          </p:cNvPr>
          <p:cNvSpPr txBox="1"/>
          <p:nvPr/>
        </p:nvSpPr>
        <p:spPr>
          <a:xfrm>
            <a:off x="10585727" y="3109797"/>
            <a:ext cx="11659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CIF</a:t>
            </a:r>
          </a:p>
          <a:p>
            <a:r>
              <a:rPr lang="en-US" altLang="ko-KR" dirty="0"/>
              <a:t>$133.04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C72773-22D4-559C-D09C-0C9F6204C22E}"/>
              </a:ext>
            </a:extLst>
          </p:cNvPr>
          <p:cNvSpPr txBox="1"/>
          <p:nvPr/>
        </p:nvSpPr>
        <p:spPr>
          <a:xfrm>
            <a:off x="7060229" y="5965523"/>
            <a:ext cx="116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$198.65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F4677F-9F75-1D23-E3A7-C61236AD5B87}"/>
              </a:ext>
            </a:extLst>
          </p:cNvPr>
          <p:cNvSpPr txBox="1"/>
          <p:nvPr/>
        </p:nvSpPr>
        <p:spPr>
          <a:xfrm>
            <a:off x="4241393" y="5965523"/>
            <a:ext cx="116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$228.44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368110-1E1F-F217-EF30-85863C1BC4E8}"/>
              </a:ext>
            </a:extLst>
          </p:cNvPr>
          <p:cNvSpPr txBox="1"/>
          <p:nvPr/>
        </p:nvSpPr>
        <p:spPr>
          <a:xfrm>
            <a:off x="1506426" y="5965523"/>
            <a:ext cx="1165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$297</a:t>
            </a:r>
          </a:p>
        </p:txBody>
      </p:sp>
    </p:spTree>
    <p:extLst>
      <p:ext uri="{BB962C8B-B14F-4D97-AF65-F5344CB8AC3E}">
        <p14:creationId xmlns:p14="http://schemas.microsoft.com/office/powerpoint/2010/main" val="23476294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44733" y="152636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87488" y="1288473"/>
            <a:ext cx="38164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수출량 </a:t>
            </a:r>
            <a:r>
              <a:rPr lang="en-US" altLang="ko-KR" sz="3600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&amp; </a:t>
            </a:r>
            <a:r>
              <a:rPr lang="ko-KR" altLang="en-US" sz="3600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수입량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4032" y="1288472"/>
            <a:ext cx="4608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수출마진 </a:t>
            </a:r>
            <a:r>
              <a:rPr lang="en-US" altLang="ko-KR" sz="3600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&amp; </a:t>
            </a:r>
            <a:r>
              <a:rPr lang="ko-KR" altLang="en-US" sz="3600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수입마진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27848" y="4149080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>
                <a:solidFill>
                  <a:srgbClr val="0070C0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소비자가격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5440" y="2276872"/>
            <a:ext cx="5040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수출량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  <a:sym typeface="Wingdings" panose="05000000000000000000" pitchFamily="2" charset="2"/>
              </a:rPr>
              <a:t> 40ft X 80  20000</a:t>
            </a:r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  <a:sym typeface="Wingdings" panose="05000000000000000000" pitchFamily="2" charset="2"/>
              </a:rPr>
              <a:t>개</a:t>
            </a:r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  <a:sym typeface="Wingdings" panose="05000000000000000000" pitchFamily="2" charset="2"/>
            </a:endParaRPr>
          </a:p>
          <a:p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  <a:sym typeface="Wingdings" panose="05000000000000000000" pitchFamily="2" charset="2"/>
            </a:endParaRPr>
          </a:p>
          <a:p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  <a:sym typeface="Wingdings" panose="05000000000000000000" pitchFamily="2" charset="2"/>
              </a:rPr>
              <a:t>수출액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  <a:sym typeface="Wingdings" panose="05000000000000000000" pitchFamily="2" charset="2"/>
              </a:rPr>
              <a:t>: 2,660,0000$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2024" y="2205318"/>
            <a:ext cx="5400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수출마진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881,600,$ 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  <a:sym typeface="Wingdings" panose="05000000000000000000" pitchFamily="2" charset="2"/>
              </a:rPr>
              <a:t> 49.58%</a:t>
            </a:r>
          </a:p>
          <a:p>
            <a:endParaRPr lang="en-US" altLang="ko-KR" sz="2400" dirty="0">
              <a:latin typeface="HY견고딕" panose="02030600000101010101" pitchFamily="18" charset="-127"/>
              <a:ea typeface="HY견고딕" panose="02030600000101010101" pitchFamily="18" charset="-127"/>
              <a:sym typeface="Wingdings" panose="05000000000000000000" pitchFamily="2" charset="2"/>
            </a:endParaRPr>
          </a:p>
          <a:p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  <a:sym typeface="Wingdings" panose="05000000000000000000" pitchFamily="2" charset="2"/>
              </a:rPr>
              <a:t>수입마진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  <a:sym typeface="Wingdings" panose="05000000000000000000" pitchFamily="2" charset="2"/>
              </a:rPr>
              <a:t>: 916,800  30%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83832" y="5243604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소비자가격</a:t>
            </a:r>
            <a:r>
              <a:rPr lang="en-US" altLang="ko-KR" sz="2400" dirty="0">
                <a:latin typeface="HY견고딕" panose="02030600000101010101" pitchFamily="18" charset="-127"/>
                <a:ea typeface="HY견고딕" panose="02030600000101010101" pitchFamily="18" charset="-127"/>
              </a:rPr>
              <a:t>: 297$</a:t>
            </a:r>
            <a:endParaRPr lang="ko-KR" altLang="en-US" sz="24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1055440" y="1934804"/>
            <a:ext cx="4608512" cy="1926244"/>
          </a:xfrm>
          <a:prstGeom prst="rect">
            <a:avLst/>
          </a:prstGeom>
          <a:noFill/>
          <a:ln w="38100" cap="flat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312023" y="1934803"/>
            <a:ext cx="4962397" cy="1926244"/>
          </a:xfrm>
          <a:prstGeom prst="rect">
            <a:avLst/>
          </a:prstGeom>
          <a:noFill/>
          <a:ln w="38100" cap="flat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3683732" y="4795411"/>
            <a:ext cx="4608512" cy="1513909"/>
          </a:xfrm>
          <a:prstGeom prst="rect">
            <a:avLst/>
          </a:prstGeom>
          <a:noFill/>
          <a:ln w="38100" cap="flat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914E94E-25D1-F126-6D85-C9EFAF6D79F8}"/>
              </a:ext>
            </a:extLst>
          </p:cNvPr>
          <p:cNvSpPr/>
          <p:nvPr/>
        </p:nvSpPr>
        <p:spPr>
          <a:xfrm>
            <a:off x="695400" y="476672"/>
            <a:ext cx="2592288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수출액</a:t>
            </a:r>
          </a:p>
        </p:txBody>
      </p:sp>
    </p:spTree>
    <p:extLst>
      <p:ext uri="{BB962C8B-B14F-4D97-AF65-F5344CB8AC3E}">
        <p14:creationId xmlns:p14="http://schemas.microsoft.com/office/powerpoint/2010/main" val="37833089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77BE207B-CFF3-EEFD-2E69-B7A73C237E07}"/>
              </a:ext>
            </a:extLst>
          </p:cNvPr>
          <p:cNvSpPr/>
          <p:nvPr/>
        </p:nvSpPr>
        <p:spPr>
          <a:xfrm>
            <a:off x="0" y="-13692"/>
            <a:ext cx="12192000" cy="6871692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CBD8953-3F55-7B9D-2BEE-25C0D17F2B6B}"/>
              </a:ext>
            </a:extLst>
          </p:cNvPr>
          <p:cNvSpPr/>
          <p:nvPr/>
        </p:nvSpPr>
        <p:spPr>
          <a:xfrm>
            <a:off x="0" y="0"/>
            <a:ext cx="321568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5C05C5-50ED-E1D7-D71C-86879FCD6302}"/>
              </a:ext>
            </a:extLst>
          </p:cNvPr>
          <p:cNvSpPr txBox="1"/>
          <p:nvPr/>
        </p:nvSpPr>
        <p:spPr>
          <a:xfrm>
            <a:off x="1919536" y="1700808"/>
            <a:ext cx="122413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0" dirty="0">
                <a:solidFill>
                  <a:schemeClr val="bg1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06</a:t>
            </a:r>
            <a:endParaRPr lang="ko-KR" altLang="en-US" sz="7000" dirty="0">
              <a:solidFill>
                <a:schemeClr val="bg1"/>
              </a:solidFill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948B7C-09C5-0C3E-345C-1C22DBD5901A}"/>
              </a:ext>
            </a:extLst>
          </p:cNvPr>
          <p:cNvSpPr txBox="1"/>
          <p:nvPr/>
        </p:nvSpPr>
        <p:spPr>
          <a:xfrm>
            <a:off x="3738984" y="2636912"/>
            <a:ext cx="7968208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500" dirty="0">
                <a:solidFill>
                  <a:schemeClr val="accent1">
                    <a:lumMod val="50000"/>
                  </a:schemeClr>
                </a:solidFill>
              </a:rPr>
              <a:t>무역 서류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77B5D28-25BA-2C7B-AB56-712D8E0BB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38447"/>
            <a:ext cx="1164437" cy="103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2677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2592288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무역 서류 흐름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4B09261-C352-5808-2748-5AF5EEC07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1018986"/>
            <a:ext cx="10272464" cy="4961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3679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2592288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무역 서류 흐름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A345CB2-100F-9011-B0A2-85A4CC58E19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95400" y="1141271"/>
            <a:ext cx="10274400" cy="49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77334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2592288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무역 서류 흐름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5498120-6FDD-07B8-6707-45735E7A906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1112168"/>
            <a:ext cx="10274400" cy="49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4285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35359" y="332656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사각형: 둥근 모서리 28"/>
          <p:cNvSpPr/>
          <p:nvPr/>
        </p:nvSpPr>
        <p:spPr>
          <a:xfrm>
            <a:off x="695400" y="476672"/>
            <a:ext cx="2592288" cy="432048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OFFER SHEET</a:t>
            </a: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graphicFrame>
        <p:nvGraphicFramePr>
          <p:cNvPr id="7" name="표 6"/>
          <p:cNvGraphicFramePr/>
          <p:nvPr/>
        </p:nvGraphicFramePr>
        <p:xfrm>
          <a:off x="1414177" y="258200"/>
          <a:ext cx="9506359" cy="6355272"/>
        </p:xfrm>
        <a:graphic>
          <a:graphicData uri="http://schemas.openxmlformats.org/drawingml/2006/table">
            <a:tbl>
              <a:tblPr firstRow="1" bandRow="1"/>
              <a:tblGrid>
                <a:gridCol w="25500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0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04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95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935">
                <a:tc gridSpan="4"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3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한컴 바겐세일 B"/>
                          <a:ea typeface="한컴 바겐세일 B"/>
                        </a:rPr>
                        <a:t>MARESEHYU</a:t>
                      </a:r>
                      <a:r>
                        <a:rPr kumimoji="0" lang="ko-KR" altLang="en-US" sz="23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한컴 바겐세일 B"/>
                          <a:ea typeface="한컴 바겐세일 B"/>
                        </a:rPr>
                        <a:t> CO., LTD  </a:t>
                      </a:r>
                      <a:endParaRPr kumimoji="0" lang="ko-KR" altLang="en-US" sz="2300" b="1" i="0" baseline="0">
                        <a:solidFill>
                          <a:srgbClr val="C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538">
                <a:tc gridSpan="4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800" b="0" i="0" baseline="0">
                        <a:solidFill>
                          <a:srgbClr val="969696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3100" b="1" i="0" baseline="0">
                          <a:solidFill>
                            <a:srgbClr val="0000CC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OFFER SHEET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3100" b="0" i="0">
                        <a:solidFill>
                          <a:srgbClr val="969696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 anchor="ctr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526"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Messrs : </a:t>
                      </a:r>
                      <a:r>
                        <a:rPr kumimoji="0" lang="en-US" altLang="ko-KR" sz="2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S&amp;C CO., LTD.</a:t>
                      </a:r>
                    </a:p>
                  </a:txBody>
                  <a:tcPr marT="45728" marB="45728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Our Ref.</a:t>
                      </a:r>
                      <a:endParaRPr kumimoji="0" lang="ko-KR" altLang="en-US" sz="21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TR220825-1</a:t>
                      </a:r>
                    </a:p>
                  </a:txBody>
                  <a:tcPr marT="45728" marB="45728">
                    <a:lnL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5108"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No. 60, Mansan Road, jangnyeong Distirct, Shanghai City, China 200336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21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Date</a:t>
                      </a:r>
                      <a:endParaRPr kumimoji="0" lang="ko-KR" altLang="en-US" sz="21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AUGUST 25, 2022</a:t>
                      </a:r>
                    </a:p>
                  </a:txBody>
                  <a:tcPr marT="45728" marB="45728">
                    <a:lnL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8526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100" b="1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Origin</a:t>
                      </a:r>
                      <a:endParaRPr kumimoji="0" lang="ko-KR" altLang="en-US" sz="2100" b="1" i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Republic of Korea</a:t>
                      </a:r>
                    </a:p>
                  </a:txBody>
                  <a:tcPr marT="45728" marB="45728">
                    <a:lnL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8526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100" b="1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Shipment</a:t>
                      </a:r>
                      <a:endParaRPr kumimoji="0" lang="ko-KR" altLang="en-US" sz="2100" b="1" i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100" b="1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Within 30days after receipt of your L/C</a:t>
                      </a:r>
                    </a:p>
                  </a:txBody>
                  <a:tcPr marT="45728" marB="45728">
                    <a:lnL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8526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100" b="1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Loading Port</a:t>
                      </a:r>
                      <a:endParaRPr kumimoji="0" lang="ko-KR" altLang="en-US" sz="2100" b="1" i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Incheon, Korea</a:t>
                      </a:r>
                    </a:p>
                  </a:txBody>
                  <a:tcPr marT="45728" marB="45728">
                    <a:lnL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8526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100" b="1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Destination</a:t>
                      </a:r>
                      <a:endParaRPr kumimoji="0" lang="ko-KR" altLang="en-US" sz="2100" b="1" i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ShangHai, China</a:t>
                      </a:r>
                    </a:p>
                  </a:txBody>
                  <a:tcPr marT="45728" marB="45728">
                    <a:lnL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8526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100" b="1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Packing</a:t>
                      </a:r>
                      <a:endParaRPr kumimoji="0" lang="ko-KR" altLang="en-US" sz="2100" b="1" i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Export Standard Packing</a:t>
                      </a:r>
                      <a:endParaRPr kumimoji="0" lang="ko-KR" altLang="en-US" sz="21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8526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100" b="1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Payment</a:t>
                      </a:r>
                      <a:endParaRPr kumimoji="0" lang="ko-KR" altLang="en-US" sz="2100" b="1" i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By an Irrevocable L/C at sight</a:t>
                      </a:r>
                    </a:p>
                  </a:txBody>
                  <a:tcPr marT="45728" marB="45728">
                    <a:lnL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526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100" b="1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Validity</a:t>
                      </a:r>
                      <a:endParaRPr kumimoji="0" lang="ko-KR" altLang="en-US" sz="2100" b="1" i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September 15, 2022</a:t>
                      </a:r>
                    </a:p>
                  </a:txBody>
                  <a:tcPr marT="45728" marB="45728">
                    <a:lnL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8526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Advising bank</a:t>
                      </a:r>
                      <a:endParaRPr kumimoji="0" lang="ko-KR" altLang="en-US" sz="2100" b="1" i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IBK BANK INCHEON BRANCH</a:t>
                      </a:r>
                    </a:p>
                  </a:txBody>
                  <a:tcPr marT="45728" marB="45728">
                    <a:lnL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35360" y="260648"/>
            <a:ext cx="11521280" cy="65973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사각형: 둥근 모서리 28"/>
          <p:cNvSpPr/>
          <p:nvPr/>
        </p:nvSpPr>
        <p:spPr>
          <a:xfrm>
            <a:off x="695400" y="476672"/>
            <a:ext cx="2592288" cy="432048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OFFER SHEET</a:t>
            </a: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graphicFrame>
        <p:nvGraphicFramePr>
          <p:cNvPr id="8" name="표 7"/>
          <p:cNvGraphicFramePr/>
          <p:nvPr/>
        </p:nvGraphicFramePr>
        <p:xfrm>
          <a:off x="1127448" y="1065022"/>
          <a:ext cx="9106130" cy="3769350"/>
        </p:xfrm>
        <a:graphic>
          <a:graphicData uri="http://schemas.openxmlformats.org/drawingml/2006/table">
            <a:tbl>
              <a:tblPr firstRow="1" bandRow="1"/>
              <a:tblGrid>
                <a:gridCol w="69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00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9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8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21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1598">
                <a:tc gridSpan="5">
                  <a:txBody>
                    <a:bodyPr/>
                    <a:lstStyle/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           Unit : </a:t>
                      </a:r>
                      <a:r>
                        <a:rPr kumimoji="0" lang="ko-KR" altLang="en-US" sz="2200" b="1" i="0" baseline="0">
                          <a:solidFill>
                            <a:srgbClr val="CC33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FOB </a:t>
                      </a:r>
                      <a:r>
                        <a:rPr kumimoji="0" lang="en-US" altLang="ko-KR" sz="2200" b="1" i="0" baseline="0">
                          <a:solidFill>
                            <a:srgbClr val="CC33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INCHEON</a:t>
                      </a:r>
                      <a:r>
                        <a:rPr kumimoji="0" lang="ko-KR" altLang="en-US" sz="2200" b="1" i="0" baseline="0">
                          <a:solidFill>
                            <a:srgbClr val="CC33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IN USD/PC</a:t>
                      </a:r>
                    </a:p>
                  </a:txBody>
                  <a:tcPr marL="0" marR="0" marT="0" marB="0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28" marB="45728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28" marB="45728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28" marB="45728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28" marB="45728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940"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No.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Commodity &amp; Description</a:t>
                      </a:r>
                      <a:endParaRPr kumimoji="0" lang="ko-KR" altLang="en-US" sz="2200" b="1" i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Q’ty</a:t>
                      </a:r>
                      <a:endParaRPr kumimoji="0" lang="ko-KR" altLang="en-US" sz="2200" b="1" i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U/Prc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Amount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644"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</a:p>
                  </a:txBody>
                  <a:tcPr marL="0" marR="0" marT="0" marB="0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hyu dream mini drying machine(organic white)</a:t>
                      </a:r>
                    </a:p>
                  </a:txBody>
                  <a:tcPr marL="0" marR="0" marT="0" marB="0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10,000ea</a:t>
                      </a:r>
                    </a:p>
                  </a:txBody>
                  <a:tcPr marL="0" marR="0" marT="0" marB="0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$133</a:t>
                      </a:r>
                    </a:p>
                  </a:txBody>
                  <a:tcPr marL="0" marR="0" marT="0" marB="0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$1,330,000</a:t>
                      </a:r>
                    </a:p>
                  </a:txBody>
                  <a:tcPr marL="0" marR="0" marT="0" marB="0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644"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2</a:t>
                      </a:r>
                    </a:p>
                  </a:txBody>
                  <a:tcPr marL="0" marR="0" marT="0" marB="0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hyu dream mini drying machine(organic green)</a:t>
                      </a:r>
                    </a:p>
                  </a:txBody>
                  <a:tcPr marL="0" marR="0" marT="0" marB="0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10,000ea</a:t>
                      </a:r>
                    </a:p>
                  </a:txBody>
                  <a:tcPr marL="0" marR="0" marT="0" marB="0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$133</a:t>
                      </a: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$1,330,000</a:t>
                      </a:r>
                    </a:p>
                  </a:txBody>
                  <a:tcPr marL="0" marR="0" marT="0" marB="0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940"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940"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6644">
                <a:tc gridSpan="2"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TOTAL</a:t>
                      </a:r>
                    </a:p>
                  </a:txBody>
                  <a:tcPr marL="0" marR="0" marT="0" marB="0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28" marB="45728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20,000ea</a:t>
                      </a:r>
                    </a:p>
                  </a:txBody>
                  <a:tcPr marL="0" marR="0" marT="0" marB="0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$2,660,000</a:t>
                      </a:r>
                    </a:p>
                  </a:txBody>
                  <a:tcPr marL="0" marR="0" marT="0" marB="0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/>
          <p:nvPr/>
        </p:nvGraphicFramePr>
        <p:xfrm>
          <a:off x="3017524" y="5120616"/>
          <a:ext cx="9106130" cy="3474768"/>
        </p:xfrm>
        <a:graphic>
          <a:graphicData uri="http://schemas.openxmlformats.org/drawingml/2006/table">
            <a:tbl>
              <a:tblPr firstRow="1" bandRow="1"/>
              <a:tblGrid>
                <a:gridCol w="44312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74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60661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Accepted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S&amp;C CO., LTD.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H.S Myeong / CEO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 </a:t>
                      </a:r>
                      <a:endParaRPr kumimoji="0" lang="en-US" altLang="ko-KR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</a:t>
                      </a: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Maresehyu Co., Ltd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</a:t>
                      </a: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3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Brush Script MT"/>
                          <a:ea typeface="맑은 고딕"/>
                        </a:rPr>
                        <a:t>                    </a:t>
                      </a:r>
                      <a:endParaRPr kumimoji="0" lang="ko-KR" altLang="en-US" sz="2400" b="1" i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  <a:ea typeface="맑은 고딕"/>
                      </a:endParaRPr>
                    </a:p>
                  </a:txBody>
                  <a:tcPr marL="91439" marR="91439" marT="45744" marB="457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560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44" marB="457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400" b="1" i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  <a:ea typeface="맑은 고딕"/>
                      </a:endParaRPr>
                    </a:p>
                  </a:txBody>
                  <a:tcPr marL="91439" marR="91439" marT="45744" marB="45744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0" name="그림 29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9408368" y="5596009"/>
            <a:ext cx="780952" cy="353271"/>
          </a:xfrm>
          <a:prstGeom prst="rect">
            <a:avLst/>
          </a:prstGeom>
        </p:spPr>
      </p:pic>
      <p:sp>
        <p:nvSpPr>
          <p:cNvPr id="32" name="TextBox 5"/>
          <p:cNvSpPr txBox="1"/>
          <p:nvPr/>
        </p:nvSpPr>
        <p:spPr>
          <a:xfrm>
            <a:off x="7518306" y="6309320"/>
            <a:ext cx="3330222" cy="276133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en-US" altLang="ko-KR"/>
              <a:t>PRESIDENT SUNG MIN CHO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164437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P/O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9A4D411-C93C-F105-08E7-26C63EA15A48}"/>
              </a:ext>
            </a:extLst>
          </p:cNvPr>
          <p:cNvGraphicFramePr/>
          <p:nvPr/>
        </p:nvGraphicFramePr>
        <p:xfrm>
          <a:off x="2410932" y="416279"/>
          <a:ext cx="8329100" cy="5731391"/>
        </p:xfrm>
        <a:graphic>
          <a:graphicData uri="http://schemas.openxmlformats.org/drawingml/2006/table">
            <a:tbl>
              <a:tblPr firstRow="1" bandRow="1"/>
              <a:tblGrid>
                <a:gridCol w="1878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8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38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77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4376"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4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S&amp;C CO., LTD.</a:t>
                      </a:r>
                      <a:endParaRPr kumimoji="0" lang="ko-KR" altLang="en-US" sz="2400" b="1" i="0">
                        <a:solidFill>
                          <a:srgbClr val="C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800" b="1" i="0" baseline="0" dirty="0">
                          <a:solidFill>
                            <a:srgbClr val="0000CC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PURCHASE</a:t>
                      </a:r>
                    </a:p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800" b="1" i="0" baseline="0" dirty="0">
                          <a:solidFill>
                            <a:srgbClr val="0000CC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ORDER</a:t>
                      </a:r>
                      <a:endParaRPr kumimoji="0" lang="ko-KR" altLang="en-US" sz="2800" b="1" i="0" dirty="0">
                        <a:solidFill>
                          <a:srgbClr val="0000CC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948"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Messrs</a:t>
                      </a: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. </a:t>
                      </a:r>
                    </a:p>
                  </a:txBody>
                  <a:tcPr marT="45709" marB="45709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P/O No.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 dirty="0">
                          <a:solidFill>
                            <a:srgbClr val="211E54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DV20220826-1</a:t>
                      </a:r>
                    </a:p>
                  </a:txBody>
                  <a:tcPr marT="45709" marB="45709">
                    <a:lnL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948">
                <a:tc gridSpan="2">
                  <a:txBody>
                    <a:bodyPr/>
                    <a:lstStyle/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Maresehyu Co., Ltd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Date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211E54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Aug 26.2022</a:t>
                      </a:r>
                    </a:p>
                  </a:txBody>
                  <a:tcPr marT="45709" marB="45709">
                    <a:lnL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523"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3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T="45709" marB="45709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300" b="1" i="0" baseline="0">
                        <a:solidFill>
                          <a:srgbClr val="969696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T="45709" marB="45709">
                    <a:lnL>
                      <a:noFill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948">
                <a:tc rowSpan="4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Description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hyu dream mini drying machine(organic white)</a:t>
                      </a:r>
                    </a:p>
                  </a:txBody>
                  <a:tcPr marT="45709" marB="45709">
                    <a:lnL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385">
                <a:tc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hyu</a:t>
                      </a:r>
                      <a:r>
                        <a:rPr kumimoji="0" lang="en-US" altLang="ko-KR" sz="2200" b="1" i="0" baseline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dream mini drying machine(organic green)</a:t>
                      </a:r>
                    </a:p>
                  </a:txBody>
                  <a:tcPr marT="45709" marB="45709">
                    <a:lnL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948">
                <a:tc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948">
                <a:tc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T="45709" marB="45709">
                    <a:lnL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948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Packing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Export Standard Packing</a:t>
                      </a:r>
                    </a:p>
                  </a:txBody>
                  <a:tcPr marT="45709" marB="45709">
                    <a:lnL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5385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Quantity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20,000pcs</a:t>
                      </a:r>
                    </a:p>
                  </a:txBody>
                  <a:tcPr marT="45709" marB="45709">
                    <a:lnL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948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Price terms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FOB Incheon, KOREA</a:t>
                      </a:r>
                    </a:p>
                  </a:txBody>
                  <a:tcPr marT="45709" marB="45709">
                    <a:lnL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6948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Unit Price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$133</a:t>
                      </a:r>
                    </a:p>
                  </a:txBody>
                  <a:tcPr marT="45709" marB="45709">
                    <a:lnL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09" marB="4570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27190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사각형: 둥근 모서리 28"/>
          <p:cNvSpPr/>
          <p:nvPr/>
        </p:nvSpPr>
        <p:spPr>
          <a:xfrm>
            <a:off x="695400" y="476672"/>
            <a:ext cx="1164437" cy="432048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P/O</a:t>
            </a: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graphicFrame>
        <p:nvGraphicFramePr>
          <p:cNvPr id="3" name="표 2"/>
          <p:cNvGraphicFramePr/>
          <p:nvPr/>
        </p:nvGraphicFramePr>
        <p:xfrm>
          <a:off x="2017720" y="188308"/>
          <a:ext cx="8326752" cy="6509023"/>
        </p:xfrm>
        <a:graphic>
          <a:graphicData uri="http://schemas.openxmlformats.org/drawingml/2006/table">
            <a:tbl>
              <a:tblPr firstRow="1" bandRow="1"/>
              <a:tblGrid>
                <a:gridCol w="19938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5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85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3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948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Amount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USD2,660,000</a:t>
                      </a:r>
                    </a:p>
                  </a:txBody>
                  <a:tcPr marL="91439" marR="91439" marT="45719" marB="45719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742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Loading Port</a:t>
                      </a:r>
                    </a:p>
                  </a:txBody>
                  <a:tcPr marL="91439" marR="91439" marT="45719" marB="45719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Incheon, Korea</a:t>
                      </a: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948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Destination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Shanghai, China</a:t>
                      </a:r>
                    </a:p>
                  </a:txBody>
                  <a:tcPr marT="45728" marB="45728">
                    <a:lnL w="9544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948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Payment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By an Irrevocable L/C at sight</a:t>
                      </a: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948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Shipment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Within 22.09.30</a:t>
                      </a:r>
                    </a:p>
                  </a:txBody>
                  <a:tcPr marT="45728" marB="45728">
                    <a:lnL w="9544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161616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28" marB="45728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211E54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5385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Remarks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211E54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948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948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75037"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3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  <a:ea typeface="맑은 고딕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4099">
                <a:tc gridSpan="4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S&amp;C CO., LTD.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H.S Myeong / CEO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2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</a:t>
                      </a: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Authorized by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91439" marR="91439" marT="45719" marB="45719">
                    <a:lnL>
                      <a:noFill/>
                    </a:lnL>
                    <a:lnR>
                      <a:noFill/>
                    </a:lnR>
                    <a:lnT w="954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0" name="그림 29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7207836" y="5191490"/>
            <a:ext cx="1901194" cy="1251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728192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SWIFT</a:t>
            </a:r>
            <a:r>
              <a:rPr lang="ko-KR" altLang="en-US" dirty="0"/>
              <a:t> </a:t>
            </a:r>
            <a:r>
              <a:rPr lang="en-US" altLang="ko-KR" dirty="0"/>
              <a:t>L/C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2955BE-60DD-62D3-E842-DB459E89087C}"/>
              </a:ext>
            </a:extLst>
          </p:cNvPr>
          <p:cNvSpPr txBox="1"/>
          <p:nvPr/>
        </p:nvSpPr>
        <p:spPr>
          <a:xfrm>
            <a:off x="3937290" y="239959"/>
            <a:ext cx="4918752" cy="5728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ctr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en-US" altLang="ko-KR" sz="32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t>SWIFT </a:t>
            </a:r>
            <a:r>
              <a:rPr kumimoji="1" lang="ko-KR" altLang="en-US" sz="3200" b="1" i="0" baseline="0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t>L</a:t>
            </a:r>
            <a:r>
              <a:rPr kumimoji="1" lang="ko-KR" altLang="en-US" sz="32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t>/C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93E48B2-372F-549F-E9B5-1DF7503986F6}"/>
              </a:ext>
            </a:extLst>
          </p:cNvPr>
          <p:cNvGraphicFramePr/>
          <p:nvPr/>
        </p:nvGraphicFramePr>
        <p:xfrm>
          <a:off x="2377757" y="1020461"/>
          <a:ext cx="8326755" cy="5378947"/>
        </p:xfrm>
        <a:graphic>
          <a:graphicData uri="http://schemas.openxmlformats.org/drawingml/2006/table">
            <a:tbl>
              <a:tblPr firstRow="1" bandRow="1"/>
              <a:tblGrid>
                <a:gridCol w="8326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78947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en-US" altLang="ko-KR" b="1" i="0" baseline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IBK BANK SUWON BRANCH</a:t>
                      </a:r>
                      <a:r>
                        <a:rPr kumimoji="0" lang="ko-KR" altLang="en-US" b="1" i="0" baseline="0" dirty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    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Received</a:t>
                      </a: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kumimoji="0" lang="ko-KR" altLang="en-US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from</a:t>
                      </a: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	</a:t>
                      </a:r>
                      <a:r>
                        <a:rPr kumimoji="0" lang="en-US" altLang="ko-KR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THE Bank OF CHINA SHANGHAI BRANCH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endParaRPr kumimoji="0" lang="ko-KR" altLang="en-US" b="0" i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:40A	</a:t>
                      </a:r>
                      <a:r>
                        <a:rPr kumimoji="0" lang="ko-KR" altLang="en-US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form</a:t>
                      </a: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of </a:t>
                      </a:r>
                      <a:r>
                        <a:rPr kumimoji="0" lang="ko-KR" altLang="en-US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documentary</a:t>
                      </a: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kumimoji="0" lang="ko-KR" altLang="en-US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credit</a:t>
                      </a: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: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	IRREVOCABLE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:20	</a:t>
                      </a:r>
                      <a:r>
                        <a:rPr kumimoji="0" lang="ko-KR" altLang="en-US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documentary</a:t>
                      </a: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kumimoji="0" lang="ko-KR" altLang="en-US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credit</a:t>
                      </a: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kumimoji="0" lang="ko-KR" altLang="en-US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no</a:t>
                      </a: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.: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	</a:t>
                      </a:r>
                      <a:r>
                        <a:rPr kumimoji="0" lang="ko-KR" altLang="en-US" b="1" i="0" baseline="0" dirty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MGK2</a:t>
                      </a:r>
                      <a:r>
                        <a:rPr kumimoji="0" lang="en-US" altLang="ko-KR" b="1" i="0" baseline="0" dirty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20825.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:31C	</a:t>
                      </a:r>
                      <a:r>
                        <a:rPr kumimoji="0" lang="ko-KR" altLang="en-US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date</a:t>
                      </a: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of </a:t>
                      </a:r>
                      <a:r>
                        <a:rPr kumimoji="0" lang="ko-KR" altLang="en-US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issue</a:t>
                      </a: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: </a:t>
                      </a:r>
                      <a:r>
                        <a:rPr kumimoji="0" lang="ko-KR" altLang="en-US" b="1" i="0" baseline="0" dirty="0" err="1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Aug</a:t>
                      </a:r>
                      <a:r>
                        <a:rPr kumimoji="0" lang="ko-KR" altLang="en-US" b="1" i="0" baseline="0" dirty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. </a:t>
                      </a:r>
                      <a:r>
                        <a:rPr kumimoji="0" lang="en-US" altLang="ko-KR" b="1" i="0" baseline="0" dirty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31</a:t>
                      </a:r>
                      <a:r>
                        <a:rPr kumimoji="0" lang="ko-KR" altLang="en-US" b="1" i="0" baseline="0" dirty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, 2022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:40E	</a:t>
                      </a:r>
                      <a:r>
                        <a:rPr kumimoji="0" lang="ko-KR" altLang="en-US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applicable</a:t>
                      </a: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kumimoji="0" lang="ko-KR" altLang="en-US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Rules</a:t>
                      </a: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: UCP LATEST VERSION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:31D	</a:t>
                      </a:r>
                      <a:r>
                        <a:rPr kumimoji="0" lang="ko-KR" altLang="en-US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date</a:t>
                      </a: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and </a:t>
                      </a:r>
                      <a:r>
                        <a:rPr kumimoji="0" lang="ko-KR" altLang="en-US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place</a:t>
                      </a: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of </a:t>
                      </a:r>
                      <a:r>
                        <a:rPr kumimoji="0" lang="ko-KR" altLang="en-US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expiry</a:t>
                      </a: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: </a:t>
                      </a:r>
                      <a:r>
                        <a:rPr kumimoji="0" lang="en-US" altLang="ko-KR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221010 KOREA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:50	</a:t>
                      </a:r>
                      <a:r>
                        <a:rPr kumimoji="0" lang="ko-KR" altLang="en-US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applicant</a:t>
                      </a: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:</a:t>
                      </a:r>
                      <a:r>
                        <a:rPr kumimoji="0" lang="en-US" altLang="ko-KR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i="0" baseline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S&amp;C CO., LTD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i="0" baseline="0" dirty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i="0" baseline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No. 60, </a:t>
                      </a:r>
                      <a:r>
                        <a:rPr kumimoji="0" lang="en-US" altLang="ko-KR" i="0" baseline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Mansan</a:t>
                      </a:r>
                      <a:r>
                        <a:rPr kumimoji="0" lang="en-US" altLang="ko-KR" i="0" baseline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Road, </a:t>
                      </a:r>
                      <a:r>
                        <a:rPr kumimoji="0" lang="en-US" altLang="ko-KR" i="0" baseline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jangnyeong</a:t>
                      </a:r>
                      <a:r>
                        <a:rPr kumimoji="0" lang="en-US" altLang="ko-KR" i="0" baseline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district, Shanghai City, China 200336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b="0" i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	</a:t>
                      </a:r>
                      <a:endParaRPr kumimoji="0" lang="ko-KR" altLang="en-US" b="1" i="0" dirty="0">
                        <a:solidFill>
                          <a:srgbClr val="0000FF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687" marB="45687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66291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728192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SWIFT</a:t>
            </a:r>
            <a:r>
              <a:rPr lang="ko-KR" altLang="en-US" dirty="0"/>
              <a:t> </a:t>
            </a:r>
            <a:r>
              <a:rPr lang="en-US" altLang="ko-KR" dirty="0"/>
              <a:t>L/C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1347E3D-3E96-F510-1A3E-C9B62456121E}"/>
              </a:ext>
            </a:extLst>
          </p:cNvPr>
          <p:cNvSpPr txBox="1"/>
          <p:nvPr/>
        </p:nvSpPr>
        <p:spPr>
          <a:xfrm>
            <a:off x="3792272" y="203789"/>
            <a:ext cx="4918752" cy="5728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ctr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en-US" altLang="ko-KR" sz="32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t>SWIFT </a:t>
            </a:r>
            <a:r>
              <a:rPr kumimoji="1" lang="ko-KR" altLang="en-US" sz="3200" b="1" i="0" baseline="0" dirty="0" err="1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t>L</a:t>
            </a:r>
            <a:r>
              <a:rPr kumimoji="1" lang="ko-KR" altLang="en-US" sz="32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t>/C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F28E1DC-CACF-BF3F-583E-3C0B367711DC}"/>
              </a:ext>
            </a:extLst>
          </p:cNvPr>
          <p:cNvGraphicFramePr/>
          <p:nvPr/>
        </p:nvGraphicFramePr>
        <p:xfrm>
          <a:off x="2449765" y="1080745"/>
          <a:ext cx="8326755" cy="5374278"/>
        </p:xfrm>
        <a:graphic>
          <a:graphicData uri="http://schemas.openxmlformats.org/drawingml/2006/table">
            <a:tbl>
              <a:tblPr firstRow="1" bandRow="1"/>
              <a:tblGrid>
                <a:gridCol w="8326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74278">
                <a:tc>
                  <a:txBody>
                    <a:bodyPr/>
                    <a:lstStyle/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:59	</a:t>
                      </a:r>
                      <a:r>
                        <a:rPr kumimoji="0" lang="ko-KR" altLang="en-US" sz="2000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beneficiary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: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000" b="0" i="0" baseline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Maresehyu</a:t>
                      </a:r>
                      <a:r>
                        <a:rPr kumimoji="0" lang="en-US" altLang="ko-KR" sz="2000" b="0" i="0" baseline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Co., Ltd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000" b="0" i="0" baseline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129, Samsung-</a:t>
                      </a:r>
                      <a:r>
                        <a:rPr kumimoji="0" lang="en-US" altLang="ko-KR" sz="2000" b="0" i="0" baseline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ro</a:t>
                      </a:r>
                      <a:r>
                        <a:rPr kumimoji="0" lang="en-US" altLang="ko-KR" sz="2000" b="0" i="0" baseline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277beon-gil, </a:t>
                      </a:r>
                      <a:r>
                        <a:rPr kumimoji="0" lang="en-US" altLang="ko-KR" sz="2000" b="0" i="0" baseline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Yeongtong-gu</a:t>
                      </a:r>
                      <a:r>
                        <a:rPr kumimoji="0" lang="en-US" altLang="ko-KR" sz="2000" b="0" i="0" baseline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, Suwon-</a:t>
                      </a:r>
                      <a:r>
                        <a:rPr kumimoji="0" lang="en-US" altLang="ko-KR" sz="2000" b="0" i="0" baseline="0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si</a:t>
                      </a:r>
                      <a:r>
                        <a:rPr kumimoji="0" lang="en-US" altLang="ko-KR" sz="2000" b="0" i="0" baseline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, Gyeonggi-do, Republic of Korea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	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:32B	</a:t>
                      </a:r>
                      <a:r>
                        <a:rPr kumimoji="0" lang="ko-KR" altLang="en-US" sz="2000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currency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kumimoji="0" lang="ko-KR" altLang="en-US" sz="2000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code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kumimoji="0" lang="ko-KR" altLang="en-US" sz="2000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amount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: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	</a:t>
                      </a:r>
                      <a:r>
                        <a:rPr kumimoji="0" lang="ko-KR" altLang="en-US" sz="2000" b="0" i="0" baseline="0" dirty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US</a:t>
                      </a:r>
                      <a:r>
                        <a:rPr kumimoji="0" lang="en-US" altLang="ko-KR" sz="2000" b="0" i="0" baseline="0" dirty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Dollar 2,660,000(USD 2,660,000)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:41D	</a:t>
                      </a:r>
                      <a:r>
                        <a:rPr kumimoji="0" lang="ko-KR" altLang="en-US" sz="2000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available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kumimoji="0" lang="ko-KR" altLang="en-US" sz="2000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with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kumimoji="0" lang="ko-KR" altLang="en-US" sz="2000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by-name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. </a:t>
                      </a:r>
                      <a:r>
                        <a:rPr kumimoji="0" lang="ko-KR" altLang="en-US" sz="2000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address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: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	ANY BANK</a:t>
                      </a:r>
                      <a:r>
                        <a:rPr kumimoji="0" lang="en-US" altLang="ko-KR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BY NEGOTIATION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:42C	</a:t>
                      </a:r>
                      <a:r>
                        <a:rPr kumimoji="0" lang="ko-KR" altLang="en-US" sz="2000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drafts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kumimoji="0" lang="ko-KR" altLang="en-US" sz="2000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at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: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	DRAFTS TO BE DRAWN </a:t>
                      </a:r>
                      <a:r>
                        <a:rPr kumimoji="0" lang="ko-KR" altLang="en-US" sz="2000" b="1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AT SIGHT 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FOR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	FULL INVOICE VALUE</a:t>
                      </a:r>
                    </a:p>
                  </a:txBody>
                  <a:tcPr marT="45687" marB="45687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11856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사각형: 둥근 모서리 28"/>
          <p:cNvSpPr/>
          <p:nvPr/>
        </p:nvSpPr>
        <p:spPr>
          <a:xfrm>
            <a:off x="695400" y="476672"/>
            <a:ext cx="1728192" cy="432048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SWIFT</a:t>
            </a:r>
            <a:r>
              <a:rPr lang="ko-KR" altLang="en-US"/>
              <a:t> </a:t>
            </a:r>
            <a:r>
              <a:rPr lang="en-US" altLang="ko-KR"/>
              <a:t>L/C</a:t>
            </a: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84093" y="252016"/>
            <a:ext cx="4918752" cy="57282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ctr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en-US" altLang="ko-KR" sz="3200" b="1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t>SWIFT </a:t>
            </a:r>
            <a:r>
              <a:rPr kumimoji="1" lang="ko-KR" altLang="en-US" sz="3200" b="1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t>L/C</a:t>
            </a:r>
          </a:p>
        </p:txBody>
      </p:sp>
      <p:graphicFrame>
        <p:nvGraphicFramePr>
          <p:cNvPr id="7" name="표 6"/>
          <p:cNvGraphicFramePr/>
          <p:nvPr/>
        </p:nvGraphicFramePr>
        <p:xfrm>
          <a:off x="2377757" y="972233"/>
          <a:ext cx="8326755" cy="5311074"/>
        </p:xfrm>
        <a:graphic>
          <a:graphicData uri="http://schemas.openxmlformats.org/drawingml/2006/table">
            <a:tbl>
              <a:tblPr firstRow="1" bandRow="1"/>
              <a:tblGrid>
                <a:gridCol w="8326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10813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:42D	drawee name and address :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	</a:t>
                      </a:r>
                      <a:r>
                        <a:rPr kumimoji="0" lang="en-US" altLang="ko-KR" sz="20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The Bank of CHINA Shanghai branch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:43P	partial shipments :**</a:t>
                      </a:r>
                      <a:r>
                        <a:rPr kumimoji="0" lang="en-US" altLang="ko-KR" sz="20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PROHIBITED</a:t>
                      </a:r>
                      <a:r>
                        <a:rPr kumimoji="0" lang="ko-KR" altLang="en-US" sz="20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:43T	transshipment :**PROHIBITED**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:44E	loading/dispatch/taking charge at/from :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	</a:t>
                      </a:r>
                      <a:r>
                        <a:rPr kumimoji="0" lang="en-US" altLang="ko-KR" sz="20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INCHEON</a:t>
                      </a:r>
                      <a:r>
                        <a:rPr kumimoji="0" lang="ko-KR" altLang="en-US" sz="20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PORT</a:t>
                      </a:r>
                      <a:r>
                        <a:rPr kumimoji="0" lang="en-US" altLang="ko-KR" sz="20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, </a:t>
                      </a:r>
                      <a:r>
                        <a:rPr kumimoji="0" lang="ko-KR" altLang="en-US" sz="20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KOREA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:44F	</a:t>
                      </a:r>
                      <a:r>
                        <a:rPr kumimoji="0" lang="en-US" altLang="ko-KR" sz="20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Port of Discharge/Airport of Destination</a:t>
                      </a:r>
                      <a:r>
                        <a:rPr kumimoji="0" lang="ko-KR" altLang="en-US" sz="20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: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	</a:t>
                      </a:r>
                      <a:r>
                        <a:rPr kumimoji="0" lang="en-US" altLang="ko-KR" sz="20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SHANGHAI, CHINA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:44C	Latest date of ship :</a:t>
                      </a:r>
                      <a:r>
                        <a:rPr kumimoji="0" lang="en-US" altLang="ko-KR" sz="20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kumimoji="0" lang="en-US" altLang="ko-KR" sz="2000" b="1" i="0" baseline="0">
                          <a:solidFill>
                            <a:srgbClr val="FF0000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22</a:t>
                      </a:r>
                      <a:r>
                        <a:rPr kumimoji="0" lang="en-US" altLang="ko-KR" sz="20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0930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:45A	description of  goods and/or services :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en-US" altLang="ko-KR" sz="20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HYU DREAM mini drying machine 10,000ea at USD133.00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en-US" altLang="ko-KR" sz="20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PRICE TERM: FOB INCHEON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en-US" altLang="ko-KR" sz="20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TRADE TERMS: FOB INCHEON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687" marB="45687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B7D4796-14FA-96C1-461C-42E3B2DA870D}"/>
              </a:ext>
            </a:extLst>
          </p:cNvPr>
          <p:cNvSpPr/>
          <p:nvPr/>
        </p:nvSpPr>
        <p:spPr>
          <a:xfrm>
            <a:off x="695400" y="476672"/>
            <a:ext cx="1728192" cy="432048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SWIFT</a:t>
            </a:r>
            <a:r>
              <a:rPr lang="ko-KR" altLang="en-US" dirty="0"/>
              <a:t> </a:t>
            </a:r>
            <a:r>
              <a:rPr lang="en-US" altLang="ko-KR" dirty="0"/>
              <a:t>L/C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10D02-9B93-1774-3421-A21D7B571E21}"/>
              </a:ext>
            </a:extLst>
          </p:cNvPr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8EE3434-80C4-9428-4A01-B03327D40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877E8A-4550-25FF-8E5B-33C7578C61B9}"/>
              </a:ext>
            </a:extLst>
          </p:cNvPr>
          <p:cNvSpPr txBox="1"/>
          <p:nvPr/>
        </p:nvSpPr>
        <p:spPr>
          <a:xfrm>
            <a:off x="3818094" y="264073"/>
            <a:ext cx="4918751" cy="5722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ctr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en-US" altLang="ko-KR" sz="3200" b="1" i="0" baseline="0" dirty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t>SWIFT L/C </a:t>
            </a:r>
            <a:endParaRPr kumimoji="1" lang="ko-KR" altLang="en-US" sz="3200" b="1" i="0" baseline="0" dirty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  <a:cs typeface="+mn-cs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6BB91D6-58A0-6CC7-7C8A-CA3E64A00A2B}"/>
              </a:ext>
            </a:extLst>
          </p:cNvPr>
          <p:cNvGraphicFramePr/>
          <p:nvPr/>
        </p:nvGraphicFramePr>
        <p:xfrm>
          <a:off x="2453179" y="982393"/>
          <a:ext cx="8323341" cy="5286979"/>
        </p:xfrm>
        <a:graphic>
          <a:graphicData uri="http://schemas.openxmlformats.org/drawingml/2006/table">
            <a:tbl>
              <a:tblPr firstRow="1" bandRow="1"/>
              <a:tblGrid>
                <a:gridCol w="8323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86979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** :46A	</a:t>
                      </a:r>
                      <a:r>
                        <a:rPr kumimoji="0" lang="ko-KR" altLang="en-US" sz="2000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documents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r>
                        <a:rPr kumimoji="0" lang="ko-KR" altLang="en-US" sz="2000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required</a:t>
                      </a:r>
                      <a:endParaRPr kumimoji="0" lang="ko-KR" altLang="en-US" sz="2000" b="0" i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+	SIGNED COMMERCIAL INVOICE IN TRIPLICATE.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	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+	SIGNED PACKING LIST IN TRIPLICATE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endParaRPr kumimoji="0" lang="ko-KR" altLang="en-US" sz="2000" b="0" i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+	FULL SET </a:t>
                      </a:r>
                      <a:r>
                        <a:rPr kumimoji="0" lang="ko-KR" altLang="en-US" sz="2000" b="0" i="0" baseline="0" dirty="0" err="1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O</a:t>
                      </a:r>
                      <a:r>
                        <a:rPr kumimoji="0" lang="en-US" altLang="ko-KR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F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CLEAN ON BOARD</a:t>
                      </a:r>
                      <a:r>
                        <a:rPr kumimoji="0" lang="en-US" altLang="ko-KR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OCEAN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BILLS OF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LADING </a:t>
                      </a:r>
                      <a:r>
                        <a:rPr kumimoji="0" lang="en-US" altLang="ko-KR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AND THREE NON NEGOTIABLE 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MADE OUT TO</a:t>
                      </a:r>
                      <a:r>
                        <a:rPr kumimoji="0" lang="en-US" altLang="ko-KR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en-US" altLang="ko-KR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THE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ORDER </a:t>
                      </a:r>
                      <a:r>
                        <a:rPr kumimoji="0" lang="en-US" altLang="ko-KR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OF THE BANK OF CHINA AND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  <a:defRPr/>
                      </a:pP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MARKED FREIGHT COLLECT</a:t>
                      </a:r>
                      <a:r>
                        <a:rPr kumimoji="0" lang="en-US" altLang="ko-KR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AND</a:t>
                      </a:r>
                      <a:r>
                        <a:rPr kumimoji="0" lang="ko-KR" altLang="en-US" sz="2000" b="0" i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NOTIFY APPLICANT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 baseline="0" dirty="0">
                        <a:solidFill>
                          <a:srgbClr val="C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681" marB="45681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66388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42091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사각형: 둥근 모서리 28"/>
          <p:cNvSpPr/>
          <p:nvPr/>
        </p:nvSpPr>
        <p:spPr>
          <a:xfrm>
            <a:off x="695400" y="476672"/>
            <a:ext cx="2952328" cy="432048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COMMERCIAL INVOICE</a:t>
            </a: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710518" y="215846"/>
            <a:ext cx="4918751" cy="58569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ctr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3200" b="1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t>COMMERCIAL INVOICE</a:t>
            </a:r>
            <a:endParaRPr kumimoji="1" lang="ko-KR" altLang="en-US" sz="3200" b="1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  <a:cs typeface="+mn-cs"/>
            </a:endParaRPr>
          </a:p>
        </p:txBody>
      </p:sp>
      <p:graphicFrame>
        <p:nvGraphicFramePr>
          <p:cNvPr id="11" name="표 10"/>
          <p:cNvGraphicFramePr/>
          <p:nvPr/>
        </p:nvGraphicFramePr>
        <p:xfrm>
          <a:off x="3710518" y="801539"/>
          <a:ext cx="5337810" cy="3666152"/>
        </p:xfrm>
        <a:graphic>
          <a:graphicData uri="http://schemas.openxmlformats.org/drawingml/2006/table">
            <a:tbl>
              <a:tblPr firstRow="1" bandRow="1"/>
              <a:tblGrid>
                <a:gridCol w="1333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5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8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7606">
                <a:tc rowSpan="2"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Shipper / Exporter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Maresehyu Co., Ltd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129, Samsung-ro 277beon-gil, Yeongtong-gu, Suwon-si, Gyeonggi-do, Republic of Korea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SUNG MIN CHO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+82)02-6343-3968</a:t>
                      </a:r>
                    </a:p>
                  </a:txBody>
                  <a:tcPr marT="45734" marB="45734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>
                      <a:noFill/>
                    </a:lnL>
                    <a:lnR>
                      <a:noFill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No. &amp; Date of Invoice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CI20220825      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20  SEP, 2022            </a:t>
                      </a:r>
                    </a:p>
                  </a:txBody>
                  <a:tcPr marT="45734" marB="45734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2896">
                <a:tc gridSpan="2"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No. &amp; Date of L/C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MGK S20220825       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31 AUG, 2022</a:t>
                      </a:r>
                    </a:p>
                  </a:txBody>
                  <a:tcPr marT="45734" marB="45734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5767"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For Account &amp; Risk of Messrs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S&amp;C CO., LTD.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120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No. 60, Mansan Road, jangnyeong district, Shanghai City, China 200336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120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120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HO SE MYUNG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Tel: +86) 21-2202-0822</a:t>
                      </a:r>
                    </a:p>
                  </a:txBody>
                  <a:tcPr marT="45734" marB="45734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L/C Issuing Bank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THE BANK OF CHINA,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No. 23, zongshan 1st road,  Huangpu district, Shanghai city, China 200002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120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120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120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/>
          <p:nvPr/>
        </p:nvGraphicFramePr>
        <p:xfrm>
          <a:off x="3711389" y="4449996"/>
          <a:ext cx="5336939" cy="2241532"/>
        </p:xfrm>
        <a:graphic>
          <a:graphicData uri="http://schemas.openxmlformats.org/drawingml/2006/table">
            <a:tbl>
              <a:tblPr firstRow="1" bandRow="1"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49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0798"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Notify Party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1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Same as above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Remarks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H.S Code:</a:t>
                      </a:r>
                      <a:r>
                        <a:rPr kumimoji="0" lang="en-US" altLang="ko-KR" sz="1200" b="1" i="0" baseline="0">
                          <a:solidFill>
                            <a:schemeClr val="dk1"/>
                          </a:solidFill>
                          <a:latin typeface="Arial"/>
                        </a:rPr>
                        <a:t>8421121000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TRADE TERMS: FOB INCHEON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12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556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Port of Loading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INCHEON, KOREA</a:t>
                      </a:r>
                    </a:p>
                  </a:txBody>
                  <a:tcPr marT="45734" marB="45734" anchor="ctr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0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0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SHANGHAI, CHINA</a:t>
                      </a:r>
                    </a:p>
                  </a:txBody>
                  <a:tcPr marT="45734" marB="45734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794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Carrier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HMM VESSEL 888</a:t>
                      </a:r>
                    </a:p>
                  </a:txBody>
                  <a:tcPr marT="45734" marB="45734" anchor="ctr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2022. 09. 26</a:t>
                      </a:r>
                    </a:p>
                  </a:txBody>
                  <a:tcPr marT="45734" marB="45734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42091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816080" y="1584176"/>
            <a:ext cx="3888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graphicFrame>
        <p:nvGraphicFramePr>
          <p:cNvPr id="7" name="표 6"/>
          <p:cNvGraphicFramePr/>
          <p:nvPr/>
        </p:nvGraphicFramePr>
        <p:xfrm>
          <a:off x="1974863" y="325045"/>
          <a:ext cx="8386289" cy="4858545"/>
        </p:xfrm>
        <a:graphic>
          <a:graphicData uri="http://schemas.openxmlformats.org/drawingml/2006/table">
            <a:tbl>
              <a:tblPr firstRow="1" bandRow="1"/>
              <a:tblGrid>
                <a:gridCol w="2040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7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6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09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24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9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7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522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8410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0" i="0" baseline="0">
                          <a:solidFill>
                            <a:schemeClr val="tx1"/>
                          </a:solidFill>
                          <a:latin typeface="Arial"/>
                        </a:rPr>
                        <a:t>Port of loading</a:t>
                      </a: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0" i="0" baseline="0">
                          <a:solidFill>
                            <a:schemeClr val="tx1"/>
                          </a:solidFill>
                          <a:latin typeface="Arial"/>
                        </a:rPr>
                        <a:t>Final Destination</a:t>
                      </a:r>
                      <a:r>
                        <a:rPr kumimoji="0" lang="ko-KR" altLang="en-US" sz="1600" b="0" i="0" baseline="0">
                          <a:solidFill>
                            <a:srgbClr val="0000FF"/>
                          </a:solidFill>
                          <a:latin typeface="Arial"/>
                        </a:rPr>
                        <a:t>                        </a:t>
                      </a:r>
                    </a:p>
                  </a:txBody>
                  <a:tcPr marT="45725" marB="45725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600" b="1" i="0">
                        <a:solidFill>
                          <a:srgbClr val="0000FF"/>
                        </a:solidFill>
                        <a:latin typeface="Arial"/>
                      </a:endParaRP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673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INCHEON, KOREA</a:t>
                      </a: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i="0" baseline="0">
                          <a:solidFill>
                            <a:schemeClr val="tx1"/>
                          </a:solidFill>
                          <a:latin typeface="Arial"/>
                        </a:rPr>
                        <a:t>  </a:t>
                      </a:r>
                      <a:r>
                        <a:rPr kumimoji="0" lang="en-US" altLang="ko-KR" sz="1400" i="0" baseline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kumimoji="0" lang="en-US" altLang="ko-KR" sz="1200" i="0" baseline="0">
                          <a:solidFill>
                            <a:schemeClr val="tx1"/>
                          </a:solidFill>
                          <a:latin typeface="Arial"/>
                        </a:rPr>
                        <a:t>      </a:t>
                      </a:r>
                      <a:r>
                        <a:rPr kumimoji="0" lang="en-US" altLang="ko-KR" sz="120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SHANGHAI, CHINA</a:t>
                      </a:r>
                    </a:p>
                  </a:txBody>
                  <a:tcPr marT="45725" marB="45725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1600" b="1" i="0" baseline="0">
                        <a:solidFill>
                          <a:srgbClr val="0000FF"/>
                        </a:solidFill>
                        <a:latin typeface="Arial"/>
                      </a:endParaRP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986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0" i="0" baseline="0">
                          <a:solidFill>
                            <a:schemeClr val="tx1"/>
                          </a:solidFill>
                          <a:latin typeface="HY수평선M"/>
                          <a:ea typeface="HY수평선M"/>
                        </a:rPr>
                        <a:t>Carrier</a:t>
                      </a: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1" i="0" baseline="0">
                          <a:solidFill>
                            <a:srgbClr val="0000FF"/>
                          </a:solidFill>
                          <a:latin typeface="Arial"/>
                        </a:rPr>
                        <a:t>      </a:t>
                      </a:r>
                      <a:r>
                        <a:rPr kumimoji="0" lang="en-US" altLang="ko-KR" sz="1600" i="0" baseline="0">
                          <a:solidFill>
                            <a:srgbClr val="0000FF"/>
                          </a:solidFill>
                          <a:latin typeface="Arial"/>
                        </a:rPr>
                        <a:t> </a:t>
                      </a:r>
                      <a:r>
                        <a:rPr kumimoji="0" lang="en-US" altLang="ko-KR" sz="1600" i="0" baseline="0">
                          <a:solidFill>
                            <a:schemeClr val="tx1"/>
                          </a:solidFill>
                          <a:latin typeface="Arial"/>
                        </a:rPr>
                        <a:t>Sailing on or about</a:t>
                      </a:r>
                    </a:p>
                  </a:txBody>
                  <a:tcPr marT="45725" marB="45725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gridSpan="4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1600" b="1" i="0" baseline="0">
                        <a:solidFill>
                          <a:srgbClr val="0000FF"/>
                        </a:solidFill>
                        <a:latin typeface="Arial"/>
                      </a:endParaRP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411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HMM VESSEL 888</a:t>
                      </a: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2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26-SEP-22</a:t>
                      </a:r>
                    </a:p>
                  </a:txBody>
                  <a:tcPr marT="45725" marB="45725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5750"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4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Marks and No</a:t>
                      </a:r>
                      <a:endParaRPr kumimoji="0" lang="ko-KR" altLang="en-US" sz="1400" b="0" i="0" baseline="0">
                        <a:solidFill>
                          <a:srgbClr val="0000FF"/>
                        </a:solidFill>
                        <a:latin typeface="HY수평선M"/>
                        <a:ea typeface="HY수평선M"/>
                      </a:endParaRP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Description of Goods</a:t>
                      </a:r>
                      <a:endParaRPr kumimoji="0" lang="ko-KR" altLang="en-US" sz="1600" b="1" i="0" baseline="0">
                        <a:solidFill>
                          <a:srgbClr val="0000FF"/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1" i="0" baseline="0">
                          <a:solidFill>
                            <a:schemeClr val="tx1"/>
                          </a:solidFill>
                          <a:latin typeface="Arial"/>
                        </a:rPr>
                        <a:t>QUANTITY</a:t>
                      </a: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Unit Price </a:t>
                      </a:r>
                      <a:endParaRPr kumimoji="0" lang="ko-KR" altLang="en-US" sz="1600" b="1" i="0" baseline="0">
                        <a:solidFill>
                          <a:srgbClr val="0000FF"/>
                        </a:solidFill>
                        <a:latin typeface="Arial"/>
                      </a:endParaRP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1" i="0" baseline="0">
                          <a:solidFill>
                            <a:schemeClr val="tx1"/>
                          </a:solidFill>
                          <a:latin typeface="Arial"/>
                        </a:rPr>
                        <a:t>AMOUNT</a:t>
                      </a: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49791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600" b="0" i="0" baseline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HYU DREAM mini drying machine(ORGANIC GREEN)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1" i="0" baseline="0">
                          <a:solidFill>
                            <a:srgbClr val="FF0000"/>
                          </a:solidFill>
                          <a:latin typeface="Arial"/>
                        </a:rPr>
                        <a:t>10,000EA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$133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4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$1,330,000</a:t>
                      </a:r>
                    </a:p>
                  </a:txBody>
                  <a:tcPr marT="45725" marB="45725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9791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600" b="0" i="0" baseline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HYU DREAM mini drying machine(ORGANIC WHITE)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10,000EA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$133</a:t>
                      </a:r>
                      <a:endParaRPr kumimoji="0" lang="ko-KR" altLang="en-US" sz="1600" b="1" i="0" baseline="0">
                        <a:solidFill>
                          <a:srgbClr val="C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4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$1,330,000</a:t>
                      </a:r>
                    </a:p>
                  </a:txBody>
                  <a:tcPr marT="45725" marB="45725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09092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lang="ko-KR" altLang="en-US" sz="1400"/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20,000EA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600" b="1" i="0" baseline="0">
                        <a:solidFill>
                          <a:srgbClr val="C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4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$2,660,000</a:t>
                      </a:r>
                    </a:p>
                  </a:txBody>
                  <a:tcPr marT="45725" marB="45725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/>
          <p:nvPr/>
        </p:nvGraphicFramePr>
        <p:xfrm>
          <a:off x="1974862" y="5029577"/>
          <a:ext cx="8386288" cy="1567775"/>
        </p:xfrm>
        <a:graphic>
          <a:graphicData uri="http://schemas.openxmlformats.org/drawingml/2006/table">
            <a:tbl>
              <a:tblPr firstRow="1" bandRow="1"/>
              <a:tblGrid>
                <a:gridCol w="8386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7775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3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3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3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3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3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13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99741" y="5553261"/>
            <a:ext cx="3150210" cy="138066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en-US" altLang="ko-KR"/>
              <a:t>Maresehyu CO.LTD</a:t>
            </a:r>
          </a:p>
          <a:p>
            <a:pPr>
              <a:defRPr/>
            </a:pPr>
            <a:endParaRPr lang="en-US" altLang="ko-KR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505454" y="5865900"/>
            <a:ext cx="780952" cy="35327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99741" y="6237328"/>
            <a:ext cx="3330222" cy="276133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en-US" altLang="ko-KR"/>
              <a:t>PRESIDENT SUNG MIN CHO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81817" y="154641"/>
            <a:ext cx="11521280" cy="651471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사각형: 둥근 모서리 28"/>
          <p:cNvSpPr/>
          <p:nvPr/>
        </p:nvSpPr>
        <p:spPr>
          <a:xfrm>
            <a:off x="695400" y="476672"/>
            <a:ext cx="1872208" cy="432048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PACKING LIST</a:t>
            </a: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49942" y="61651"/>
            <a:ext cx="4918751" cy="58569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ctr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3200" b="1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t>PACKING LIST</a:t>
            </a:r>
            <a:endParaRPr kumimoji="1" lang="ko-KR" altLang="en-US" sz="3200" b="1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  <a:cs typeface="+mn-cs"/>
            </a:endParaRPr>
          </a:p>
        </p:txBody>
      </p:sp>
      <p:graphicFrame>
        <p:nvGraphicFramePr>
          <p:cNvPr id="7" name="표 6"/>
          <p:cNvGraphicFramePr/>
          <p:nvPr/>
        </p:nvGraphicFramePr>
        <p:xfrm>
          <a:off x="3349942" y="585693"/>
          <a:ext cx="5492115" cy="6117666"/>
        </p:xfrm>
        <a:graphic>
          <a:graphicData uri="http://schemas.openxmlformats.org/drawingml/2006/table">
            <a:tbl>
              <a:tblPr firstRow="1" bandRow="1"/>
              <a:tblGrid>
                <a:gridCol w="1373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3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5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36275">
                <a:tc rowSpan="2"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Shipper / Exporter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Maresehyu Co., Ltd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129, Samsung-ro 277beon-gil, Yeongtong-gu, Suwon-si, Gyeonggi-do, Republic of Korea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SUNG MIN CHO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+82)02-6343-3968</a:t>
                      </a:r>
                    </a:p>
                  </a:txBody>
                  <a:tcPr marT="45734" marB="45734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>
                      <a:noFill/>
                    </a:lnL>
                    <a:lnR>
                      <a:noFill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No. &amp; Date of Invoice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CI20220825          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20 SEP. 2022</a:t>
                      </a:r>
                    </a:p>
                  </a:txBody>
                  <a:tcPr marT="45734" marB="45734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1135">
                <a:tc gridSpan="2"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5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Remarks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FOB INCOTERMS 2020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b="1" i="0" baseline="0">
                          <a:solidFill>
                            <a:srgbClr val="0000FF"/>
                          </a:solidFill>
                          <a:latin typeface="Arial"/>
                        </a:rPr>
                        <a:t>HSCode 8421121000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100" b="1" i="0" baseline="0">
                        <a:solidFill>
                          <a:srgbClr val="0000FF"/>
                        </a:solidFill>
                        <a:latin typeface="Arial"/>
                      </a:endParaRPr>
                    </a:p>
                  </a:txBody>
                  <a:tcPr marT="45734" marB="45734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7411"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For Account &amp; Risk of Messrs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S&amp;C CO., LTD.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No. 60, Mansan Road, jangnyeong District, Shanghai City, China 200336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HO SE MYUNG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Tel: +86) 21-2202-0822</a:t>
                      </a:r>
                    </a:p>
                  </a:txBody>
                  <a:tcPr marT="45734" marB="45734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275"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Notify Party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1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Same as above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1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079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0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Port of Loading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0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INCHEON,KOREA</a:t>
                      </a:r>
                    </a:p>
                  </a:txBody>
                  <a:tcPr marT="45734" marB="45734" anchor="ctr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9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9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SHANGHAI, CHINA</a:t>
                      </a:r>
                    </a:p>
                  </a:txBody>
                  <a:tcPr marT="45734" marB="45734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491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1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Carrier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HMM VESSEL 888</a:t>
                      </a:r>
                    </a:p>
                  </a:txBody>
                  <a:tcPr marT="45734" marB="45734" anchor="ctr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7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2022.09.26</a:t>
                      </a:r>
                    </a:p>
                  </a:txBody>
                  <a:tcPr marT="45734" marB="45734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Sailing on/or about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34" marB="45734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20683" y="115489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사각형: 둥근 모서리 28"/>
          <p:cNvSpPr/>
          <p:nvPr/>
        </p:nvSpPr>
        <p:spPr>
          <a:xfrm>
            <a:off x="695400" y="476672"/>
            <a:ext cx="1872208" cy="432048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PACKING LIST</a:t>
            </a: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graphicFrame>
        <p:nvGraphicFramePr>
          <p:cNvPr id="7" name="표 6"/>
          <p:cNvGraphicFramePr/>
          <p:nvPr/>
        </p:nvGraphicFramePr>
        <p:xfrm>
          <a:off x="1729608" y="1268760"/>
          <a:ext cx="9118306" cy="3389976"/>
        </p:xfrm>
        <a:graphic>
          <a:graphicData uri="http://schemas.openxmlformats.org/drawingml/2006/table">
            <a:tbl>
              <a:tblPr firstRow="1" bandRow="1"/>
              <a:tblGrid>
                <a:gridCol w="2214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83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8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95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30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8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372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21026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300" b="0" i="0" baseline="0">
                          <a:solidFill>
                            <a:schemeClr val="tx1"/>
                          </a:solidFill>
                          <a:latin typeface="Arial"/>
                        </a:rPr>
                        <a:t>Port of loading</a:t>
                      </a: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300" b="0" i="0" baseline="0">
                          <a:solidFill>
                            <a:schemeClr val="tx1"/>
                          </a:solidFill>
                          <a:latin typeface="Arial"/>
                        </a:rPr>
                        <a:t>Final Destination</a:t>
                      </a:r>
                      <a:r>
                        <a:rPr kumimoji="0" lang="ko-KR" altLang="en-US" sz="1300" b="0" i="0" baseline="0">
                          <a:solidFill>
                            <a:srgbClr val="0000FF"/>
                          </a:solidFill>
                          <a:latin typeface="Arial"/>
                        </a:rPr>
                        <a:t>                        </a:t>
                      </a:r>
                    </a:p>
                  </a:txBody>
                  <a:tcPr marT="45725" marB="45725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300" b="1" i="0">
                        <a:solidFill>
                          <a:srgbClr val="0000FF"/>
                        </a:solidFill>
                        <a:latin typeface="Arial"/>
                      </a:endParaRP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40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9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INCHEON, KOREA</a:t>
                      </a: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300" i="0" baseline="0">
                          <a:solidFill>
                            <a:schemeClr val="tx1"/>
                          </a:solidFill>
                          <a:latin typeface="Arial"/>
                        </a:rPr>
                        <a:t>  </a:t>
                      </a:r>
                      <a:r>
                        <a:rPr kumimoji="0" lang="en-US" altLang="ko-KR" sz="1100" i="0" baseline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kumimoji="0" lang="en-US" altLang="ko-KR" sz="900" i="0" baseline="0">
                          <a:solidFill>
                            <a:schemeClr val="tx1"/>
                          </a:solidFill>
                          <a:latin typeface="Arial"/>
                        </a:rPr>
                        <a:t>      </a:t>
                      </a:r>
                      <a:r>
                        <a:rPr kumimoji="0" lang="en-US" altLang="ko-KR" sz="90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SHANGHAI, CHINA</a:t>
                      </a:r>
                    </a:p>
                  </a:txBody>
                  <a:tcPr marT="45725" marB="45725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1300" b="1" i="0" baseline="0">
                        <a:solidFill>
                          <a:srgbClr val="0000FF"/>
                        </a:solidFill>
                        <a:latin typeface="Arial"/>
                      </a:endParaRP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717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900" b="0" i="0" baseline="0">
                          <a:solidFill>
                            <a:schemeClr val="tx1"/>
                          </a:solidFill>
                          <a:latin typeface="HY수평선M"/>
                          <a:ea typeface="HY수평선M"/>
                        </a:rPr>
                        <a:t>Carrier</a:t>
                      </a: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300" b="1" i="0" baseline="0">
                          <a:solidFill>
                            <a:srgbClr val="0000FF"/>
                          </a:solidFill>
                          <a:latin typeface="Arial"/>
                        </a:rPr>
                        <a:t>      </a:t>
                      </a:r>
                      <a:r>
                        <a:rPr kumimoji="0" lang="en-US" altLang="ko-KR" sz="1300" i="0" baseline="0">
                          <a:solidFill>
                            <a:srgbClr val="0000FF"/>
                          </a:solidFill>
                          <a:latin typeface="Arial"/>
                        </a:rPr>
                        <a:t> </a:t>
                      </a:r>
                      <a:r>
                        <a:rPr kumimoji="0" lang="en-US" altLang="ko-KR" sz="1300" i="0" baseline="0">
                          <a:solidFill>
                            <a:schemeClr val="tx1"/>
                          </a:solidFill>
                          <a:latin typeface="Arial"/>
                        </a:rPr>
                        <a:t>Sailing on or about</a:t>
                      </a:r>
                    </a:p>
                  </a:txBody>
                  <a:tcPr marT="45725" marB="45725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gridSpan="4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1300" b="1" i="0" baseline="0">
                        <a:solidFill>
                          <a:srgbClr val="0000FF"/>
                        </a:solidFill>
                        <a:latin typeface="Arial"/>
                      </a:endParaRP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883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9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HMM VESSEL 888</a:t>
                      </a: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900" b="0" i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26-SEP-22</a:t>
                      </a:r>
                    </a:p>
                  </a:txBody>
                  <a:tcPr marT="45725" marB="45725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496"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Marks and No</a:t>
                      </a:r>
                      <a:endParaRPr kumimoji="0" lang="ko-KR" altLang="en-US" sz="800" b="0" i="0" baseline="0">
                        <a:solidFill>
                          <a:srgbClr val="0000FF"/>
                        </a:solidFill>
                        <a:latin typeface="HY수평선M"/>
                        <a:ea typeface="HY수평선M"/>
                      </a:endParaRP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Description of Goods</a:t>
                      </a:r>
                      <a:endParaRPr kumimoji="0" lang="ko-KR" altLang="en-US" sz="800" b="1" i="0" baseline="0">
                        <a:solidFill>
                          <a:srgbClr val="0000FF"/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800" b="1" i="0" baseline="0">
                          <a:solidFill>
                            <a:schemeClr val="tx1"/>
                          </a:solidFill>
                          <a:latin typeface="Arial"/>
                        </a:rPr>
                        <a:t>quantity/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800" b="1" i="0" baseline="0">
                          <a:solidFill>
                            <a:schemeClr val="tx1"/>
                          </a:solidFill>
                          <a:latin typeface="Arial"/>
                        </a:rPr>
                        <a:t>net wt</a:t>
                      </a: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Gross wt</a:t>
                      </a: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800" b="1" i="0" baseline="0">
                          <a:solidFill>
                            <a:schemeClr val="tx1"/>
                          </a:solidFill>
                          <a:latin typeface="Arial"/>
                        </a:rPr>
                        <a:t>measurement</a:t>
                      </a: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0053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300" b="0" i="0" baseline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3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HYU DREAM mini drying MACHINE(ORGANIC GREEN)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300" b="1" i="0" baseline="0">
                          <a:solidFill>
                            <a:srgbClr val="FF0000"/>
                          </a:solidFill>
                          <a:latin typeface="Arial"/>
                        </a:rPr>
                        <a:t>240,000kg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3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250,000kg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2,244CBM</a:t>
                      </a:r>
                    </a:p>
                  </a:txBody>
                  <a:tcPr marT="45725" marB="45725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0053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300" b="0" i="0" baseline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3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HYU DREAM mini drying MACHINE(ORGANIC WHITE)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3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240,000kg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3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250,000kg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2,244CBM</a:t>
                      </a:r>
                    </a:p>
                  </a:txBody>
                  <a:tcPr marT="45725" marB="45725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2054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lang="ko-KR" altLang="en-US" sz="1100"/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3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3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480,000kg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3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500,000kg</a:t>
                      </a: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1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4,488CBM</a:t>
                      </a:r>
                    </a:p>
                  </a:txBody>
                  <a:tcPr marT="45725" marB="45725">
                    <a:lnL>
                      <a:noFill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/>
          <p:nvPr/>
        </p:nvGraphicFramePr>
        <p:xfrm>
          <a:off x="1683656" y="4626184"/>
          <a:ext cx="9236880" cy="1737370"/>
        </p:xfrm>
        <a:graphic>
          <a:graphicData uri="http://schemas.openxmlformats.org/drawingml/2006/table">
            <a:tbl>
              <a:tblPr firstRow="1" bandRow="1"/>
              <a:tblGrid>
                <a:gridCol w="22391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1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9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95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36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01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704819">
                <a:tc gridSpan="8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</a:t>
                      </a:r>
                      <a:r>
                        <a:rPr kumimoji="0" lang="ko-KR" altLang="en-US" sz="15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>
                      <a:noFill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defRPr/>
                      </a:pPr>
                      <a:endParaRPr lang="en-US" alt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/////////////////////////////////////////////////////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Signed by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Brush Script MT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                          </a:t>
                      </a:r>
                      <a:endParaRPr kumimoji="0" lang="ko-KR" altLang="en-US" sz="2000" b="0" i="0">
                        <a:solidFill>
                          <a:srgbClr val="CC33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725" marB="457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" name="TextBox 4"/>
          <p:cNvSpPr txBox="1"/>
          <p:nvPr/>
        </p:nvSpPr>
        <p:spPr>
          <a:xfrm>
            <a:off x="6371447" y="5229200"/>
            <a:ext cx="3252945" cy="93372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en-US" altLang="ko-KR"/>
              <a:t>Maresehyu CO.,LTD</a:t>
            </a:r>
          </a:p>
          <a:p>
            <a:pPr>
              <a:defRPr/>
            </a:pPr>
            <a:endParaRPr lang="en-US" altLang="ko-KR"/>
          </a:p>
        </p:txBody>
      </p:sp>
      <p:sp>
        <p:nvSpPr>
          <p:cNvPr id="37" name="TextBox 5"/>
          <p:cNvSpPr txBox="1"/>
          <p:nvPr/>
        </p:nvSpPr>
        <p:spPr>
          <a:xfrm>
            <a:off x="6178685" y="5974852"/>
            <a:ext cx="3438827" cy="18674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en-US" altLang="ko-KR"/>
              <a:t>PRESIDENT SUNG MIN CHO</a:t>
            </a:r>
          </a:p>
        </p:txBody>
      </p:sp>
      <p:pic>
        <p:nvPicPr>
          <p:cNvPr id="38" name="그림 37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7449102" y="5590818"/>
            <a:ext cx="1188958" cy="3840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35359" y="116632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사각형: 둥근 모서리 28"/>
          <p:cNvSpPr/>
          <p:nvPr/>
        </p:nvSpPr>
        <p:spPr>
          <a:xfrm>
            <a:off x="479376" y="188640"/>
            <a:ext cx="2304256" cy="576064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BILL OF EXCHANGE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67105" y="1128310"/>
            <a:ext cx="1164437" cy="10303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023310" y="0"/>
            <a:ext cx="4918751" cy="58569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ctr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3200" b="1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t>BILL OF EXCHANGE</a:t>
            </a:r>
            <a:endParaRPr kumimoji="1" lang="ko-KR" altLang="en-US" sz="3200" b="1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  <a:cs typeface="+mn-cs"/>
            </a:endParaRPr>
          </a:p>
        </p:txBody>
      </p:sp>
      <p:graphicFrame>
        <p:nvGraphicFramePr>
          <p:cNvPr id="10" name="표 9"/>
          <p:cNvGraphicFramePr/>
          <p:nvPr/>
        </p:nvGraphicFramePr>
        <p:xfrm>
          <a:off x="3025829" y="585693"/>
          <a:ext cx="8326755" cy="5926648"/>
        </p:xfrm>
        <a:graphic>
          <a:graphicData uri="http://schemas.openxmlformats.org/drawingml/2006/table">
            <a:tbl>
              <a:tblPr firstRow="1" bandRow="1"/>
              <a:tblGrid>
                <a:gridCol w="8326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926648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400" b="0" i="0" baseline="0">
                        <a:solidFill>
                          <a:schemeClr val="tx1"/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No. </a:t>
                      </a:r>
                      <a:r>
                        <a:rPr kumimoji="0" lang="en-US" altLang="ko-KR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ABC-1234</a:t>
                      </a:r>
                      <a:r>
                        <a:rPr kumimoji="0" lang="ko-KR" altLang="en-US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</a:t>
                      </a:r>
                      <a:r>
                        <a:rPr kumimoji="0" lang="en-US" altLang="ko-KR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SEP 29 SEOUL </a:t>
                      </a:r>
                      <a:r>
                        <a:rPr kumimoji="0" lang="ko-KR" altLang="en-US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KOREA</a:t>
                      </a:r>
                      <a:r>
                        <a:rPr kumimoji="0" lang="ko-KR" altLang="en-US" sz="1400" b="0" i="0" baseline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kumimoji="0" lang="ko-KR" altLang="en-US" sz="1400" b="0" i="0" u="sng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400" b="0" i="0" baseline="0">
                        <a:solidFill>
                          <a:schemeClr val="tx1"/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FOR  </a:t>
                      </a:r>
                      <a:r>
                        <a:rPr kumimoji="0" lang="en-US" altLang="ko-KR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USD 2,660,000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4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AT </a:t>
                      </a:r>
                      <a:r>
                        <a:rPr kumimoji="0" lang="ko-KR" altLang="en-US" sz="1400" b="0" i="0" baseline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kumimoji="0" lang="ko-KR" altLang="en-US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SIGHT OF THIS </a:t>
                      </a:r>
                      <a:r>
                        <a:rPr kumimoji="0" lang="ko-KR" altLang="en-US" sz="1400" b="1" i="0" baseline="0">
                          <a:solidFill>
                            <a:schemeClr val="dk1"/>
                          </a:solidFill>
                          <a:latin typeface="Arial"/>
                        </a:rPr>
                        <a:t>FIRST BILL OF EXCHANGE</a:t>
                      </a:r>
                      <a:r>
                        <a:rPr kumimoji="0" lang="ko-KR" altLang="en-US" sz="1400" b="0" i="0" baseline="0">
                          <a:solidFill>
                            <a:schemeClr val="dk1"/>
                          </a:solidFill>
                          <a:latin typeface="Arial"/>
                        </a:rPr>
                        <a:t>(</a:t>
                      </a:r>
                      <a:r>
                        <a:rPr kumimoji="0" lang="ko-KR" altLang="en-US" sz="1400" b="1" i="0" baseline="0">
                          <a:solidFill>
                            <a:schemeClr val="dk1"/>
                          </a:solidFill>
                          <a:latin typeface="Arial"/>
                        </a:rPr>
                        <a:t>SECOND</a:t>
                      </a:r>
                      <a:r>
                        <a:rPr kumimoji="0" lang="ko-KR" altLang="en-US" sz="1400" b="0" i="0" baseline="0">
                          <a:solidFill>
                            <a:schemeClr val="dk1"/>
                          </a:solidFill>
                          <a:latin typeface="Arial"/>
                        </a:rPr>
                        <a:t> OF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400" b="0" i="0" baseline="0">
                          <a:solidFill>
                            <a:schemeClr val="dk1"/>
                          </a:solidFill>
                          <a:latin typeface="Arial"/>
                        </a:rPr>
                        <a:t>THE SAME TENO</a:t>
                      </a:r>
                      <a:r>
                        <a:rPr kumimoji="0" lang="ko-KR" altLang="en-US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R AND DATE BEING UNPAID) PAY TO </a:t>
                      </a:r>
                      <a:r>
                        <a:rPr kumimoji="0" lang="en-US" altLang="ko-KR" sz="14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IBK </a:t>
                      </a:r>
                      <a:r>
                        <a:rPr kumimoji="0" lang="ko-KR" altLang="en-US" sz="14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BANK </a:t>
                      </a:r>
                      <a:r>
                        <a:rPr kumimoji="0" lang="ko-KR" altLang="en-US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OR ORDER THE SUM OF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400" b="1" i="0" baseline="0">
                        <a:solidFill>
                          <a:srgbClr val="C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4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SAY US DOLLORS         </a:t>
                      </a:r>
                      <a:r>
                        <a:rPr kumimoji="0" lang="en-US" altLang="ko-KR" sz="14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TWO SIX HUNDERED SIXTY THOUSAND</a:t>
                      </a:r>
                      <a:r>
                        <a:rPr kumimoji="0" lang="ko-KR" altLang="en-US" sz="14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   </a:t>
                      </a:r>
                      <a:r>
                        <a:rPr kumimoji="0" lang="en-US" altLang="ko-KR" sz="14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</a:rPr>
                        <a:t>ONLY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4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VALUE</a:t>
                      </a:r>
                      <a:r>
                        <a:rPr kumimoji="0" lang="ko-KR" altLang="en-US" sz="1400" b="0" i="0" baseline="0">
                          <a:solidFill>
                            <a:srgbClr val="CC3300">
                              <a:alpha val="100000"/>
                            </a:srgbClr>
                          </a:solidFill>
                          <a:latin typeface="Arial"/>
                        </a:rPr>
                        <a:t> </a:t>
                      </a:r>
                      <a:r>
                        <a:rPr kumimoji="0" lang="ko-KR" altLang="en-US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RECEIVED AND CHARGE THE SAME TO ACCOUNT OF</a:t>
                      </a:r>
                      <a:r>
                        <a:rPr kumimoji="0" lang="en-US" altLang="ko-KR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</a:t>
                      </a:r>
                      <a:r>
                        <a:rPr kumimoji="0" lang="en-US" altLang="ko-KR" sz="14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S&amp;C CO., LTD.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4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4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DRAWN UNDER  </a:t>
                      </a:r>
                      <a:r>
                        <a:rPr kumimoji="0" lang="en-US" altLang="ko-KR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THE BANK OF CHINA SHANGHAI BRANCH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4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L/C NO.    </a:t>
                      </a:r>
                      <a:r>
                        <a:rPr kumimoji="0" lang="en-US" altLang="ko-KR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MGK220825</a:t>
                      </a:r>
                      <a:r>
                        <a:rPr kumimoji="0" lang="ko-KR" altLang="en-US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DATED</a:t>
                      </a:r>
                      <a:r>
                        <a:rPr kumimoji="0" lang="ko-KR" altLang="en-US" sz="1400" b="0" i="0" baseline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kumimoji="0" lang="en-US" altLang="ko-KR" sz="1400" b="0" i="0" baseline="0">
                          <a:solidFill>
                            <a:schemeClr val="tx1"/>
                          </a:solidFill>
                          <a:latin typeface="Arial"/>
                        </a:rPr>
                        <a:t>2022/08/31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4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TO :      </a:t>
                      </a:r>
                      <a:r>
                        <a:rPr kumimoji="0" lang="en-US" altLang="ko-KR" sz="14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THE BANK OF CHINA SHANGHAI BRANCH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14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                                                            Signed by</a:t>
                      </a:r>
                      <a:r>
                        <a:rPr kumimoji="0" lang="en-US" altLang="ko-KR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  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                                                      Maresehyu Co., Ltd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14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4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400" b="0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29" marB="45629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" name="TextBox 5"/>
          <p:cNvSpPr txBox="1"/>
          <p:nvPr/>
        </p:nvSpPr>
        <p:spPr>
          <a:xfrm>
            <a:off x="6106677" y="5978560"/>
            <a:ext cx="3438827" cy="18674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en-US" altLang="ko-KR"/>
              <a:t>PRESIDENT SUNG MIN CHO</a:t>
            </a:r>
          </a:p>
        </p:txBody>
      </p:sp>
      <p:pic>
        <p:nvPicPr>
          <p:cNvPr id="32" name="그림 31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7377094" y="5594526"/>
            <a:ext cx="1188958" cy="3840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42091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사각형: 둥근 모서리 28"/>
          <p:cNvSpPr/>
          <p:nvPr/>
        </p:nvSpPr>
        <p:spPr>
          <a:xfrm>
            <a:off x="695400" y="476672"/>
            <a:ext cx="1944216" cy="432048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BILL OF LADING</a:t>
            </a: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85289" y="1460842"/>
            <a:ext cx="1164437" cy="10303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53831" y="203789"/>
            <a:ext cx="4918751" cy="57933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ctr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3200" b="1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t>BILL OF LADING</a:t>
            </a:r>
            <a:endParaRPr kumimoji="1" lang="ko-KR" altLang="en-US" sz="3200" b="1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  <a:cs typeface="+mn-cs"/>
            </a:endParaRPr>
          </a:p>
        </p:txBody>
      </p:sp>
      <p:graphicFrame>
        <p:nvGraphicFramePr>
          <p:cNvPr id="9" name="표 8"/>
          <p:cNvGraphicFramePr/>
          <p:nvPr/>
        </p:nvGraphicFramePr>
        <p:xfrm>
          <a:off x="2610371" y="827558"/>
          <a:ext cx="8454181" cy="5791021"/>
        </p:xfrm>
        <a:graphic>
          <a:graphicData uri="http://schemas.openxmlformats.org/drawingml/2006/table">
            <a:tbl>
              <a:tblPr firstRow="1" bandRow="1"/>
              <a:tblGrid>
                <a:gridCol w="2093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03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2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99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26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4573">
                <a:tc rowSpan="2"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Consignor / Shipper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Maresehyu Co., Ltd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129, Samsung-ro 277beon-gil, Yeongtong-gu, Suwon-si, Gyeonggi-do, Republic of Korea</a:t>
                      </a:r>
                    </a:p>
                    <a:p>
                      <a:pPr marL="0" lvl="0" indent="0" algn="just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SUNG MIN CHO</a:t>
                      </a:r>
                      <a:endParaRPr kumimoji="0" lang="ko-KR" altLang="en-US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678" marB="45678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600" b="0" i="0" baseline="0">
                        <a:solidFill>
                          <a:schemeClr val="tx1"/>
                        </a:solidFill>
                        <a:latin typeface="Arial"/>
                        <a:ea typeface="굴림"/>
                      </a:endParaRPr>
                    </a:p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678" marB="45678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B/L NO.KR M71 DSCLHK</a:t>
                      </a:r>
                    </a:p>
                  </a:txBody>
                  <a:tcPr marT="45678" marB="45678">
                    <a:lnL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471">
                <a:tc gridSpan="2"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BILL OF LADING</a:t>
                      </a:r>
                      <a:endParaRPr kumimoji="0" lang="ko-KR" altLang="en-US" sz="2200" b="1" i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678" marB="45678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570"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Consignee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TO THE ORDER OF CHINA BANK</a:t>
                      </a:r>
                    </a:p>
                  </a:txBody>
                  <a:tcPr marT="45678" marB="45678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rowSpan="4"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2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6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6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DONGSU</a:t>
                      </a:r>
                    </a:p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2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SHIPPING CO., LTD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6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6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CC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Received by the carrier, </a:t>
                      </a:r>
                      <a:r>
                        <a:rPr kumimoji="0" lang="ko-KR" altLang="en-US" sz="16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the goods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specified in apparent good order and condition unless otherwise  stated, to be transported to such place as agreed</a:t>
                      </a:r>
                    </a:p>
                  </a:txBody>
                  <a:tcPr marT="45678" marB="45678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rowSpan="4"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>
                      <a:noFill/>
                    </a:lnB>
                  </a:tcPr>
                </a:tc>
                <a:tc rowSpan="4"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5805"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Notify Party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S&amp;C CO., LTD.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No. 60, Mansan Road, jangnyeong District, Shanghai City, China 200336</a:t>
                      </a:r>
                    </a:p>
                  </a:txBody>
                  <a:tcPr marT="45678" marB="45678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188"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Place of Receipt </a:t>
                      </a:r>
                      <a:r>
                        <a:rPr kumimoji="0" lang="en-US" altLang="ko-KR" b="0" i="0" baseline="0">
                          <a:solidFill>
                            <a:schemeClr val="dk1"/>
                          </a:solidFill>
                          <a:latin typeface="Arial"/>
                        </a:rPr>
                        <a:t>INCHEON</a:t>
                      </a:r>
                      <a:r>
                        <a:rPr kumimoji="0" lang="ko-KR" altLang="en-US" b="0" i="0" baseline="0">
                          <a:solidFill>
                            <a:schemeClr val="dk1"/>
                          </a:solidFill>
                          <a:latin typeface="Arial"/>
                        </a:rPr>
                        <a:t> C</a:t>
                      </a:r>
                      <a:r>
                        <a:rPr kumimoji="0" lang="en-US" altLang="ko-KR" b="0" i="0" baseline="0">
                          <a:solidFill>
                            <a:schemeClr val="dk1"/>
                          </a:solidFill>
                          <a:latin typeface="Arial"/>
                        </a:rPr>
                        <a:t>Y</a:t>
                      </a:r>
                    </a:p>
                  </a:txBody>
                  <a:tcPr marT="45678" marB="45678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06"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Ocean Vessel   </a:t>
                      </a:r>
                      <a:r>
                        <a:rPr kumimoji="0" lang="en-US" altLang="ko-KR" b="1" i="0" baseline="0">
                          <a:solidFill>
                            <a:schemeClr val="dk1"/>
                          </a:solidFill>
                          <a:latin typeface="Arial"/>
                        </a:rPr>
                        <a:t>HMM VESSEL 888</a:t>
                      </a:r>
                    </a:p>
                  </a:txBody>
                  <a:tcPr marT="45678" marB="45678" anchor="ctr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gridSpan="3"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 v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44376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Port of Loading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INCHEON, KOREA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6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5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Port of Discharge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5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SHANGHAI, CHINA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500" b="1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Place of Delivery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6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1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SHANGHAI,CHINA</a:t>
                      </a:r>
                    </a:p>
                  </a:txBody>
                  <a:tcPr marT="45678" marB="45678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20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Final Destination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</a:rPr>
                        <a:t>SHANGHAI, CHINA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600" b="1" i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 marT="45678" marB="45678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320" y="3356992"/>
            <a:ext cx="1219200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42091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사각형: 둥근 모서리 28"/>
          <p:cNvSpPr/>
          <p:nvPr/>
        </p:nvSpPr>
        <p:spPr>
          <a:xfrm>
            <a:off x="695400" y="476672"/>
            <a:ext cx="1944216" cy="432048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/>
              <a:t>BILL OF LADING</a:t>
            </a: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6744072" y="1844824"/>
            <a:ext cx="3888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692203" y="260648"/>
            <a:ext cx="1164437" cy="10303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40074" y="372586"/>
            <a:ext cx="4918751" cy="58569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w="med" len="med"/>
            <a:tailEnd w="med" len="med"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marL="0" lvl="0" indent="0" algn="ctr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3200" b="1" i="0" baseline="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  <a:cs typeface="+mn-cs"/>
              </a:rPr>
              <a:t>BILL OF LADING</a:t>
            </a:r>
            <a:endParaRPr kumimoji="1" lang="ko-KR" altLang="en-US" sz="3200" b="1" i="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  <a:cs typeface="+mn-cs"/>
            </a:endParaRPr>
          </a:p>
        </p:txBody>
      </p:sp>
      <p:graphicFrame>
        <p:nvGraphicFramePr>
          <p:cNvPr id="7" name="표 6"/>
          <p:cNvGraphicFramePr/>
          <p:nvPr/>
        </p:nvGraphicFramePr>
        <p:xfrm>
          <a:off x="2246515" y="996347"/>
          <a:ext cx="8313981" cy="5425162"/>
        </p:xfrm>
        <a:graphic>
          <a:graphicData uri="http://schemas.openxmlformats.org/drawingml/2006/table">
            <a:tbl>
              <a:tblPr firstRow="1" bandRow="1"/>
              <a:tblGrid>
                <a:gridCol w="2080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8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8983">
                <a:tc gridSpan="3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Marks and No.     Description of goods    Gross weight    Measurement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CTNS                                                                        KGS          CBM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     </a:t>
                      </a:r>
                      <a:r>
                        <a:rPr kumimoji="0" lang="ko-KR" altLang="en-US" sz="23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 </a:t>
                      </a:r>
                      <a:r>
                        <a:rPr kumimoji="0" lang="ko-KR" altLang="en-US" sz="1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 </a:t>
                      </a:r>
                      <a:r>
                        <a:rPr kumimoji="0" lang="en-US" altLang="ko-KR" sz="14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HYU DREAM mini drying machine(ORGANIC GREEN) /10000boxes / 250,000KG/ 2,244CBM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4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          HYU DREAM mini drying machine(ORGANIC WHITE) /10000boxes / 250,000KG/ 2,244CBM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4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                                           TOTAL  20000boxes/ 500,000KG / 4,488CBM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2000" b="1" i="0" baseline="0">
                          <a:solidFill>
                            <a:srgbClr val="C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   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en-US" altLang="ko-KR" sz="2000" b="0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T="45683" marB="45683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DONGSUE SHIPPING CO., LTD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</a:t>
                      </a:r>
                      <a:r>
                        <a:rPr kumimoji="0" lang="ko-KR" altLang="en-US" sz="16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AS A CARRIER  BY   </a:t>
                      </a:r>
                      <a:r>
                        <a:rPr kumimoji="0" lang="ko-KR" altLang="en-US" sz="2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Forte"/>
                          <a:ea typeface="맑은 고딕"/>
                        </a:rPr>
                        <a:t>Jimmy. Kim</a:t>
                      </a:r>
                      <a:endParaRPr kumimoji="0" lang="ko-KR" altLang="en-US" sz="2400" b="1" i="0">
                        <a:solidFill>
                          <a:srgbClr val="000000">
                            <a:alpha val="100000"/>
                          </a:srgbClr>
                        </a:solidFill>
                        <a:latin typeface="Forte"/>
                        <a:ea typeface="맑은 고딕"/>
                      </a:endParaRPr>
                    </a:p>
                  </a:txBody>
                  <a:tcPr marT="45683" marB="45683" anchor="ctr">
                    <a:lnL>
                      <a:noFill/>
                    </a:lnL>
                    <a:lnR>
                      <a:noFill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DONGSUE SHIPPING CO., LTD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</a:t>
                      </a:r>
                      <a:r>
                        <a:rPr kumimoji="0" lang="ko-KR" altLang="en-US" sz="16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AS A CARRIER  BY   </a:t>
                      </a:r>
                      <a:r>
                        <a:rPr kumimoji="0" lang="ko-KR" altLang="en-US" sz="2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Forte"/>
                          <a:ea typeface="맑은 고딕"/>
                        </a:rPr>
                        <a:t>Jimmy. Kim</a:t>
                      </a:r>
                      <a:endParaRPr kumimoji="0" lang="ko-KR" altLang="en-US" sz="2400" b="1" i="0">
                        <a:solidFill>
                          <a:srgbClr val="000000">
                            <a:alpha val="100000"/>
                          </a:srgbClr>
                        </a:solidFill>
                        <a:latin typeface="Forte"/>
                        <a:ea typeface="맑은 고딕"/>
                      </a:endParaRPr>
                    </a:p>
                  </a:txBody>
                  <a:tcPr marT="45683" marB="45683" anchor="ctr">
                    <a:lnL>
                      <a:noFill/>
                    </a:lnL>
                    <a:lnR>
                      <a:noFill/>
                    </a:lnR>
                    <a:lnT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Freight amount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O/FRT collect  as arranged</a:t>
                      </a:r>
                    </a:p>
                  </a:txBody>
                  <a:tcPr marT="45683" marB="45683" anchor="ctr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7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Freight payable at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7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en-US" altLang="ko-KR" sz="1700" b="0" i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SHANGHAI, CN</a:t>
                      </a:r>
                    </a:p>
                  </a:txBody>
                  <a:tcPr marT="45683" marB="45683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   Place and date of Issue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   </a:t>
                      </a:r>
                      <a:r>
                        <a:rPr kumimoji="0" lang="en-US" altLang="ko-KR" sz="18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INCHEON</a:t>
                      </a:r>
                      <a:r>
                        <a:rPr kumimoji="0" lang="ko-KR" altLang="en-US" sz="18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, KOREA  </a:t>
                      </a:r>
                      <a:r>
                        <a:rPr kumimoji="0" lang="en-US" altLang="ko-KR" sz="18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26 SEP, 2022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1" i="0">
                        <a:solidFill>
                          <a:srgbClr val="C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T="45683" marB="45683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1853">
                <a:tc gridSpan="2">
                  <a:txBody>
                    <a:bodyPr/>
                    <a:lstStyle/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8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For delivery of goods please apply to : 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endParaRPr kumimoji="0" lang="ko-KR" altLang="en-US" sz="1800" b="0" i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ea typeface="굴림"/>
                      </a:endParaRPr>
                    </a:p>
                  </a:txBody>
                  <a:tcPr marT="45683" marB="45683" anchor="ctr">
                    <a:lnL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DONGSUE SHIPPING CO., LTD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</a:t>
                      </a:r>
                      <a:r>
                        <a:rPr kumimoji="0" lang="ko-KR" altLang="en-US" sz="16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AS A CARRIER  BY   </a:t>
                      </a:r>
                      <a:r>
                        <a:rPr kumimoji="0" lang="ko-KR" altLang="en-US" sz="24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Forte"/>
                          <a:ea typeface="맑은 고딕"/>
                        </a:rPr>
                        <a:t>Jimmy. Kim</a:t>
                      </a:r>
                      <a:endParaRPr kumimoji="0" lang="ko-KR" altLang="en-US" sz="2400" b="1" i="0">
                        <a:solidFill>
                          <a:srgbClr val="000000">
                            <a:alpha val="100000"/>
                          </a:srgbClr>
                        </a:solidFill>
                        <a:latin typeface="Forte"/>
                        <a:ea typeface="맑은 고딕"/>
                      </a:endParaRPr>
                    </a:p>
                  </a:txBody>
                  <a:tcPr marT="45683" marB="45683" anchor="ctr">
                    <a:lnL>
                      <a:noFill/>
                    </a:lnL>
                    <a:lnR>
                      <a:noFill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20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굴림"/>
                        </a:rPr>
                        <a:t>DONGSUE SHIPPING CO., LTD</a:t>
                      </a:r>
                    </a:p>
                    <a:p>
                      <a:pPr marL="0" lvl="0" indent="0" algn="l" rtl="0" eaLnBrk="1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kumimoji="0" lang="ko-KR" altLang="en-US" sz="1600" b="1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   </a:t>
                      </a:r>
                      <a:r>
                        <a:rPr kumimoji="0" lang="ko-KR" altLang="en-US" sz="16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AS A CARRIER  BY  </a:t>
                      </a:r>
                      <a:r>
                        <a:rPr kumimoji="0" lang="ko-KR" altLang="en-US" sz="1600" b="0" i="0" baseline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Forte"/>
                          <a:ea typeface="맑은 고딕"/>
                        </a:rPr>
                        <a:t>Jimmy. Kim</a:t>
                      </a:r>
                      <a:endParaRPr kumimoji="0" lang="ko-KR" altLang="en-US" sz="1600" b="0" i="0" baseline="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683" marB="45683" anchor="ctr">
                    <a:lnL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26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28634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0" name="TextBox 3"/>
          <p:cNvSpPr txBox="1"/>
          <p:nvPr/>
        </p:nvSpPr>
        <p:spPr>
          <a:xfrm>
            <a:off x="7632084" y="3708882"/>
            <a:ext cx="5105668" cy="11850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ON BOARD DATE</a:t>
            </a:r>
          </a:p>
          <a:p>
            <a:pPr>
              <a:defRPr/>
            </a:pPr>
            <a:r>
              <a:rPr lang="en-US" altLang="ko-KR"/>
              <a:t>2022.09.26</a:t>
            </a:r>
          </a:p>
          <a:p>
            <a:pPr>
              <a:defRPr/>
            </a:pPr>
            <a:endParaRPr lang="en-US" altLang="ko-KR"/>
          </a:p>
          <a:p>
            <a:pPr>
              <a:defRPr/>
            </a:pPr>
            <a:endParaRPr lang="en-US" altLang="ko-KR"/>
          </a:p>
        </p:txBody>
      </p:sp>
      <p:sp>
        <p:nvSpPr>
          <p:cNvPr id="31" name="TextBox 4"/>
          <p:cNvSpPr txBox="1"/>
          <p:nvPr/>
        </p:nvSpPr>
        <p:spPr>
          <a:xfrm>
            <a:off x="2388484" y="3246144"/>
            <a:ext cx="4569588" cy="3657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/>
              <a:t>“FREIGHT COLLECT”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11690F-4F9D-ECC0-A915-E84972C20D4D}"/>
              </a:ext>
            </a:extLst>
          </p:cNvPr>
          <p:cNvSpPr/>
          <p:nvPr/>
        </p:nvSpPr>
        <p:spPr>
          <a:xfrm>
            <a:off x="4320" y="3356992"/>
            <a:ext cx="12187680" cy="3501008"/>
          </a:xfrm>
          <a:prstGeom prst="rect">
            <a:avLst/>
          </a:prstGeom>
          <a:solidFill>
            <a:srgbClr val="EEEE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DDD25A6-CDDE-589C-8E10-6F444E807D1B}"/>
              </a:ext>
            </a:extLst>
          </p:cNvPr>
          <p:cNvSpPr/>
          <p:nvPr/>
        </p:nvSpPr>
        <p:spPr>
          <a:xfrm>
            <a:off x="0" y="-23353"/>
            <a:ext cx="12192000" cy="3429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12867A2-7E2C-0512-95D4-E11CE0B7C825}"/>
              </a:ext>
            </a:extLst>
          </p:cNvPr>
          <p:cNvSpPr/>
          <p:nvPr/>
        </p:nvSpPr>
        <p:spPr>
          <a:xfrm>
            <a:off x="335360" y="260648"/>
            <a:ext cx="11521280" cy="640871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C65D7F-ACBE-F2BD-5BC5-AA774A9934F8}"/>
              </a:ext>
            </a:extLst>
          </p:cNvPr>
          <p:cNvSpPr/>
          <p:nvPr/>
        </p:nvSpPr>
        <p:spPr>
          <a:xfrm>
            <a:off x="2567608" y="1628800"/>
            <a:ext cx="6912768" cy="34563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0" dirty="0">
                <a:solidFill>
                  <a:schemeClr val="accent1">
                    <a:lumMod val="50000"/>
                  </a:schemeClr>
                </a:solidFill>
              </a:rPr>
              <a:t>THANK YOU</a:t>
            </a:r>
            <a:endParaRPr lang="ko-KR" altLang="en-US" sz="80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50B9D05-53FD-3CC5-C3E8-53E664BAF3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959" y="404664"/>
            <a:ext cx="1881713" cy="16612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3470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1960</Words>
  <Application>Microsoft Office PowerPoint</Application>
  <PresentationFormat>와이드스크린</PresentationFormat>
  <Paragraphs>530</Paragraphs>
  <Slides>59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59</vt:i4>
      </vt:variant>
    </vt:vector>
  </HeadingPairs>
  <TitlesOfParts>
    <vt:vector size="71" baseType="lpstr">
      <vt:lpstr>HY견고딕</vt:lpstr>
      <vt:lpstr>HY수평선M</vt:lpstr>
      <vt:lpstr>맑은 고딕</vt:lpstr>
      <vt:lpstr>바탕체</vt:lpstr>
      <vt:lpstr>한컴 바겐세일 B</vt:lpstr>
      <vt:lpstr>함초롬돋움</vt:lpstr>
      <vt:lpstr>함초롬바탕</vt:lpstr>
      <vt:lpstr>Arial</vt:lpstr>
      <vt:lpstr>Baskerville Old Face</vt:lpstr>
      <vt:lpstr>Brush Script MT</vt:lpstr>
      <vt:lpstr>Forte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강다영</dc:creator>
  <cp:lastModifiedBy>강다영</cp:lastModifiedBy>
  <cp:revision>62</cp:revision>
  <dcterms:created xsi:type="dcterms:W3CDTF">2022-08-23T06:03:37Z</dcterms:created>
  <dcterms:modified xsi:type="dcterms:W3CDTF">2022-08-26T05:35:27Z</dcterms:modified>
  <cp:version/>
</cp:coreProperties>
</file>